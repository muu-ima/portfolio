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8" r:id="rId2"/>
    <p:sldId id="287" r:id="rId3"/>
    <p:sldId id="270" r:id="rId4"/>
    <p:sldId id="271" r:id="rId5"/>
    <p:sldId id="273" r:id="rId6"/>
    <p:sldId id="274" r:id="rId7"/>
    <p:sldId id="275" r:id="rId8"/>
    <p:sldId id="276" r:id="rId9"/>
    <p:sldId id="277" r:id="rId10"/>
    <p:sldId id="286" r:id="rId11"/>
    <p:sldId id="289" r:id="rId12"/>
    <p:sldId id="260" r:id="rId13"/>
    <p:sldId id="269" r:id="rId14"/>
    <p:sldId id="290" r:id="rId15"/>
    <p:sldId id="262" r:id="rId16"/>
    <p:sldId id="261" r:id="rId17"/>
    <p:sldId id="280" r:id="rId18"/>
    <p:sldId id="264" r:id="rId19"/>
    <p:sldId id="292" r:id="rId20"/>
    <p:sldId id="291" r:id="rId21"/>
    <p:sldId id="265" r:id="rId22"/>
    <p:sldId id="267" r:id="rId23"/>
    <p:sldId id="266" r:id="rId24"/>
    <p:sldId id="268" r:id="rId25"/>
    <p:sldId id="263" r:id="rId26"/>
    <p:sldId id="293" r:id="rId27"/>
    <p:sldId id="295" r:id="rId28"/>
    <p:sldId id="296" r:id="rId29"/>
    <p:sldId id="294" r:id="rId3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77" autoAdjust="0"/>
    <p:restoredTop sz="81818" autoAdjust="0"/>
  </p:normalViewPr>
  <p:slideViewPr>
    <p:cSldViewPr snapToGrid="0">
      <p:cViewPr varScale="1">
        <p:scale>
          <a:sx n="87" d="100"/>
          <a:sy n="87" d="100"/>
        </p:scale>
        <p:origin x="14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CEE086-149B-46B9-9E86-2EE01FDDB42D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2D4612C-77CF-426D-98A8-A1D03D8705AB}">
      <dgm:prSet phldrT="[テキスト]" custT="1"/>
      <dgm:spPr/>
      <dgm:t>
        <a:bodyPr anchor="t"/>
        <a:lstStyle/>
        <a:p>
          <a:r>
            <a:rPr kumimoji="1" lang="en-US" altLang="ja-JP" sz="2000" b="1" dirty="0"/>
            <a:t>[ Hooks / State ]</a:t>
          </a:r>
        </a:p>
        <a:p>
          <a:r>
            <a:rPr kumimoji="1" lang="en-US" altLang="ja-JP" sz="2000" b="1" dirty="0"/>
            <a:t>useCardBlocks</a:t>
          </a:r>
          <a:endParaRPr kumimoji="1" lang="ja-JP" altLang="ja-JP" sz="2000" b="1" dirty="0"/>
        </a:p>
        <a:p>
          <a:r>
            <a:rPr kumimoji="1" lang="en-US" altLang="ja-JP" sz="2000" b="1" dirty="0" err="1"/>
            <a:t>useEditorState</a:t>
          </a:r>
          <a:endParaRPr kumimoji="1" lang="ja-JP" altLang="ja-JP" sz="2000" b="1" dirty="0"/>
        </a:p>
        <a:p>
          <a:r>
            <a:rPr kumimoji="1" lang="en-US" altLang="ja-JP" sz="2000" b="1" dirty="0" err="1"/>
            <a:t>useScaleToFit</a:t>
          </a:r>
          <a:endParaRPr kumimoji="1" lang="ja-JP" altLang="en-US" sz="2000" b="1" dirty="0"/>
        </a:p>
      </dgm:t>
    </dgm:pt>
    <dgm:pt modelId="{FBAA180A-5AD3-4A2E-A4C4-01DFC9A9C361}" type="parTrans" cxnId="{8CF943A3-3CC0-4D4D-8CB8-75842F761733}">
      <dgm:prSet/>
      <dgm:spPr/>
      <dgm:t>
        <a:bodyPr/>
        <a:lstStyle/>
        <a:p>
          <a:endParaRPr kumimoji="1" lang="ja-JP" altLang="en-US"/>
        </a:p>
      </dgm:t>
    </dgm:pt>
    <dgm:pt modelId="{C2CB5ED4-F5BA-4883-8F0C-8E6FA5E3701C}" type="sibTrans" cxnId="{8CF943A3-3CC0-4D4D-8CB8-75842F761733}">
      <dgm:prSet/>
      <dgm:spPr/>
      <dgm:t>
        <a:bodyPr/>
        <a:lstStyle/>
        <a:p>
          <a:endParaRPr kumimoji="1" lang="ja-JP" altLang="en-US"/>
        </a:p>
      </dgm:t>
    </dgm:pt>
    <dgm:pt modelId="{8C26A405-2DE3-44E4-8577-CAB627AB46BA}">
      <dgm:prSet phldrT="[テキスト]" phldr="0" custT="1"/>
      <dgm:spPr>
        <a:solidFill>
          <a:srgbClr val="C00000"/>
        </a:solidFill>
      </dgm:spPr>
      <dgm:t>
        <a:bodyPr/>
        <a:lstStyle/>
        <a:p>
          <a:r>
            <a:rPr kumimoji="1" lang="en-US" altLang="ja-JP" sz="2000" b="1" dirty="0"/>
            <a:t>[ </a:t>
          </a:r>
          <a:r>
            <a:rPr kumimoji="1" lang="ja-JP" altLang="en-US" sz="2000" b="1" dirty="0"/>
            <a:t>統括 </a:t>
          </a:r>
          <a:r>
            <a:rPr kumimoji="1" lang="en-US" altLang="ja-JP" sz="2000" b="1" dirty="0"/>
            <a:t>]</a:t>
          </a:r>
        </a:p>
        <a:p>
          <a:r>
            <a:rPr kumimoji="1" lang="en-US" altLang="ja-JP" sz="2000" b="1" dirty="0" err="1"/>
            <a:t>CardEditor.tsx</a:t>
          </a:r>
          <a:endParaRPr kumimoji="1" lang="ja-JP" altLang="en-US" sz="2000" b="1" dirty="0"/>
        </a:p>
      </dgm:t>
    </dgm:pt>
    <dgm:pt modelId="{B5AFD500-A5DD-4094-A857-3DE42B42D5EE}" type="parTrans" cxnId="{FC632E4A-B143-47EA-87F2-77058B5E72D1}">
      <dgm:prSet/>
      <dgm:spPr/>
      <dgm:t>
        <a:bodyPr/>
        <a:lstStyle/>
        <a:p>
          <a:endParaRPr kumimoji="1" lang="ja-JP" altLang="en-US"/>
        </a:p>
      </dgm:t>
    </dgm:pt>
    <dgm:pt modelId="{2D6EE2FC-B09D-4F0F-B75C-D5DD00F34C16}" type="sibTrans" cxnId="{FC632E4A-B143-47EA-87F2-77058B5E72D1}">
      <dgm:prSet/>
      <dgm:spPr/>
      <dgm:t>
        <a:bodyPr/>
        <a:lstStyle/>
        <a:p>
          <a:endParaRPr kumimoji="1" lang="ja-JP" altLang="en-US"/>
        </a:p>
      </dgm:t>
    </dgm:pt>
    <dgm:pt modelId="{C05C9832-6368-4D2A-91CE-82EDC11CDAE5}">
      <dgm:prSet phldrT="[テキスト]" phldr="0" custT="1"/>
      <dgm:spPr/>
      <dgm:t>
        <a:bodyPr/>
        <a:lstStyle/>
        <a:p>
          <a:r>
            <a:rPr kumimoji="1" lang="en-US" altLang="ja-JP" sz="2000" b="1" dirty="0"/>
            <a:t>[ Canvas ]</a:t>
          </a:r>
        </a:p>
        <a:p>
          <a:r>
            <a:rPr kumimoji="1" lang="en-US" altLang="ja-JP" sz="2000" b="1" dirty="0" err="1"/>
            <a:t>EditorCanvas</a:t>
          </a:r>
          <a:endParaRPr kumimoji="1" lang="en-US" altLang="ja-JP" sz="2000" b="1" dirty="0"/>
        </a:p>
        <a:p>
          <a:r>
            <a:rPr kumimoji="1" lang="en-US" altLang="ja-JP" sz="2000" b="1" dirty="0" err="1"/>
            <a:t>CardSurface</a:t>
          </a:r>
          <a:endParaRPr kumimoji="1" lang="en-US" altLang="ja-JP" sz="2000" b="1" dirty="0"/>
        </a:p>
        <a:p>
          <a:r>
            <a:rPr kumimoji="1" lang="en-US" altLang="ja-JP" sz="2000" b="1" dirty="0" err="1"/>
            <a:t>InlineTextEditor</a:t>
          </a:r>
          <a:endParaRPr kumimoji="1" lang="ja-JP" altLang="en-US" sz="2000" b="1" dirty="0"/>
        </a:p>
      </dgm:t>
    </dgm:pt>
    <dgm:pt modelId="{E2C28EE5-B204-457E-AE8A-0A0DEC6D7680}" type="parTrans" cxnId="{68A3130A-ACA7-42F3-9E0F-17CB7BBD80EF}">
      <dgm:prSet/>
      <dgm:spPr/>
      <dgm:t>
        <a:bodyPr/>
        <a:lstStyle/>
        <a:p>
          <a:endParaRPr kumimoji="1" lang="ja-JP" altLang="en-US"/>
        </a:p>
      </dgm:t>
    </dgm:pt>
    <dgm:pt modelId="{BFA91D98-0584-45BC-9A2F-16EFD39DD78E}" type="sibTrans" cxnId="{68A3130A-ACA7-42F3-9E0F-17CB7BBD80EF}">
      <dgm:prSet/>
      <dgm:spPr/>
      <dgm:t>
        <a:bodyPr/>
        <a:lstStyle/>
        <a:p>
          <a:endParaRPr kumimoji="1" lang="ja-JP" altLang="en-US"/>
        </a:p>
      </dgm:t>
    </dgm:pt>
    <dgm:pt modelId="{9109AFFE-8840-4D49-958C-45A498BCE8CA}" type="pres">
      <dgm:prSet presAssocID="{CFCEE086-149B-46B9-9E86-2EE01FDDB42D}" presName="CompostProcess" presStyleCnt="0">
        <dgm:presLayoutVars>
          <dgm:dir/>
          <dgm:resizeHandles val="exact"/>
        </dgm:presLayoutVars>
      </dgm:prSet>
      <dgm:spPr/>
    </dgm:pt>
    <dgm:pt modelId="{11A91F7F-661D-4D73-A4AE-F29DE5B9C7EA}" type="pres">
      <dgm:prSet presAssocID="{CFCEE086-149B-46B9-9E86-2EE01FDDB42D}" presName="arrow" presStyleLbl="bgShp" presStyleIdx="0" presStyleCnt="1"/>
      <dgm:spPr/>
    </dgm:pt>
    <dgm:pt modelId="{FDFF3DF7-E759-450A-A48D-69956D1F3709}" type="pres">
      <dgm:prSet presAssocID="{CFCEE086-149B-46B9-9E86-2EE01FDDB42D}" presName="linearProcess" presStyleCnt="0"/>
      <dgm:spPr/>
    </dgm:pt>
    <dgm:pt modelId="{EC6FB298-6664-46A7-9CC5-F1CA5404ACBD}" type="pres">
      <dgm:prSet presAssocID="{42D4612C-77CF-426D-98A8-A1D03D8705AB}" presName="textNode" presStyleLbl="node1" presStyleIdx="0" presStyleCnt="3" custScaleX="109993" custScaleY="113379">
        <dgm:presLayoutVars>
          <dgm:bulletEnabled val="1"/>
        </dgm:presLayoutVars>
      </dgm:prSet>
      <dgm:spPr/>
    </dgm:pt>
    <dgm:pt modelId="{EB84DB58-DD25-4361-9A0F-1CBF4506D27D}" type="pres">
      <dgm:prSet presAssocID="{C2CB5ED4-F5BA-4883-8F0C-8E6FA5E3701C}" presName="sibTrans" presStyleCnt="0"/>
      <dgm:spPr/>
    </dgm:pt>
    <dgm:pt modelId="{96068A64-09B1-49FD-8D4E-5CFB1EF93F0D}" type="pres">
      <dgm:prSet presAssocID="{8C26A405-2DE3-44E4-8577-CAB627AB46BA}" presName="textNode" presStyleLbl="node1" presStyleIdx="1" presStyleCnt="3" custScaleX="107270" custScaleY="112869" custLinFactNeighborX="-11619">
        <dgm:presLayoutVars>
          <dgm:bulletEnabled val="1"/>
        </dgm:presLayoutVars>
      </dgm:prSet>
      <dgm:spPr/>
    </dgm:pt>
    <dgm:pt modelId="{502E8962-DBF3-42A6-BE03-9FC931DBC65B}" type="pres">
      <dgm:prSet presAssocID="{2D6EE2FC-B09D-4F0F-B75C-D5DD00F34C16}" presName="sibTrans" presStyleCnt="0"/>
      <dgm:spPr/>
    </dgm:pt>
    <dgm:pt modelId="{E4DE2600-43E8-42B5-9CA2-7C859672CA3C}" type="pres">
      <dgm:prSet presAssocID="{C05C9832-6368-4D2A-91CE-82EDC11CDAE5}" presName="textNode" presStyleLbl="node1" presStyleIdx="2" presStyleCnt="3" custScaleX="114793" custScaleY="111996" custLinFactNeighborX="-16799" custLinFactNeighborY="-874">
        <dgm:presLayoutVars>
          <dgm:bulletEnabled val="1"/>
        </dgm:presLayoutVars>
      </dgm:prSet>
      <dgm:spPr/>
    </dgm:pt>
  </dgm:ptLst>
  <dgm:cxnLst>
    <dgm:cxn modelId="{68A3130A-ACA7-42F3-9E0F-17CB7BBD80EF}" srcId="{CFCEE086-149B-46B9-9E86-2EE01FDDB42D}" destId="{C05C9832-6368-4D2A-91CE-82EDC11CDAE5}" srcOrd="2" destOrd="0" parTransId="{E2C28EE5-B204-457E-AE8A-0A0DEC6D7680}" sibTransId="{BFA91D98-0584-45BC-9A2F-16EFD39DD78E}"/>
    <dgm:cxn modelId="{BFE23219-0976-4786-8F15-C1DE7F81EBDA}" type="presOf" srcId="{CFCEE086-149B-46B9-9E86-2EE01FDDB42D}" destId="{9109AFFE-8840-4D49-958C-45A498BCE8CA}" srcOrd="0" destOrd="0" presId="urn:microsoft.com/office/officeart/2005/8/layout/hProcess9"/>
    <dgm:cxn modelId="{AF7DA235-73D4-4CD0-A41B-8D6FA9303961}" type="presOf" srcId="{C05C9832-6368-4D2A-91CE-82EDC11CDAE5}" destId="{E4DE2600-43E8-42B5-9CA2-7C859672CA3C}" srcOrd="0" destOrd="0" presId="urn:microsoft.com/office/officeart/2005/8/layout/hProcess9"/>
    <dgm:cxn modelId="{B6F96147-C632-4211-97FA-EF4686D36B82}" type="presOf" srcId="{8C26A405-2DE3-44E4-8577-CAB627AB46BA}" destId="{96068A64-09B1-49FD-8D4E-5CFB1EF93F0D}" srcOrd="0" destOrd="0" presId="urn:microsoft.com/office/officeart/2005/8/layout/hProcess9"/>
    <dgm:cxn modelId="{FC632E4A-B143-47EA-87F2-77058B5E72D1}" srcId="{CFCEE086-149B-46B9-9E86-2EE01FDDB42D}" destId="{8C26A405-2DE3-44E4-8577-CAB627AB46BA}" srcOrd="1" destOrd="0" parTransId="{B5AFD500-A5DD-4094-A857-3DE42B42D5EE}" sibTransId="{2D6EE2FC-B09D-4F0F-B75C-D5DD00F34C16}"/>
    <dgm:cxn modelId="{743AF488-AC9D-440C-B66B-31F59DC0DB57}" type="presOf" srcId="{42D4612C-77CF-426D-98A8-A1D03D8705AB}" destId="{EC6FB298-6664-46A7-9CC5-F1CA5404ACBD}" srcOrd="0" destOrd="0" presId="urn:microsoft.com/office/officeart/2005/8/layout/hProcess9"/>
    <dgm:cxn modelId="{8CF943A3-3CC0-4D4D-8CB8-75842F761733}" srcId="{CFCEE086-149B-46B9-9E86-2EE01FDDB42D}" destId="{42D4612C-77CF-426D-98A8-A1D03D8705AB}" srcOrd="0" destOrd="0" parTransId="{FBAA180A-5AD3-4A2E-A4C4-01DFC9A9C361}" sibTransId="{C2CB5ED4-F5BA-4883-8F0C-8E6FA5E3701C}"/>
    <dgm:cxn modelId="{C5A7BD2D-FAF4-40AD-B23B-A67C075DC2F0}" type="presParOf" srcId="{9109AFFE-8840-4D49-958C-45A498BCE8CA}" destId="{11A91F7F-661D-4D73-A4AE-F29DE5B9C7EA}" srcOrd="0" destOrd="0" presId="urn:microsoft.com/office/officeart/2005/8/layout/hProcess9"/>
    <dgm:cxn modelId="{59CDE06B-1FCF-428C-BCAC-BB3F45C6B880}" type="presParOf" srcId="{9109AFFE-8840-4D49-958C-45A498BCE8CA}" destId="{FDFF3DF7-E759-450A-A48D-69956D1F3709}" srcOrd="1" destOrd="0" presId="urn:microsoft.com/office/officeart/2005/8/layout/hProcess9"/>
    <dgm:cxn modelId="{200F5806-5554-4BED-B6E7-25CD698D92B0}" type="presParOf" srcId="{FDFF3DF7-E759-450A-A48D-69956D1F3709}" destId="{EC6FB298-6664-46A7-9CC5-F1CA5404ACBD}" srcOrd="0" destOrd="0" presId="urn:microsoft.com/office/officeart/2005/8/layout/hProcess9"/>
    <dgm:cxn modelId="{EF3AEE9C-DFF9-4E8D-84B1-D0B487B9F1A6}" type="presParOf" srcId="{FDFF3DF7-E759-450A-A48D-69956D1F3709}" destId="{EB84DB58-DD25-4361-9A0F-1CBF4506D27D}" srcOrd="1" destOrd="0" presId="urn:microsoft.com/office/officeart/2005/8/layout/hProcess9"/>
    <dgm:cxn modelId="{EFE29BB5-6DA3-4CE2-80FD-1E029FA7B70E}" type="presParOf" srcId="{FDFF3DF7-E759-450A-A48D-69956D1F3709}" destId="{96068A64-09B1-49FD-8D4E-5CFB1EF93F0D}" srcOrd="2" destOrd="0" presId="urn:microsoft.com/office/officeart/2005/8/layout/hProcess9"/>
    <dgm:cxn modelId="{A827B394-0E18-4FB2-8311-D7B9A9D8B466}" type="presParOf" srcId="{FDFF3DF7-E759-450A-A48D-69956D1F3709}" destId="{502E8962-DBF3-42A6-BE03-9FC931DBC65B}" srcOrd="3" destOrd="0" presId="urn:microsoft.com/office/officeart/2005/8/layout/hProcess9"/>
    <dgm:cxn modelId="{58659066-10D1-4DC3-A1B7-BC4D2019C641}" type="presParOf" srcId="{FDFF3DF7-E759-450A-A48D-69956D1F3709}" destId="{E4DE2600-43E8-42B5-9CA2-7C859672CA3C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A91F7F-661D-4D73-A4AE-F29DE5B9C7EA}">
      <dsp:nvSpPr>
        <dsp:cNvPr id="0" name=""/>
        <dsp:cNvSpPr/>
      </dsp:nvSpPr>
      <dsp:spPr>
        <a:xfrm>
          <a:off x="652700" y="0"/>
          <a:ext cx="7397273" cy="5452534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6FB298-6664-46A7-9CC5-F1CA5404ACBD}">
      <dsp:nvSpPr>
        <dsp:cNvPr id="0" name=""/>
        <dsp:cNvSpPr/>
      </dsp:nvSpPr>
      <dsp:spPr>
        <a:xfrm>
          <a:off x="761" y="1489861"/>
          <a:ext cx="2619304" cy="247281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000" b="1" kern="1200" dirty="0"/>
            <a:t>[ Hooks / State ]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000" b="1" kern="1200" dirty="0"/>
            <a:t>useCardBlocks</a:t>
          </a:r>
          <a:endParaRPr kumimoji="1" lang="ja-JP" altLang="ja-JP" sz="2000" b="1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000" b="1" kern="1200" dirty="0" err="1"/>
            <a:t>useEditorState</a:t>
          </a:r>
          <a:endParaRPr kumimoji="1" lang="ja-JP" altLang="ja-JP" sz="2000" b="1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000" b="1" kern="1200" dirty="0" err="1"/>
            <a:t>useScaleToFit</a:t>
          </a:r>
          <a:endParaRPr kumimoji="1" lang="ja-JP" altLang="en-US" sz="2000" b="1" kern="1200" dirty="0"/>
        </a:p>
      </dsp:txBody>
      <dsp:txXfrm>
        <a:off x="121474" y="1610574"/>
        <a:ext cx="2377878" cy="2231385"/>
      </dsp:txXfrm>
    </dsp:sp>
    <dsp:sp modelId="{96068A64-09B1-49FD-8D4E-5CFB1EF93F0D}">
      <dsp:nvSpPr>
        <dsp:cNvPr id="0" name=""/>
        <dsp:cNvSpPr/>
      </dsp:nvSpPr>
      <dsp:spPr>
        <a:xfrm>
          <a:off x="2970840" y="1495422"/>
          <a:ext cx="2554460" cy="2461688"/>
        </a:xfrm>
        <a:prstGeom prst="roundRect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000" b="1" kern="1200" dirty="0"/>
            <a:t>[ </a:t>
          </a:r>
          <a:r>
            <a:rPr kumimoji="1" lang="ja-JP" altLang="en-US" sz="2000" b="1" kern="1200" dirty="0"/>
            <a:t>統括 </a:t>
          </a:r>
          <a:r>
            <a:rPr kumimoji="1" lang="en-US" altLang="ja-JP" sz="2000" b="1" kern="1200" dirty="0"/>
            <a:t>]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000" b="1" kern="1200" dirty="0" err="1"/>
            <a:t>CardEditor.tsx</a:t>
          </a:r>
          <a:endParaRPr kumimoji="1" lang="ja-JP" altLang="en-US" sz="2000" b="1" kern="1200" dirty="0"/>
        </a:p>
      </dsp:txBody>
      <dsp:txXfrm>
        <a:off x="3091010" y="1615592"/>
        <a:ext cx="2314120" cy="2221348"/>
      </dsp:txXfrm>
    </dsp:sp>
    <dsp:sp modelId="{E4DE2600-43E8-42B5-9CA2-7C859672CA3C}">
      <dsp:nvSpPr>
        <dsp:cNvPr id="0" name=""/>
        <dsp:cNvSpPr/>
      </dsp:nvSpPr>
      <dsp:spPr>
        <a:xfrm>
          <a:off x="5901631" y="1485880"/>
          <a:ext cx="2733608" cy="24426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000" b="1" kern="1200" dirty="0"/>
            <a:t>[ Canvas ]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000" b="1" kern="1200" dirty="0" err="1"/>
            <a:t>EditorCanvas</a:t>
          </a:r>
          <a:endParaRPr kumimoji="1" lang="en-US" altLang="ja-JP" sz="2000" b="1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000" b="1" kern="1200" dirty="0" err="1"/>
            <a:t>CardSurface</a:t>
          </a:r>
          <a:endParaRPr kumimoji="1" lang="en-US" altLang="ja-JP" sz="2000" b="1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000" b="1" kern="1200" dirty="0" err="1"/>
            <a:t>InlineTextEditor</a:t>
          </a:r>
          <a:endParaRPr kumimoji="1" lang="ja-JP" altLang="en-US" sz="2000" b="1" kern="1200" dirty="0"/>
        </a:p>
      </dsp:txBody>
      <dsp:txXfrm>
        <a:off x="6020871" y="1605120"/>
        <a:ext cx="2495128" cy="22041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BCAF9D-E7D6-45A5-9AB5-DA7ADAF13907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F21E05-FC2D-4274-A771-81A837D4E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5827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F21E05-FC2D-4274-A771-81A837D4E42A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4662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967F5-56C1-CD1B-A9B0-5B8A2601B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954FDC2-D072-00CD-6857-5025550AC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E01B8A8-0189-1505-83F2-822B62875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0F76AE4-F531-9123-9400-62798B0274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F21E05-FC2D-4274-A771-81A837D4E42A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6116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7104B-ADEA-5661-A784-055ABFCA4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9879701-543F-A5EC-3B17-05308D84F7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5AFFA6F-A29C-241A-5FA0-98C1DB631B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41A4EBB-6968-8EAF-AA6D-FE12E86C80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F21E05-FC2D-4274-A771-81A837D4E42A}" type="slidenum">
              <a:rPr kumimoji="1" lang="ja-JP" altLang="en-US" smtClean="0"/>
              <a:t>29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7009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8D21DF-068B-3D04-C608-ED02F9DEE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6FF7016-4392-B6C6-1BC2-9EBAB9F6B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C24224-4878-ED62-21FD-00AEB86D7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8387-500B-4C5B-B426-5A2144A61172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155FA9-6AF1-DF3E-844E-40FF2FC7E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5099FD-6D0D-9E81-7DD4-7D5970B36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1DCC-4F7B-4695-A488-6DE84473BD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8841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2F96D2-17F3-122F-1FBD-3249120FE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A0A90F7-B091-8DC6-D258-8EFD0A84F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A3C47E-2C65-8CF0-C3C1-D11B87F70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8387-500B-4C5B-B426-5A2144A61172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604D93-834B-9280-C699-D680F828F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5DD131-6121-F26B-3185-752DF57D4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1DCC-4F7B-4695-A488-6DE84473BD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7213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DC7F42-8DF6-B0B1-2D30-D173A418D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A93660-EB98-4805-5073-F0C43BCB2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F7843D-120A-8D42-5DE0-AEB22A6A2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8387-500B-4C5B-B426-5A2144A61172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929655-A09C-8F9E-87E0-97C83441E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AF45C0-32BC-FED9-C0D9-C6D53707B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1DCC-4F7B-4695-A488-6DE84473BD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8327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B7E1A7-B5FC-65AD-4EFB-39036EAED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E1E33E-A6F0-4FAA-3EAD-42A9D684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4ACFB25-CEDD-AC11-B4F0-C086E1524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0526AB3-1440-1E5C-FAA1-1AEC14271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8387-500B-4C5B-B426-5A2144A61172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0233A55-AC41-FA94-54CA-F2C38174A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ABE2AD5-89F3-A729-6B4D-0A5869EA4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1DCC-4F7B-4695-A488-6DE84473BD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4949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374331-A681-F763-063F-8D4EA9D40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F86A4CF-4D18-73CB-8EA6-D01DB7663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FA0973D-1C2C-AA71-4794-5DF2802ECE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2B5D0B1-4331-C4DC-3A2F-8396524301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4954202-E969-EC45-028A-9E49ABFD50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BD05BC4-11AB-2F10-EA18-F65D83267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8387-500B-4C5B-B426-5A2144A61172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13A8022-B9EB-24C6-BA8F-66C9A3B10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55C7C88-6CD8-3F4C-7A2E-F1984FFDE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1DCC-4F7B-4695-A488-6DE84473BD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3884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A9EB82-DB36-AE09-AE17-9177EA2A2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AC08790-8C3A-AD57-79B0-9C00236B8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8387-500B-4C5B-B426-5A2144A61172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296D753-6687-60B2-6223-8EC813973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E2D884B-68DF-33CA-3089-BA7275C4B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1DCC-4F7B-4695-A488-6DE84473BD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4124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F259789-5FFE-298B-5C48-C635B8538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8387-500B-4C5B-B426-5A2144A61172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1712560-B023-BB84-F237-D2C48E12D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DF6C519-2B9D-906A-A0C6-A5D534BD8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1DCC-4F7B-4695-A488-6DE84473BD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1450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6A5CAD-3AFB-213A-A8BC-574B32FD5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0F74B4-9890-EACD-9F7F-4DA0966AE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179A37E-7221-C695-FE71-BAAD6B0F2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7ED7E10-3F97-DBAA-AB59-87C3B6218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8387-500B-4C5B-B426-5A2144A61172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67B1402-831A-6529-7597-2EBDD1B75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7623B22-7997-6692-8D7F-59DCD320B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1DCC-4F7B-4695-A488-6DE84473BD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8205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55CB7E-F5ED-62E6-212A-706D2287C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E9AE780-BF4D-AB77-01DC-A1C8E28A98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FEBF331-B9B5-6E6A-A577-198D1BA40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8623EA5-5042-7611-D3C8-0715CC0DA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8387-500B-4C5B-B426-5A2144A61172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F91B44B-3DFA-F15A-9519-A706CB196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AB5F9EE-C3D7-1882-A0D9-68166DD49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1DCC-4F7B-4695-A488-6DE84473BD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7611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6B1853-7DE8-2E55-026F-C3F0307EE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4A18A4B-113B-EB6F-7FC3-8E95E72F4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E2834C-ABB1-708D-0EEA-0035D4915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8387-500B-4C5B-B426-5A2144A61172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502374-1D29-EECC-1D9B-FC41ECC6D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FD4FF4-26DA-716A-7A11-6892043F4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1DCC-4F7B-4695-A488-6DE84473BD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7172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CD176A3-E509-019E-F472-36729F477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792717F-7DFE-D1E6-107F-5DE8E65AC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CD7078-F83C-A7F7-2852-C3EEC18D7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8387-500B-4C5B-B426-5A2144A61172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32EEC2-E822-CA4A-C118-81936A080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555900-7219-A0E1-9571-140A5D7AB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1DCC-4F7B-4695-A488-6DE84473BD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4851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FCF206E-EA4A-0907-712F-4053CD2B4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A6C9BCA-B9B1-4E5B-8496-C65BFA874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30E2A7-2AB3-DEC7-BF22-9FC6F31DCD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18387-500B-4C5B-B426-5A2144A61172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83B589-2AF9-E9EA-2257-2878F69604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8FE5F5-3B63-866B-5B5B-705337985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651DCC-4F7B-4695-A488-6DE84473BD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5637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19721F-9753-B3A8-5647-951C04821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215" y="486076"/>
            <a:ext cx="3932237" cy="2517006"/>
          </a:xfrm>
        </p:spPr>
        <p:txBody>
          <a:bodyPr>
            <a:normAutofit/>
          </a:bodyPr>
          <a:lstStyle/>
          <a:p>
            <a:r>
              <a:rPr lang="en-US" altLang="ja-JP" sz="4000" b="1" dirty="0" err="1">
                <a:latin typeface="+mn-lt"/>
              </a:rPr>
              <a:t>CardCraft</a:t>
            </a:r>
            <a:br>
              <a:rPr lang="en-US" altLang="ja-JP" dirty="0"/>
            </a:br>
            <a:r>
              <a:rPr lang="ja-JP" altLang="en-US" sz="2800" dirty="0"/>
              <a:t>名刺デザインエディタ</a:t>
            </a:r>
            <a:br>
              <a:rPr lang="en-US" altLang="ja-JP" sz="2800" dirty="0"/>
            </a:br>
            <a:br>
              <a:rPr lang="en-US" altLang="ja-JP" sz="2800" dirty="0"/>
            </a:br>
            <a:r>
              <a:rPr lang="en-US" altLang="ja-JP" sz="2400" dirty="0"/>
              <a:t>React / Next.js </a:t>
            </a:r>
            <a:r>
              <a:rPr lang="ja-JP" altLang="en-US" sz="2400" dirty="0"/>
              <a:t>製・</a:t>
            </a:r>
            <a:r>
              <a:rPr lang="en-US" altLang="ja-JP" sz="2400" dirty="0"/>
              <a:t>WordPress</a:t>
            </a:r>
            <a:r>
              <a:rPr lang="ja-JP" altLang="en-US" sz="2400" dirty="0"/>
              <a:t>埋め込み対応</a:t>
            </a:r>
            <a:endParaRPr kumimoji="1" lang="ja-JP" altLang="en-US" sz="24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D08C67D-441E-5C83-6564-B84E0CC1A3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473" y="3185962"/>
            <a:ext cx="4155722" cy="2683026"/>
          </a:xfrm>
        </p:spPr>
        <p:txBody>
          <a:bodyPr/>
          <a:lstStyle/>
          <a:p>
            <a:r>
              <a:rPr lang="ja-JP" altLang="en-US" dirty="0"/>
              <a:t>・</a:t>
            </a:r>
            <a:r>
              <a:rPr lang="en-US" altLang="ja-JP" dirty="0"/>
              <a:t>Web</a:t>
            </a:r>
            <a:r>
              <a:rPr lang="ja-JP" altLang="en-US" dirty="0"/>
              <a:t>上で動作する名刺編集ツール</a:t>
            </a:r>
            <a:endParaRPr lang="en-US" altLang="ja-JP" dirty="0"/>
          </a:p>
          <a:p>
            <a:r>
              <a:rPr lang="ja-JP" altLang="en-US" dirty="0"/>
              <a:t>・テキスト</a:t>
            </a:r>
            <a:r>
              <a:rPr lang="en-US" altLang="ja-JP" dirty="0"/>
              <a:t>/</a:t>
            </a:r>
            <a:r>
              <a:rPr lang="ja-JP" altLang="en-US" dirty="0"/>
              <a:t>画像をブロック単位で自由配置</a:t>
            </a:r>
            <a:endParaRPr lang="en-US" altLang="ja-JP" dirty="0"/>
          </a:p>
          <a:p>
            <a:r>
              <a:rPr lang="ja-JP" altLang="en-US" dirty="0"/>
              <a:t>・</a:t>
            </a:r>
            <a:r>
              <a:rPr lang="en-US" altLang="ja-JP" dirty="0"/>
              <a:t>WordPress</a:t>
            </a:r>
            <a:r>
              <a:rPr lang="ja-JP" altLang="en-US" dirty="0"/>
              <a:t>に</a:t>
            </a:r>
            <a:r>
              <a:rPr lang="en-US" altLang="ja-JP" dirty="0" err="1"/>
              <a:t>iframe</a:t>
            </a:r>
            <a:r>
              <a:rPr lang="ja-JP" altLang="en-US" dirty="0"/>
              <a:t>で埋め込み可能</a:t>
            </a:r>
            <a:endParaRPr kumimoji="1" lang="ja-JP" altLang="en-US" dirty="0"/>
          </a:p>
        </p:txBody>
      </p:sp>
      <p:pic>
        <p:nvPicPr>
          <p:cNvPr id="17" name="図 16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70A9B3D0-6AB0-D403-BA27-97EDECCA8B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273" y="1904467"/>
            <a:ext cx="6639254" cy="32643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981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F2A059-4D14-0710-5993-175D0AB099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b="1" dirty="0">
                <a:solidFill>
                  <a:srgbClr val="C00000"/>
                </a:solidFill>
                <a:latin typeface="+mn-ea"/>
                <a:ea typeface="+mn-ea"/>
              </a:rPr>
              <a:t>SECTION 1 </a:t>
            </a:r>
            <a:r>
              <a:rPr lang="ja-JP" altLang="en-US" b="1" dirty="0"/>
              <a:t>仕様編</a:t>
            </a:r>
            <a:endParaRPr kumimoji="1" lang="ja-JP" altLang="en-US" b="1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1D16B18-5966-1FC6-492B-A4849CF39E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エディタの機能・仕様・画面構成を定義します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21040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17120DB-F345-2E50-25F2-138B0BC7B811}"/>
              </a:ext>
            </a:extLst>
          </p:cNvPr>
          <p:cNvSpPr txBox="1"/>
          <p:nvPr/>
        </p:nvSpPr>
        <p:spPr>
          <a:xfrm>
            <a:off x="243906" y="566433"/>
            <a:ext cx="11704188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b="1" dirty="0"/>
              <a:t>1.</a:t>
            </a:r>
            <a:r>
              <a:rPr lang="ja-JP" altLang="ja-JP" sz="4000" b="1" dirty="0"/>
              <a:t>概要</a:t>
            </a:r>
            <a:endParaRPr lang="en-US" altLang="ja-JP" sz="4000" b="1" dirty="0"/>
          </a:p>
          <a:p>
            <a:pPr marL="742950" indent="-742950">
              <a:buAutoNum type="arabicPeriod"/>
            </a:pPr>
            <a:endParaRPr lang="ja-JP" altLang="ja-JP" sz="1600" b="1" dirty="0"/>
          </a:p>
          <a:p>
            <a:r>
              <a:rPr lang="en-US" altLang="ja-JP" sz="2800" dirty="0" err="1"/>
              <a:t>CardCraft</a:t>
            </a:r>
            <a:r>
              <a:rPr lang="en-US" altLang="ja-JP" sz="2800" dirty="0"/>
              <a:t> </a:t>
            </a:r>
            <a:r>
              <a:rPr lang="ja-JP" altLang="ja-JP" sz="2800" dirty="0"/>
              <a:t>は、</a:t>
            </a:r>
            <a:r>
              <a:rPr lang="en-US" altLang="ja-JP" sz="2800" dirty="0"/>
              <a:t>Web </a:t>
            </a:r>
            <a:r>
              <a:rPr lang="ja-JP" altLang="ja-JP" sz="2800" dirty="0"/>
              <a:t>ブラウザ上で名刺デザインを編集・プレビュー</a:t>
            </a:r>
            <a:endParaRPr lang="en-US" altLang="ja-JP" sz="2800" dirty="0"/>
          </a:p>
          <a:p>
            <a:r>
              <a:rPr lang="ja-JP" altLang="ja-JP" sz="2800" dirty="0"/>
              <a:t>・画像ファイル保存できる名刺作成エディタです。</a:t>
            </a:r>
            <a:endParaRPr lang="en-US" altLang="ja-JP" sz="2800" dirty="0"/>
          </a:p>
          <a:p>
            <a:endParaRPr lang="en-US" altLang="ja-JP" sz="2800" dirty="0"/>
          </a:p>
          <a:p>
            <a:r>
              <a:rPr lang="ja-JP" altLang="ja-JP" sz="2800" dirty="0"/>
              <a:t> 本仕様書は、</a:t>
            </a:r>
            <a:r>
              <a:rPr lang="ja-JP" altLang="ja-JP" sz="2800" b="1" dirty="0"/>
              <a:t>描画システムとしての責務分離</a:t>
            </a:r>
            <a:r>
              <a:rPr lang="ja-JP" altLang="ja-JP" sz="2800" dirty="0"/>
              <a:t>と</a:t>
            </a:r>
            <a:r>
              <a:rPr lang="ja-JP" altLang="ja-JP" sz="2800" b="1" dirty="0"/>
              <a:t>実寸基準設計</a:t>
            </a:r>
            <a:r>
              <a:rPr lang="ja-JP" altLang="ja-JP" sz="2800" dirty="0"/>
              <a:t>を前提に、機能要件・非機能要件・画面仕様・データ構造を定義します。</a:t>
            </a:r>
            <a:endParaRPr lang="en-US" altLang="ja-JP" sz="2800" dirty="0"/>
          </a:p>
          <a:p>
            <a:endParaRPr lang="ja-JP" altLang="ja-JP" dirty="0"/>
          </a:p>
          <a:p>
            <a:pPr lvl="0"/>
            <a:r>
              <a:rPr lang="en-US" altLang="ja-JP" sz="2400" dirty="0" err="1"/>
              <a:t>対象：CardCraft</a:t>
            </a:r>
            <a:r>
              <a:rPr lang="en-US" altLang="ja-JP" sz="2400" dirty="0"/>
              <a:t> / </a:t>
            </a:r>
            <a:r>
              <a:rPr lang="en-US" altLang="ja-JP" sz="2400" dirty="0" err="1"/>
              <a:t>CardCraft</a:t>
            </a:r>
            <a:r>
              <a:rPr lang="en-US" altLang="ja-JP" sz="2400" dirty="0"/>
              <a:t> </a:t>
            </a:r>
            <a:r>
              <a:rPr lang="en-US" altLang="ja-JP" sz="2400" dirty="0" err="1"/>
              <a:t>Lite（Prototype</a:t>
            </a:r>
            <a:r>
              <a:rPr lang="en-US" altLang="ja-JP" sz="2400" dirty="0"/>
              <a:t>）</a:t>
            </a:r>
            <a:endParaRPr lang="ja-JP" altLang="ja-JP" sz="2400" dirty="0"/>
          </a:p>
          <a:p>
            <a:pPr lvl="0"/>
            <a:r>
              <a:rPr lang="ja-JP" altLang="ja-JP" sz="2400" dirty="0"/>
              <a:t>想定利用：</a:t>
            </a:r>
            <a:r>
              <a:rPr lang="en-US" altLang="ja-JP" sz="2400" dirty="0"/>
              <a:t>PC / </a:t>
            </a:r>
            <a:r>
              <a:rPr lang="ja-JP" altLang="ja-JP" sz="2400" dirty="0"/>
              <a:t>タブレット</a:t>
            </a:r>
            <a:r>
              <a:rPr lang="en-US" altLang="ja-JP" sz="2400" dirty="0"/>
              <a:t> / </a:t>
            </a:r>
            <a:r>
              <a:rPr lang="ja-JP" altLang="ja-JP" sz="2400" dirty="0"/>
              <a:t>モバイル（閲覧・簡易操作）</a:t>
            </a:r>
          </a:p>
          <a:p>
            <a:pPr lvl="0"/>
            <a:r>
              <a:rPr lang="ja-JP" altLang="ja-JP" sz="2400" dirty="0"/>
              <a:t>主目的：業務利用を前提とした名刺デザイン作成および</a:t>
            </a:r>
            <a:endParaRPr lang="en-US" altLang="ja-JP" sz="2400" dirty="0"/>
          </a:p>
          <a:p>
            <a:pPr lvl="0"/>
            <a:r>
              <a:rPr lang="ja-JP" altLang="ja-JP" sz="2400" dirty="0"/>
              <a:t>名刺データの画像ファイルとしての保存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13403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AB03CED-370D-F520-E277-9DB3C65C5EB7}"/>
              </a:ext>
            </a:extLst>
          </p:cNvPr>
          <p:cNvSpPr txBox="1"/>
          <p:nvPr/>
        </p:nvSpPr>
        <p:spPr>
          <a:xfrm>
            <a:off x="172158" y="628233"/>
            <a:ext cx="11613442" cy="560153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ja-JP" sz="4000" b="1" dirty="0"/>
              <a:t>2. </a:t>
            </a:r>
            <a:r>
              <a:rPr lang="en-US" altLang="ja-JP" sz="4000" b="1" dirty="0" err="1"/>
              <a:t>設計方針</a:t>
            </a:r>
            <a:endParaRPr lang="ja-JP" altLang="ja-JP" sz="2400" b="1" dirty="0"/>
          </a:p>
          <a:p>
            <a:r>
              <a:rPr lang="en-US" altLang="ja-JP" sz="2000" b="1" dirty="0"/>
              <a:t>2.1 </a:t>
            </a:r>
            <a:r>
              <a:rPr lang="en-US" altLang="ja-JP" sz="2000" b="1" dirty="0" err="1"/>
              <a:t>基本原則</a:t>
            </a:r>
            <a:endParaRPr lang="ja-JP" altLang="ja-JP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本システムでは、名刺を「カード」として扱い、国際的に一般的なカードサイズ（</a:t>
            </a:r>
            <a:r>
              <a:rPr lang="en-US" altLang="ja-JP" sz="2000" dirty="0"/>
              <a:t>ID </a:t>
            </a:r>
            <a:r>
              <a:rPr lang="ja-JP" altLang="en-US" sz="2000" dirty="0"/>
              <a:t>カード等）に近い比率を基準として設計しています</a:t>
            </a:r>
            <a:r>
              <a:rPr lang="ja-JP" altLang="ja-JP" sz="2000" dirty="0"/>
              <a:t>。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ja-JP" altLang="ja-JP" sz="2000" dirty="0"/>
              <a:t>画面表示は比率を保ったまま</a:t>
            </a:r>
            <a:r>
              <a:rPr lang="en-US" altLang="ja-JP" sz="2000" dirty="0"/>
              <a:t> scale </a:t>
            </a:r>
            <a:r>
              <a:rPr lang="ja-JP" altLang="ja-JP" sz="2000" dirty="0"/>
              <a:t>により縮小されます</a:t>
            </a:r>
            <a:r>
              <a:rPr lang="ja-JP" altLang="en-US" sz="2000" dirty="0"/>
              <a:t>。</a:t>
            </a:r>
            <a:endParaRPr lang="ja-JP" altLang="ja-JP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ja-JP" altLang="ja-JP" sz="2000" dirty="0"/>
              <a:t>描画・操作・画像ファイル保存を明確に分離して管理しています。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ja-JP" altLang="ja-JP" sz="2000" dirty="0"/>
              <a:t>画像ファイル保存は、画面表示用</a:t>
            </a:r>
            <a:r>
              <a:rPr lang="en-US" altLang="ja-JP" sz="2000" dirty="0"/>
              <a:t>DOM</a:t>
            </a:r>
            <a:r>
              <a:rPr lang="ja-JP" altLang="ja-JP" sz="2000" dirty="0"/>
              <a:t>に依存せず、</a:t>
            </a:r>
            <a:r>
              <a:rPr lang="en-US" altLang="ja-JP" sz="2000" dirty="0"/>
              <a:t>Canvas</a:t>
            </a:r>
            <a:r>
              <a:rPr lang="ja-JP" altLang="ja-JP" sz="2000" dirty="0"/>
              <a:t>により実寸基準で再描画を行います。</a:t>
            </a:r>
            <a:endParaRPr lang="en-US" altLang="ja-JP" sz="2000" dirty="0"/>
          </a:p>
          <a:p>
            <a:endParaRPr lang="ja-JP" altLang="ja-JP" sz="2000" dirty="0"/>
          </a:p>
          <a:p>
            <a:r>
              <a:rPr lang="en-US" altLang="ja-JP" sz="2000" b="1" dirty="0"/>
              <a:t>2.2 </a:t>
            </a:r>
            <a:r>
              <a:rPr lang="en-US" altLang="ja-JP" sz="2000" b="1" dirty="0" err="1"/>
              <a:t>レイヤ構造</a:t>
            </a:r>
            <a:endParaRPr lang="ja-JP" altLang="ja-JP" sz="2000" b="1" dirty="0"/>
          </a:p>
          <a:p>
            <a:pPr latinLnBrk="1"/>
            <a:r>
              <a:rPr lang="en-US" altLang="ja-JP" sz="2000" dirty="0" err="1"/>
              <a:t>blocks（状態</a:t>
            </a:r>
            <a:r>
              <a:rPr lang="en-US" altLang="ja-JP" sz="2000" dirty="0"/>
              <a:t>）</a:t>
            </a:r>
            <a:br>
              <a:rPr lang="en-US" altLang="ja-JP" sz="2000" dirty="0"/>
            </a:br>
            <a:r>
              <a:rPr lang="en-US" altLang="ja-JP" sz="2000" dirty="0"/>
              <a:t>└─ </a:t>
            </a:r>
            <a:r>
              <a:rPr lang="en-US" altLang="ja-JP" sz="2000" dirty="0" err="1"/>
              <a:t>CardSurface（描画</a:t>
            </a:r>
            <a:r>
              <a:rPr lang="en-US" altLang="ja-JP" sz="2000" dirty="0"/>
              <a:t>）</a:t>
            </a:r>
            <a:br>
              <a:rPr lang="en-US" altLang="ja-JP" sz="2000" dirty="0"/>
            </a:br>
            <a:r>
              <a:rPr lang="en-US" altLang="ja-JP" sz="2000" dirty="0"/>
              <a:t>   ├─ editor   ：</a:t>
            </a:r>
            <a:r>
              <a:rPr lang="en-US" altLang="ja-JP" sz="2000" dirty="0" err="1"/>
              <a:t>編集用（scaleあり・操作可</a:t>
            </a:r>
            <a:r>
              <a:rPr lang="en-US" altLang="ja-JP" sz="2000" dirty="0"/>
              <a:t>）</a:t>
            </a:r>
            <a:br>
              <a:rPr lang="en-US" altLang="ja-JP" sz="2000" dirty="0"/>
            </a:br>
            <a:r>
              <a:rPr lang="en-US" altLang="ja-JP" sz="2000" dirty="0"/>
              <a:t>   ├─ preview  ：</a:t>
            </a:r>
            <a:r>
              <a:rPr lang="en-US" altLang="ja-JP" sz="2000" dirty="0" err="1"/>
              <a:t>確認用（scaleあり・操作不可</a:t>
            </a:r>
            <a:r>
              <a:rPr lang="en-US" altLang="ja-JP" sz="2000" dirty="0"/>
              <a:t>）</a:t>
            </a:r>
            <a:br>
              <a:rPr lang="en-US" altLang="ja-JP" sz="2000" dirty="0"/>
            </a:br>
            <a:r>
              <a:rPr lang="en-US" altLang="ja-JP" sz="2000" dirty="0"/>
              <a:t>   └─ export   ：</a:t>
            </a:r>
            <a:r>
              <a:rPr lang="ja-JP" altLang="ja-JP" sz="2000" dirty="0"/>
              <a:t>画像ファイル保存</a:t>
            </a:r>
            <a:r>
              <a:rPr lang="en-US" altLang="ja-JP" sz="2000" dirty="0" err="1"/>
              <a:t>用（scaleなし・画面外</a:t>
            </a:r>
            <a:r>
              <a:rPr lang="en-US" altLang="ja-JP" sz="2000" dirty="0"/>
              <a:t>）</a:t>
            </a:r>
            <a:endParaRPr lang="ja-JP" altLang="ja-JP" sz="2000" dirty="0"/>
          </a:p>
          <a:p>
            <a:pPr lvl="0"/>
            <a:r>
              <a:rPr lang="en-US" altLang="ja-JP" sz="2000" dirty="0"/>
              <a:t>blocks は実寸（480×303）基準で管理</a:t>
            </a:r>
            <a:endParaRPr lang="ja-JP" altLang="ja-JP" sz="2000" dirty="0"/>
          </a:p>
          <a:p>
            <a:pPr lvl="0"/>
            <a:r>
              <a:rPr lang="en-US" altLang="ja-JP" sz="2000" dirty="0"/>
              <a:t>scale </a:t>
            </a:r>
            <a:r>
              <a:rPr lang="ja-JP" altLang="ja-JP" sz="2000" dirty="0"/>
              <a:t>は表示専用で状態には含めない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99385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D6F197DE-CC5A-E0B4-D6F3-78B44B2B66DB}"/>
              </a:ext>
            </a:extLst>
          </p:cNvPr>
          <p:cNvGraphicFramePr>
            <a:graphicFrameLocks noGrp="1"/>
          </p:cNvGraphicFramePr>
          <p:nvPr/>
        </p:nvGraphicFramePr>
        <p:xfrm>
          <a:off x="683491" y="1470891"/>
          <a:ext cx="10668000" cy="4267200"/>
        </p:xfrm>
        <a:graphic>
          <a:graphicData uri="http://schemas.openxmlformats.org/drawingml/2006/table">
            <a:tbl>
              <a:tblPr firstRow="1" bandRow="1" bandCol="1">
                <a:tableStyleId>{2D5ABB26-0587-4C30-8999-92F81FD0307C}</a:tableStyleId>
              </a:tblPr>
              <a:tblGrid>
                <a:gridCol w="4805055">
                  <a:extLst>
                    <a:ext uri="{9D8B030D-6E8A-4147-A177-3AD203B41FA5}">
                      <a16:colId xmlns:a16="http://schemas.microsoft.com/office/drawing/2014/main" val="2458726895"/>
                    </a:ext>
                  </a:extLst>
                </a:gridCol>
                <a:gridCol w="5862945">
                  <a:extLst>
                    <a:ext uri="{9D8B030D-6E8A-4147-A177-3AD203B41FA5}">
                      <a16:colId xmlns:a16="http://schemas.microsoft.com/office/drawing/2014/main" val="1899110306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4000" b="1" dirty="0" err="1">
                          <a:effectLst/>
                        </a:rPr>
                        <a:t>項目</a:t>
                      </a:r>
                      <a:endParaRPr lang="ja-JP" sz="4000" b="1" dirty="0">
                        <a:effectLst/>
                        <a:latin typeface="Aptos" panose="020B000402020202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4000" b="1" dirty="0" err="1">
                          <a:effectLst/>
                        </a:rPr>
                        <a:t>内容</a:t>
                      </a:r>
                      <a:endParaRPr lang="ja-JP" sz="4000" b="1" dirty="0">
                        <a:effectLst/>
                        <a:latin typeface="Aptos" panose="020B000402020202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491807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 dirty="0" err="1">
                          <a:effectLst/>
                        </a:rPr>
                        <a:t>基準サイズ</a:t>
                      </a:r>
                      <a:endParaRPr lang="ja-JP" sz="2000" dirty="0">
                        <a:effectLst/>
                        <a:latin typeface="Aptos" panose="020B000402020202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480 × 303 </a:t>
                      </a:r>
                      <a:r>
                        <a:rPr lang="en-US" sz="2000" dirty="0" err="1">
                          <a:effectLst/>
                        </a:rPr>
                        <a:t>px</a:t>
                      </a:r>
                      <a:endParaRPr lang="ja-JP" sz="2000" dirty="0">
                        <a:effectLst/>
                        <a:latin typeface="Aptos" panose="020B000402020202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9691953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 dirty="0" err="1">
                          <a:effectLst/>
                        </a:rPr>
                        <a:t>単位</a:t>
                      </a:r>
                      <a:endParaRPr lang="ja-JP" sz="2000" dirty="0">
                        <a:effectLst/>
                        <a:latin typeface="Aptos" panose="020B000402020202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ja-JP" sz="2000" dirty="0">
                          <a:effectLst/>
                        </a:rPr>
                        <a:t>単位　</a:t>
                      </a:r>
                      <a:r>
                        <a:rPr lang="en-US" sz="2000" dirty="0" err="1">
                          <a:effectLst/>
                        </a:rPr>
                        <a:t>px</a:t>
                      </a:r>
                      <a:r>
                        <a:rPr lang="ja-JP" sz="2000" dirty="0">
                          <a:effectLst/>
                        </a:rPr>
                        <a:t>（実寸比率を基準とした内部管理単位）</a:t>
                      </a:r>
                      <a:endParaRPr lang="ja-JP" sz="2000" dirty="0">
                        <a:effectLst/>
                        <a:latin typeface="Aptos" panose="020B000402020202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523886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 dirty="0" err="1">
                          <a:effectLst/>
                        </a:rPr>
                        <a:t>解像度</a:t>
                      </a:r>
                      <a:endParaRPr lang="ja-JP" sz="2000" dirty="0">
                        <a:effectLst/>
                        <a:latin typeface="Aptos" panose="020B000402020202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ja-JP" sz="2000">
                          <a:effectLst/>
                        </a:rPr>
                        <a:t>画像ファイル保存時 </a:t>
                      </a:r>
                      <a:r>
                        <a:rPr lang="en-US" sz="2000">
                          <a:effectLst/>
                        </a:rPr>
                        <a:t>2x</a:t>
                      </a:r>
                      <a:r>
                        <a:rPr lang="ja-JP" sz="2000">
                          <a:effectLst/>
                        </a:rPr>
                        <a:t>（</a:t>
                      </a:r>
                      <a:r>
                        <a:rPr lang="en-US" sz="2000">
                          <a:effectLst/>
                        </a:rPr>
                        <a:t>960 × 606</a:t>
                      </a:r>
                      <a:r>
                        <a:rPr lang="ja-JP" sz="2000">
                          <a:effectLst/>
                        </a:rPr>
                        <a:t>）</a:t>
                      </a:r>
                      <a:endParaRPr lang="ja-JP" sz="2000">
                        <a:effectLst/>
                        <a:latin typeface="Aptos" panose="020B000402020202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373036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 dirty="0" err="1">
                          <a:effectLst/>
                        </a:rPr>
                        <a:t>角丸</a:t>
                      </a:r>
                      <a:endParaRPr lang="ja-JP" sz="2000" dirty="0">
                        <a:effectLst/>
                        <a:latin typeface="Aptos" panose="020B000402020202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 dirty="0" err="1">
                          <a:effectLst/>
                        </a:rPr>
                        <a:t>デザインにより可変</a:t>
                      </a:r>
                      <a:endParaRPr lang="ja-JP" sz="2000" dirty="0">
                        <a:effectLst/>
                        <a:latin typeface="Aptos" panose="020B000402020202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1786720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99EDE027-2AB5-397C-92AA-286C86CFC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036" y="424499"/>
            <a:ext cx="2778325" cy="1046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01568" rIns="91440" bIns="50784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4000" b="1" dirty="0"/>
              <a:t>3. </a:t>
            </a:r>
            <a:r>
              <a:rPr lang="en-US" altLang="ja-JP" sz="4000" b="1" dirty="0" err="1"/>
              <a:t>名刺仕様</a:t>
            </a:r>
            <a:endParaRPr lang="ja-JP" altLang="ja-JP" sz="40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864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603F99C-E449-DEBB-9703-E76919E04C11}"/>
              </a:ext>
            </a:extLst>
          </p:cNvPr>
          <p:cNvSpPr txBox="1"/>
          <p:nvPr/>
        </p:nvSpPr>
        <p:spPr>
          <a:xfrm>
            <a:off x="674255" y="304800"/>
            <a:ext cx="27783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000" b="1" dirty="0"/>
              <a:t>4. </a:t>
            </a:r>
            <a:r>
              <a:rPr lang="en-US" altLang="ja-JP" sz="4000" b="1" dirty="0" err="1"/>
              <a:t>機能仕様</a:t>
            </a:r>
            <a:endParaRPr lang="ja-JP" altLang="ja-JP" sz="4000" b="1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5142A35-82AD-B6C7-C21C-AB8984486A17}"/>
              </a:ext>
            </a:extLst>
          </p:cNvPr>
          <p:cNvSpPr txBox="1"/>
          <p:nvPr/>
        </p:nvSpPr>
        <p:spPr>
          <a:xfrm>
            <a:off x="674255" y="1190785"/>
            <a:ext cx="5602816" cy="28315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/>
              <a:t>4.1 </a:t>
            </a:r>
            <a:r>
              <a:rPr lang="en-US" altLang="ja-JP" sz="2000" b="1" dirty="0" err="1"/>
              <a:t>編集機能</a:t>
            </a:r>
            <a:endParaRPr lang="ja-JP" altLang="ja-JP" sz="20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ja-JP" sz="2000" dirty="0" err="1"/>
              <a:t>テキストブロック追加</a:t>
            </a:r>
            <a:endParaRPr lang="ja-JP" altLang="ja-JP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ja-JP" altLang="ja-JP" sz="2000" dirty="0"/>
              <a:t>テキスト内容編集（インライン</a:t>
            </a:r>
            <a:r>
              <a:rPr lang="en-US" altLang="ja-JP" sz="2000" dirty="0"/>
              <a:t> / </a:t>
            </a:r>
            <a:r>
              <a:rPr lang="ja-JP" altLang="ja-JP" sz="2000" dirty="0"/>
              <a:t>パネル）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ja-JP" sz="2000" dirty="0" err="1"/>
              <a:t>フォント種別選択（例：sans</a:t>
            </a:r>
            <a:r>
              <a:rPr lang="en-US" altLang="ja-JP" sz="2000" dirty="0"/>
              <a:t> / maru / serif）</a:t>
            </a:r>
            <a:endParaRPr lang="ja-JP" altLang="ja-JP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ja-JP" sz="2000" dirty="0" err="1"/>
              <a:t>フォントサイズ変更</a:t>
            </a:r>
            <a:endParaRPr lang="ja-JP" altLang="ja-JP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ja-JP" altLang="ja-JP" sz="2000" dirty="0"/>
              <a:t>背景画像切替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ja-JP" sz="2000" dirty="0" err="1"/>
              <a:t>太字切替</a:t>
            </a:r>
            <a:endParaRPr lang="ja-JP" altLang="ja-JP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ja-JP" altLang="ja-JP" sz="2000" dirty="0"/>
              <a:t>ドラッグによる位置調整（実寸座標へ逆算）</a:t>
            </a:r>
          </a:p>
          <a:p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8F1B36B-95A5-0B7A-7861-6D0F00DE1F56}"/>
              </a:ext>
            </a:extLst>
          </p:cNvPr>
          <p:cNvSpPr txBox="1"/>
          <p:nvPr/>
        </p:nvSpPr>
        <p:spPr>
          <a:xfrm>
            <a:off x="674255" y="4066777"/>
            <a:ext cx="6115777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/>
              <a:t>4.2 </a:t>
            </a:r>
            <a:r>
              <a:rPr lang="en-US" altLang="ja-JP" sz="2000" b="1" dirty="0" err="1"/>
              <a:t>表示制御</a:t>
            </a:r>
            <a:endParaRPr lang="ja-JP" altLang="ja-JP" sz="20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ja-JP" sz="2000" dirty="0" err="1"/>
              <a:t>表示倍率は</a:t>
            </a:r>
            <a:r>
              <a:rPr lang="en-US" altLang="ja-JP" sz="2000" dirty="0"/>
              <a:t> scale </a:t>
            </a:r>
            <a:r>
              <a:rPr lang="en-US" altLang="ja-JP" sz="2000" dirty="0" err="1"/>
              <a:t>により自動調整</a:t>
            </a:r>
            <a:endParaRPr lang="ja-JP" altLang="ja-JP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ja-JP" sz="2000" dirty="0" err="1"/>
              <a:t>ResizeObserver</a:t>
            </a:r>
            <a:r>
              <a:rPr lang="en-US" altLang="ja-JP" sz="2000" dirty="0"/>
              <a:t> </a:t>
            </a:r>
            <a:r>
              <a:rPr lang="en-US" altLang="ja-JP" sz="2000" dirty="0" err="1"/>
              <a:t>による追従</a:t>
            </a:r>
            <a:endParaRPr lang="ja-JP" altLang="ja-JP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ja-JP" altLang="ja-JP" sz="2000" dirty="0"/>
              <a:t>編集画面とプレビュー画面で同一ロジックを使用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78171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E27ED48-0F08-ED5D-8C19-161B808D9A10}"/>
              </a:ext>
            </a:extLst>
          </p:cNvPr>
          <p:cNvSpPr txBox="1"/>
          <p:nvPr/>
        </p:nvSpPr>
        <p:spPr>
          <a:xfrm>
            <a:off x="646547" y="2308324"/>
            <a:ext cx="460530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/>
              <a:t>4.4 </a:t>
            </a:r>
            <a:r>
              <a:rPr lang="ja-JP" altLang="ja-JP" b="1" dirty="0"/>
              <a:t>画像ファイル保存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PNG / JPEG </a:t>
            </a:r>
            <a:r>
              <a:rPr lang="en-US" altLang="ja-JP" dirty="0" err="1"/>
              <a:t>出力</a:t>
            </a:r>
            <a:endParaRPr lang="ja-JP" altLang="ja-JP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Canvas </a:t>
            </a:r>
            <a:r>
              <a:rPr lang="en-US" altLang="ja-JP" dirty="0" err="1"/>
              <a:t>による再描画</a:t>
            </a:r>
            <a:endParaRPr lang="ja-JP" altLang="ja-JP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DOM </a:t>
            </a:r>
            <a:r>
              <a:rPr lang="ja-JP" altLang="ja-JP" dirty="0"/>
              <a:t>キャプチャ不使用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ja-JP" dirty="0" err="1"/>
              <a:t>背景色</a:t>
            </a:r>
            <a:r>
              <a:rPr lang="en-US" altLang="ja-JP" dirty="0"/>
              <a:t> / </a:t>
            </a:r>
            <a:r>
              <a:rPr lang="en-US" altLang="ja-JP" dirty="0" err="1"/>
              <a:t>背景画像対応（cover</a:t>
            </a:r>
            <a:r>
              <a:rPr lang="en-US" altLang="ja-JP" dirty="0"/>
              <a:t> / contain）</a:t>
            </a:r>
            <a:endParaRPr lang="ja-JP" altLang="ja-JP" dirty="0"/>
          </a:p>
          <a:p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4E2F474-DC4A-A71F-3E7C-72A0AB2D6BF1}"/>
              </a:ext>
            </a:extLst>
          </p:cNvPr>
          <p:cNvSpPr txBox="1"/>
          <p:nvPr/>
        </p:nvSpPr>
        <p:spPr>
          <a:xfrm>
            <a:off x="646547" y="4062650"/>
            <a:ext cx="76754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/>
              <a:t>4.5 </a:t>
            </a:r>
            <a:r>
              <a:rPr lang="ja-JP" altLang="ja-JP" b="1" dirty="0"/>
              <a:t>操作履歴管理（</a:t>
            </a:r>
            <a:r>
              <a:rPr lang="en-US" altLang="ja-JP" b="1" dirty="0"/>
              <a:t>Undo / Redo</a:t>
            </a:r>
            <a:r>
              <a:rPr lang="ja-JP" altLang="ja-JP" b="1" dirty="0"/>
              <a:t>）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ja-JP" altLang="ja-JP" dirty="0"/>
              <a:t>編集操作は履歴として管理されています。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Undo / Redo </a:t>
            </a:r>
            <a:r>
              <a:rPr lang="ja-JP" altLang="ja-JP" dirty="0"/>
              <a:t>により直前の操作を戻す・やり直すことが可能です。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Undo / Redo</a:t>
            </a:r>
            <a:r>
              <a:rPr lang="ja-JP" altLang="ja-JP" dirty="0"/>
              <a:t>は最大</a:t>
            </a:r>
            <a:r>
              <a:rPr lang="en-US" altLang="ja-JP" dirty="0"/>
              <a:t>5</a:t>
            </a:r>
            <a:r>
              <a:rPr lang="ja-JP" altLang="ja-JP" dirty="0"/>
              <a:t>操作分まで対応しています。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ja-JP" altLang="ja-JP" dirty="0"/>
              <a:t>履歴保持回数は将来的に変更可能です。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ja-JP" altLang="ja-JP" dirty="0"/>
              <a:t>履歴はブラウザ上の状態として保存されます。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ja-JP" altLang="ja-JP" dirty="0"/>
              <a:t>背景画像に関しては履歴に含まれません。</a:t>
            </a:r>
          </a:p>
          <a:p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D732155-9F63-6BE0-1EA2-C6C8F436FB20}"/>
              </a:ext>
            </a:extLst>
          </p:cNvPr>
          <p:cNvSpPr txBox="1"/>
          <p:nvPr/>
        </p:nvSpPr>
        <p:spPr>
          <a:xfrm>
            <a:off x="696138" y="755456"/>
            <a:ext cx="624401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/>
              <a:t>4.3 </a:t>
            </a:r>
            <a:r>
              <a:rPr lang="en-US" altLang="ja-JP" b="1" dirty="0" err="1"/>
              <a:t>プレビュ</a:t>
            </a:r>
            <a:r>
              <a:rPr lang="en-US" altLang="ja-JP" b="1" dirty="0"/>
              <a:t>ー</a:t>
            </a:r>
            <a:endParaRPr lang="ja-JP" altLang="ja-JP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ja-JP" altLang="ja-JP" dirty="0"/>
              <a:t>編集内容を反映したプレビュー表示が可能です。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ja-JP" altLang="ja-JP" dirty="0"/>
              <a:t>プレビュー画面では編集・ドラッグ操作はできません。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editor </a:t>
            </a:r>
            <a:r>
              <a:rPr lang="en-US" altLang="ja-JP" dirty="0" err="1"/>
              <a:t>と同一</a:t>
            </a:r>
            <a:r>
              <a:rPr lang="en-US" altLang="ja-JP" dirty="0"/>
              <a:t> </a:t>
            </a:r>
            <a:r>
              <a:rPr lang="ja-JP" altLang="ja-JP" dirty="0"/>
              <a:t>の</a:t>
            </a:r>
            <a:r>
              <a:rPr lang="en-US" altLang="ja-JP" dirty="0"/>
              <a:t> blocks </a:t>
            </a:r>
            <a:r>
              <a:rPr lang="ja-JP" altLang="ja-JP" dirty="0"/>
              <a:t>状態を参照しています。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ja-JP" altLang="ja-JP" dirty="0"/>
              <a:t>表示倍率 </a:t>
            </a:r>
            <a:r>
              <a:rPr lang="en-US" altLang="ja-JP" dirty="0"/>
              <a:t>(scale)</a:t>
            </a:r>
            <a:r>
              <a:rPr lang="ja-JP" altLang="ja-JP" dirty="0"/>
              <a:t>のみ異なります。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2026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0101329-8AB9-D52F-2587-26C345C88827}"/>
              </a:ext>
            </a:extLst>
          </p:cNvPr>
          <p:cNvSpPr txBox="1"/>
          <p:nvPr/>
        </p:nvSpPr>
        <p:spPr>
          <a:xfrm>
            <a:off x="655782" y="295563"/>
            <a:ext cx="27783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000" b="1" dirty="0"/>
              <a:t>5. </a:t>
            </a:r>
            <a:r>
              <a:rPr lang="en-US" altLang="ja-JP" sz="4000" b="1" dirty="0" err="1"/>
              <a:t>画面構成</a:t>
            </a:r>
            <a:endParaRPr kumimoji="1" lang="ja-JP" altLang="en-US" sz="4000" b="1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EFA7DE1-B005-A518-195D-F0C27E866C05}"/>
              </a:ext>
            </a:extLst>
          </p:cNvPr>
          <p:cNvSpPr txBox="1"/>
          <p:nvPr/>
        </p:nvSpPr>
        <p:spPr>
          <a:xfrm>
            <a:off x="731218" y="1136074"/>
            <a:ext cx="6676828" cy="5170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/>
              <a:t>5.1 </a:t>
            </a:r>
            <a:r>
              <a:rPr lang="en-US" altLang="ja-JP" sz="2400" b="1" dirty="0" err="1"/>
              <a:t>全体構成</a:t>
            </a:r>
            <a:endParaRPr lang="ja-JP" altLang="ja-JP" sz="2400" b="1" dirty="0"/>
          </a:p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en-US" altLang="ja-JP" sz="2400" dirty="0" err="1"/>
              <a:t>ヘッダ</a:t>
            </a:r>
            <a:r>
              <a:rPr lang="en-US" altLang="ja-JP" sz="2400" dirty="0"/>
              <a:t>ー</a:t>
            </a:r>
            <a:endParaRPr lang="ja-JP" altLang="ja-JP" sz="24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ja-JP" sz="2400" dirty="0" err="1"/>
              <a:t>サービス名表示</a:t>
            </a:r>
            <a:endParaRPr lang="ja-JP" altLang="ja-JP" sz="2400" dirty="0"/>
          </a:p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en-US" altLang="ja-JP" sz="2400" dirty="0" err="1"/>
              <a:t>左パネル</a:t>
            </a:r>
            <a:endParaRPr lang="ja-JP" altLang="ja-JP" sz="24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ja-JP" sz="2400" dirty="0" err="1"/>
              <a:t>テキスト編集</a:t>
            </a:r>
            <a:endParaRPr lang="ja-JP" altLang="ja-JP" sz="24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ja-JP" sz="2400" dirty="0" err="1"/>
              <a:t>フォント設定</a:t>
            </a:r>
            <a:endParaRPr lang="ja-JP" altLang="ja-JP" sz="24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ja-JP" altLang="ja-JP" sz="2400" dirty="0"/>
              <a:t>背景画像変更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ja-JP" altLang="ja-JP" sz="2400" dirty="0"/>
              <a:t>名刺を画像ファイルとして保存</a:t>
            </a:r>
            <a:r>
              <a:rPr lang="en-US" altLang="ja-JP" sz="2400" dirty="0"/>
              <a:t>(PDF/JPEG)</a:t>
            </a:r>
            <a:endParaRPr lang="ja-JP" altLang="ja-JP" sz="24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ja-JP" sz="2400" dirty="0"/>
              <a:t>Preview</a:t>
            </a:r>
            <a:endParaRPr lang="ja-JP" altLang="ja-JP" sz="24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ja-JP" sz="2400" dirty="0"/>
              <a:t>Undo / Redo</a:t>
            </a:r>
            <a:r>
              <a:rPr lang="ja-JP" altLang="ja-JP" sz="2400" dirty="0"/>
              <a:t>　</a:t>
            </a:r>
          </a:p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en-US" altLang="ja-JP" sz="2400" dirty="0" err="1"/>
              <a:t>中央</a:t>
            </a:r>
            <a:endParaRPr lang="ja-JP" altLang="ja-JP" sz="24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ja-JP" sz="2400" dirty="0" err="1"/>
              <a:t>CenterToolbar（簡易操作</a:t>
            </a:r>
            <a:r>
              <a:rPr lang="en-US" altLang="ja-JP" sz="2400" dirty="0"/>
              <a:t>）</a:t>
            </a:r>
            <a:endParaRPr lang="ja-JP" altLang="ja-JP" sz="24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ja-JP" sz="2400" dirty="0" err="1"/>
              <a:t>編集キャンバス</a:t>
            </a:r>
            <a:endParaRPr lang="ja-JP" altLang="ja-JP" sz="2400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51407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626A683-E86C-EB0F-1B2D-00677BAA373A}"/>
              </a:ext>
            </a:extLst>
          </p:cNvPr>
          <p:cNvSpPr txBox="1"/>
          <p:nvPr/>
        </p:nvSpPr>
        <p:spPr>
          <a:xfrm>
            <a:off x="387928" y="157244"/>
            <a:ext cx="4802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/>
              <a:t>5.2 </a:t>
            </a:r>
            <a:r>
              <a:rPr lang="en-US" altLang="ja-JP" sz="2400" b="1" dirty="0" err="1"/>
              <a:t>CenterToolbar</a:t>
            </a:r>
            <a:endParaRPr lang="ja-JP" altLang="ja-JP" sz="2400" b="1" dirty="0"/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B068A6E7-987A-F4F0-F3D0-4D33C2790717}"/>
              </a:ext>
            </a:extLst>
          </p:cNvPr>
          <p:cNvGraphicFramePr>
            <a:graphicFrameLocks noGrp="1"/>
          </p:cNvGraphicFramePr>
          <p:nvPr/>
        </p:nvGraphicFramePr>
        <p:xfrm>
          <a:off x="461819" y="696900"/>
          <a:ext cx="9000063" cy="3078080"/>
        </p:xfrm>
        <a:graphic>
          <a:graphicData uri="http://schemas.openxmlformats.org/drawingml/2006/table">
            <a:tbl>
              <a:tblPr firstRow="1" bandRow="1" bandCol="1">
                <a:tableStyleId>{5940675A-B579-460E-94D1-54222C63F5DA}</a:tableStyleId>
              </a:tblPr>
              <a:tblGrid>
                <a:gridCol w="1991865">
                  <a:extLst>
                    <a:ext uri="{9D8B030D-6E8A-4147-A177-3AD203B41FA5}">
                      <a16:colId xmlns:a16="http://schemas.microsoft.com/office/drawing/2014/main" val="3462969251"/>
                    </a:ext>
                  </a:extLst>
                </a:gridCol>
                <a:gridCol w="7008198">
                  <a:extLst>
                    <a:ext uri="{9D8B030D-6E8A-4147-A177-3AD203B41FA5}">
                      <a16:colId xmlns:a16="http://schemas.microsoft.com/office/drawing/2014/main" val="1418624485"/>
                    </a:ext>
                  </a:extLst>
                </a:gridCol>
              </a:tblGrid>
              <a:tr h="269737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 dirty="0" err="1">
                          <a:effectLst/>
                        </a:rPr>
                        <a:t>機能</a:t>
                      </a:r>
                      <a:endParaRPr lang="ja-JP" sz="2400" dirty="0">
                        <a:effectLst/>
                        <a:latin typeface="Aptos" panose="020B000402020202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0576" marR="50576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 dirty="0" err="1">
                          <a:effectLst/>
                        </a:rPr>
                        <a:t>内容</a:t>
                      </a:r>
                      <a:endParaRPr lang="ja-JP" sz="2400" dirty="0">
                        <a:effectLst/>
                        <a:latin typeface="Aptos" panose="020B000402020202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0576" marR="50576" marT="0" marB="0" anchor="ctr"/>
                </a:tc>
                <a:extLst>
                  <a:ext uri="{0D108BD9-81ED-4DB2-BD59-A6C34878D82A}">
                    <a16:rowId xmlns:a16="http://schemas.microsoft.com/office/drawing/2014/main" val="2591120137"/>
                  </a:ext>
                </a:extLst>
              </a:tr>
              <a:tr h="497248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 dirty="0" err="1">
                          <a:effectLst/>
                        </a:rPr>
                        <a:t>フォント選択</a:t>
                      </a:r>
                      <a:endParaRPr lang="ja-JP" sz="2400" dirty="0">
                        <a:effectLst/>
                        <a:latin typeface="Aptos" panose="020B000402020202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0576" marR="50576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sans / maru / serif</a:t>
                      </a:r>
                      <a:endParaRPr lang="ja-JP" sz="2400" dirty="0">
                        <a:effectLst/>
                        <a:latin typeface="Aptos" panose="020B000402020202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0576" marR="50576" marT="0" marB="0" anchor="ctr"/>
                </a:tc>
                <a:extLst>
                  <a:ext uri="{0D108BD9-81ED-4DB2-BD59-A6C34878D82A}">
                    <a16:rowId xmlns:a16="http://schemas.microsoft.com/office/drawing/2014/main" val="1749854987"/>
                  </a:ext>
                </a:extLst>
              </a:tr>
              <a:tr h="674342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サイズ調整</a:t>
                      </a:r>
                      <a:endParaRPr lang="ja-JP" sz="2400">
                        <a:effectLst/>
                        <a:latin typeface="Aptos" panose="020B000402020202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0576" marR="50576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+ / -</a:t>
                      </a:r>
                      <a:endParaRPr lang="ja-JP" sz="2400" dirty="0">
                        <a:effectLst/>
                        <a:latin typeface="Aptos" panose="020B000402020202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0576" marR="50576" marT="0" marB="0" anchor="ctr"/>
                </a:tc>
                <a:extLst>
                  <a:ext uri="{0D108BD9-81ED-4DB2-BD59-A6C34878D82A}">
                    <a16:rowId xmlns:a16="http://schemas.microsoft.com/office/drawing/2014/main" val="3421873546"/>
                  </a:ext>
                </a:extLst>
              </a:tr>
              <a:tr h="269737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太字</a:t>
                      </a:r>
                      <a:endParaRPr lang="ja-JP" sz="2400">
                        <a:effectLst/>
                        <a:latin typeface="Aptos" panose="020B000402020202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0576" marR="50576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ON / OFF</a:t>
                      </a:r>
                      <a:endParaRPr lang="ja-JP" sz="2400">
                        <a:effectLst/>
                        <a:latin typeface="Aptos" panose="020B000402020202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0576" marR="50576" marT="0" marB="0" anchor="ctr"/>
                </a:tc>
                <a:extLst>
                  <a:ext uri="{0D108BD9-81ED-4DB2-BD59-A6C34878D82A}">
                    <a16:rowId xmlns:a16="http://schemas.microsoft.com/office/drawing/2014/main" val="953030843"/>
                  </a:ext>
                </a:extLst>
              </a:tr>
              <a:tr h="269737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揃え</a:t>
                      </a:r>
                      <a:endParaRPr lang="ja-JP" sz="2400">
                        <a:effectLst/>
                        <a:latin typeface="Aptos" panose="020B000402020202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0576" marR="50576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L / C / R</a:t>
                      </a:r>
                      <a:endParaRPr lang="ja-JP" sz="2400" dirty="0">
                        <a:effectLst/>
                        <a:latin typeface="Aptos" panose="020B000402020202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0576" marR="50576" marT="0" marB="0" anchor="ctr"/>
                </a:tc>
                <a:extLst>
                  <a:ext uri="{0D108BD9-81ED-4DB2-BD59-A6C34878D82A}">
                    <a16:rowId xmlns:a16="http://schemas.microsoft.com/office/drawing/2014/main" val="3322784411"/>
                  </a:ext>
                </a:extLst>
              </a:tr>
              <a:tr h="404605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面切替</a:t>
                      </a:r>
                      <a:endParaRPr lang="ja-JP" sz="2400">
                        <a:effectLst/>
                        <a:latin typeface="Aptos" panose="020B000402020202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0576" marR="50576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 dirty="0" err="1">
                          <a:effectLst/>
                        </a:rPr>
                        <a:t>表面</a:t>
                      </a:r>
                      <a:r>
                        <a:rPr lang="en-US" sz="2400" dirty="0">
                          <a:effectLst/>
                        </a:rPr>
                        <a:t> / </a:t>
                      </a:r>
                      <a:r>
                        <a:rPr lang="en-US" sz="2400" dirty="0" err="1">
                          <a:effectLst/>
                        </a:rPr>
                        <a:t>裏面</a:t>
                      </a:r>
                      <a:r>
                        <a:rPr lang="ja-JP" altLang="en-US" sz="2400" b="0" dirty="0">
                          <a:effectLst/>
                        </a:rPr>
                        <a:t>（裏面は現在操作不能）</a:t>
                      </a:r>
                      <a:endParaRPr lang="ja-JP" sz="2400" b="0" dirty="0">
                        <a:effectLst/>
                        <a:latin typeface="Aptos" panose="020B000402020202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0576" marR="50576" marT="0" marB="0" anchor="ctr"/>
                </a:tc>
                <a:extLst>
                  <a:ext uri="{0D108BD9-81ED-4DB2-BD59-A6C34878D82A}">
                    <a16:rowId xmlns:a16="http://schemas.microsoft.com/office/drawing/2014/main" val="174668974"/>
                  </a:ext>
                </a:extLst>
              </a:tr>
              <a:tr h="404605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ガイド</a:t>
                      </a:r>
                      <a:endParaRPr lang="ja-JP" sz="2400">
                        <a:effectLst/>
                        <a:latin typeface="Aptos" panose="020B000402020202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0576" marR="50576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ON / OFF</a:t>
                      </a:r>
                      <a:endParaRPr lang="ja-JP" sz="2400" dirty="0">
                        <a:effectLst/>
                        <a:latin typeface="Aptos" panose="020B0004020202020204" pitchFamily="34" charset="0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50576" marR="50576" marT="0" marB="0" anchor="ctr"/>
                </a:tc>
                <a:extLst>
                  <a:ext uri="{0D108BD9-81ED-4DB2-BD59-A6C34878D82A}">
                    <a16:rowId xmlns:a16="http://schemas.microsoft.com/office/drawing/2014/main" val="4013944442"/>
                  </a:ext>
                </a:extLst>
              </a:tr>
            </a:tbl>
          </a:graphicData>
        </a:graphic>
      </p:graphicFrame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2CF805D-0678-BAB8-4F95-238DF3A8FB93}"/>
              </a:ext>
            </a:extLst>
          </p:cNvPr>
          <p:cNvSpPr txBox="1"/>
          <p:nvPr/>
        </p:nvSpPr>
        <p:spPr>
          <a:xfrm>
            <a:off x="461819" y="3930962"/>
            <a:ext cx="1000298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/>
              <a:t>5.3  </a:t>
            </a:r>
            <a:r>
              <a:rPr lang="ja-JP" altLang="ja-JP" sz="2400" b="1" dirty="0"/>
              <a:t>レスポンシブ対応</a:t>
            </a:r>
          </a:p>
          <a:p>
            <a:pPr lvl="0"/>
            <a:r>
              <a:rPr lang="ja-JP" altLang="ja-JP" sz="2400" dirty="0"/>
              <a:t>画面幅</a:t>
            </a:r>
            <a:r>
              <a:rPr lang="en-US" altLang="ja-JP" sz="2400" dirty="0"/>
              <a:t>1280px </a:t>
            </a:r>
            <a:r>
              <a:rPr lang="ja-JP" altLang="ja-JP" sz="2400" dirty="0"/>
              <a:t>以上：</a:t>
            </a:r>
            <a:r>
              <a:rPr lang="en-US" altLang="ja-JP" sz="2400" dirty="0"/>
              <a:t>PC </a:t>
            </a:r>
            <a:r>
              <a:rPr lang="ja-JP" altLang="ja-JP" sz="2400" dirty="0"/>
              <a:t>レイアウト</a:t>
            </a:r>
          </a:p>
          <a:p>
            <a:pPr lvl="0"/>
            <a:r>
              <a:rPr lang="ja-JP" altLang="ja-JP" sz="2400" dirty="0"/>
              <a:t>画面幅</a:t>
            </a:r>
            <a:r>
              <a:rPr lang="en-US" altLang="ja-JP" sz="2400" dirty="0"/>
              <a:t> 1280px </a:t>
            </a:r>
            <a:r>
              <a:rPr lang="ja-JP" altLang="ja-JP" sz="2400" dirty="0"/>
              <a:t>未満：タブレット</a:t>
            </a:r>
            <a:r>
              <a:rPr lang="en-US" altLang="ja-JP" sz="2400" dirty="0"/>
              <a:t> / </a:t>
            </a:r>
            <a:r>
              <a:rPr lang="ja-JP" altLang="ja-JP" sz="2400" dirty="0"/>
              <a:t>モバイル向けレイアウトとなり、</a:t>
            </a:r>
          </a:p>
          <a:p>
            <a:r>
              <a:rPr lang="ja-JP" altLang="ja-JP" sz="2400" dirty="0"/>
              <a:t>ヘッダーツールバーが表示され、アイコンでの操作に切り替わります。</a:t>
            </a:r>
          </a:p>
          <a:p>
            <a:pPr lvl="0"/>
            <a:r>
              <a:rPr lang="ja-JP" altLang="ja-JP" sz="2400" dirty="0"/>
              <a:t>タブレット </a:t>
            </a:r>
            <a:r>
              <a:rPr lang="en-US" altLang="ja-JP" sz="2400" dirty="0"/>
              <a:t>/ </a:t>
            </a:r>
            <a:r>
              <a:rPr lang="ja-JP" altLang="ja-JP" sz="2400" dirty="0"/>
              <a:t>モバイル向けレイアウトでは、</a:t>
            </a:r>
          </a:p>
          <a:p>
            <a:r>
              <a:rPr lang="ja-JP" altLang="ja-JP" sz="2400" dirty="0"/>
              <a:t>タップ操作を前提とした</a:t>
            </a:r>
            <a:r>
              <a:rPr lang="en-US" altLang="ja-JP" sz="2400" dirty="0"/>
              <a:t>UI </a:t>
            </a:r>
            <a:r>
              <a:rPr lang="ja-JP" altLang="ja-JP" sz="2400" dirty="0"/>
              <a:t>に切り変わります。</a:t>
            </a:r>
          </a:p>
          <a:p>
            <a:pPr lvl="0"/>
            <a:r>
              <a:rPr lang="ja-JP" altLang="ja-JP" sz="2400" dirty="0"/>
              <a:t>編集キャンバスは画面幅に応じて自動的に縮小表示されます</a:t>
            </a:r>
            <a:r>
              <a:rPr lang="ja-JP" altLang="ja-JP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534038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E5F4-30E7-B120-D729-CC5953799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B43AF4-2ADB-2EA0-0F88-41A5E8224D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ja-JP" b="1" dirty="0">
                <a:solidFill>
                  <a:srgbClr val="C00000"/>
                </a:solidFill>
                <a:latin typeface="+mn-lt"/>
              </a:rPr>
              <a:t>SECTION 2 </a:t>
            </a:r>
            <a:r>
              <a:rPr lang="ja-JP" altLang="en-US" b="1" dirty="0">
                <a:latin typeface="+mn-lt"/>
              </a:rPr>
              <a:t>技術設計編</a:t>
            </a:r>
            <a:endParaRPr lang="en-US" altLang="ja-JP" b="1" dirty="0">
              <a:latin typeface="+mn-lt"/>
            </a:endParaRPr>
          </a:p>
        </p:txBody>
      </p:sp>
      <p:sp>
        <p:nvSpPr>
          <p:cNvPr id="7" name="字幕 2">
            <a:extLst>
              <a:ext uri="{FF2B5EF4-FFF2-40B4-BE49-F238E27FC236}">
                <a16:creationId xmlns:a16="http://schemas.microsoft.com/office/drawing/2014/main" id="{CC1DF12A-76C9-B07C-CB36-6C59743BE3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ja-JP" altLang="en-US" dirty="0"/>
              <a:t>システム構造と内部設計の解説</a:t>
            </a:r>
          </a:p>
        </p:txBody>
      </p:sp>
    </p:spTree>
    <p:extLst>
      <p:ext uri="{BB962C8B-B14F-4D97-AF65-F5344CB8AC3E}">
        <p14:creationId xmlns:p14="http://schemas.microsoft.com/office/powerpoint/2010/main" val="1708737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BB97FD-2A42-5A7C-46DE-49F284137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全体構成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E3C7B8B-F37D-163F-0856-7013DB2156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Architecture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75807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0CF38-8A23-C6B2-3A68-1F3D98B77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C5DE43-6114-9D5B-390B-29027B529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73" y="248404"/>
            <a:ext cx="5623571" cy="693019"/>
          </a:xfrm>
        </p:spPr>
        <p:txBody>
          <a:bodyPr>
            <a:normAutofit fontScale="90000"/>
          </a:bodyPr>
          <a:lstStyle/>
          <a:p>
            <a:r>
              <a:rPr lang="en-US" altLang="ja-JP" sz="3600" b="1" dirty="0">
                <a:latin typeface="+mn-ea"/>
                <a:ea typeface="+mn-ea"/>
              </a:rPr>
              <a:t>1.</a:t>
            </a:r>
            <a:r>
              <a:rPr lang="ja-JP" altLang="en-US" sz="3600" b="1" dirty="0">
                <a:latin typeface="+mn-ea"/>
                <a:ea typeface="+mn-ea"/>
              </a:rPr>
              <a:t>全体構成（</a:t>
            </a:r>
            <a:r>
              <a:rPr lang="en-US" altLang="ja-JP" sz="3600" b="1" dirty="0">
                <a:latin typeface="+mn-ea"/>
                <a:ea typeface="+mn-ea"/>
              </a:rPr>
              <a:t>Architecture</a:t>
            </a:r>
            <a:r>
              <a:rPr lang="ja-JP" altLang="en-US" sz="3600" b="1" dirty="0">
                <a:latin typeface="+mn-ea"/>
                <a:ea typeface="+mn-ea"/>
              </a:rPr>
              <a:t>）</a:t>
            </a:r>
            <a:endParaRPr kumimoji="1" lang="ja-JP" altLang="en-US" sz="3600" b="1" dirty="0">
              <a:latin typeface="+mn-ea"/>
              <a:ea typeface="+mn-ea"/>
            </a:endParaRPr>
          </a:p>
        </p:txBody>
      </p:sp>
      <p:pic>
        <p:nvPicPr>
          <p:cNvPr id="12" name="図 11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D86BC527-333A-A7B2-7229-A54687622B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73" y="1131573"/>
            <a:ext cx="5130266" cy="25941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図 15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8D65BD34-0954-11B5-A670-BD27AE5A33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951" y="3668978"/>
            <a:ext cx="5130266" cy="25941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矢印: 右 12">
            <a:extLst>
              <a:ext uri="{FF2B5EF4-FFF2-40B4-BE49-F238E27FC236}">
                <a16:creationId xmlns:a16="http://schemas.microsoft.com/office/drawing/2014/main" id="{46F6F7ED-321D-6406-946E-4B2BF8A1D126}"/>
              </a:ext>
            </a:extLst>
          </p:cNvPr>
          <p:cNvSpPr/>
          <p:nvPr/>
        </p:nvSpPr>
        <p:spPr>
          <a:xfrm>
            <a:off x="5087823" y="3077075"/>
            <a:ext cx="1215831" cy="9014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 err="1"/>
              <a:t>iframe</a:t>
            </a:r>
            <a:endParaRPr kumimoji="1" lang="ja-JP" altLang="en-US" b="1" dirty="0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C4F6BE57-6E93-9915-2283-51378E6E0A3D}"/>
              </a:ext>
            </a:extLst>
          </p:cNvPr>
          <p:cNvSpPr/>
          <p:nvPr/>
        </p:nvSpPr>
        <p:spPr>
          <a:xfrm>
            <a:off x="4142070" y="1131573"/>
            <a:ext cx="3356009" cy="7603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b="1" dirty="0"/>
              <a:t> </a:t>
            </a:r>
            <a:r>
              <a:rPr lang="en-US" altLang="ja-JP" b="1" dirty="0"/>
              <a:t>WordPress</a:t>
            </a:r>
            <a:r>
              <a:rPr lang="ja-JP" altLang="en-US" b="1" dirty="0"/>
              <a:t>（</a:t>
            </a:r>
            <a:r>
              <a:rPr lang="en-US" altLang="ja-JP" b="1" dirty="0"/>
              <a:t>Host</a:t>
            </a:r>
            <a:r>
              <a:rPr lang="ja-JP" altLang="en-US" b="1" dirty="0"/>
              <a:t>）         </a:t>
            </a:r>
          </a:p>
          <a:p>
            <a:r>
              <a:rPr lang="ja-JP" altLang="en-US" b="1" dirty="0"/>
              <a:t> ・</a:t>
            </a:r>
            <a:r>
              <a:rPr lang="en-US" altLang="ja-JP" b="1" dirty="0" err="1"/>
              <a:t>iframe</a:t>
            </a:r>
            <a:r>
              <a:rPr lang="ja-JP" altLang="en-US" b="1" dirty="0"/>
              <a:t>でエディタ表示 </a:t>
            </a:r>
            <a:endParaRPr kumimoji="1" lang="ja-JP" altLang="en-US" b="1" dirty="0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5B01E9EC-6D7F-E323-2D23-FAF1E4DE0399}"/>
              </a:ext>
            </a:extLst>
          </p:cNvPr>
          <p:cNvSpPr/>
          <p:nvPr/>
        </p:nvSpPr>
        <p:spPr>
          <a:xfrm>
            <a:off x="8104471" y="2274542"/>
            <a:ext cx="3724245" cy="18289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b="1" dirty="0"/>
              <a:t> </a:t>
            </a:r>
            <a:r>
              <a:rPr lang="en-US" altLang="ja-JP" b="1" dirty="0" err="1"/>
              <a:t>CardCraft</a:t>
            </a:r>
            <a:r>
              <a:rPr lang="en-US" altLang="ja-JP" b="1" dirty="0"/>
              <a:t> Editor</a:t>
            </a:r>
            <a:r>
              <a:rPr lang="ja-JP" altLang="en-US" b="1" dirty="0"/>
              <a:t>（</a:t>
            </a:r>
            <a:r>
              <a:rPr lang="en-US" altLang="ja-JP" b="1" dirty="0"/>
              <a:t>Next.js</a:t>
            </a:r>
            <a:r>
              <a:rPr lang="ja-JP" altLang="en-US" b="1" dirty="0"/>
              <a:t>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/>
              <a:t>編集</a:t>
            </a:r>
            <a:r>
              <a:rPr lang="en-US" altLang="ja-JP" b="1" dirty="0"/>
              <a:t>UI</a:t>
            </a:r>
            <a:r>
              <a:rPr lang="ja-JP" altLang="en-US" b="1" dirty="0"/>
              <a:t>本体</a:t>
            </a:r>
            <a:endParaRPr lang="en-US" altLang="ja-JP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b="1" dirty="0"/>
              <a:t>Canvas</a:t>
            </a:r>
            <a:r>
              <a:rPr kumimoji="1" lang="ja-JP" altLang="en-US" b="1" dirty="0"/>
              <a:t>描画</a:t>
            </a:r>
            <a:endParaRPr kumimoji="1" lang="en-US" altLang="ja-JP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b="1" dirty="0"/>
              <a:t>Block</a:t>
            </a:r>
            <a:r>
              <a:rPr lang="ja-JP" altLang="en-US" b="1" dirty="0"/>
              <a:t>管理</a:t>
            </a:r>
            <a:endParaRPr lang="en-US" altLang="ja-JP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b="1" dirty="0"/>
              <a:t>出力 </a:t>
            </a:r>
            <a:r>
              <a:rPr kumimoji="1" lang="en-US" altLang="ja-JP" b="1" dirty="0"/>
              <a:t>/ </a:t>
            </a:r>
            <a:r>
              <a:rPr kumimoji="1" lang="ja-JP" altLang="en-US" b="1" dirty="0"/>
              <a:t>保存</a:t>
            </a:r>
          </a:p>
        </p:txBody>
      </p:sp>
    </p:spTree>
    <p:extLst>
      <p:ext uri="{BB962C8B-B14F-4D97-AF65-F5344CB8AC3E}">
        <p14:creationId xmlns:p14="http://schemas.microsoft.com/office/powerpoint/2010/main" val="2553125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42820-50D4-441B-4C15-96F53AA4A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295D06-5749-E073-A4AA-1229FD6D7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522" y="381000"/>
            <a:ext cx="1814342" cy="562089"/>
          </a:xfrm>
        </p:spPr>
        <p:txBody>
          <a:bodyPr>
            <a:noAutofit/>
          </a:bodyPr>
          <a:lstStyle/>
          <a:p>
            <a:r>
              <a:rPr lang="ja-JP" altLang="en-US" b="1" dirty="0">
                <a:latin typeface="+mn-ea"/>
                <a:ea typeface="+mn-ea"/>
              </a:rPr>
              <a:t>用語解説</a:t>
            </a:r>
            <a:endParaRPr kumimoji="1" lang="ja-JP" altLang="en-US" b="1" dirty="0">
              <a:latin typeface="+mn-ea"/>
              <a:ea typeface="+mn-ea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530EC35-B958-6E89-A096-B442BD940FF8}"/>
              </a:ext>
            </a:extLst>
          </p:cNvPr>
          <p:cNvSpPr txBox="1"/>
          <p:nvPr/>
        </p:nvSpPr>
        <p:spPr>
          <a:xfrm>
            <a:off x="708522" y="1074509"/>
            <a:ext cx="781853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/>
              <a:t>State</a:t>
            </a:r>
            <a:r>
              <a:rPr lang="ja-JP" altLang="en-US" sz="2400" b="1" dirty="0"/>
              <a:t>（ステート）：状態</a:t>
            </a:r>
            <a:endParaRPr lang="en-US" altLang="ja-JP" sz="2400" b="1" dirty="0"/>
          </a:p>
          <a:p>
            <a:r>
              <a:rPr lang="en-US" altLang="ja-JP" sz="2000" b="1" dirty="0"/>
              <a:t>→ </a:t>
            </a:r>
            <a:r>
              <a:rPr lang="ja-JP" altLang="en-US" sz="2000" b="1" dirty="0"/>
              <a:t>画面の「現在の状態」を保存しているデータ</a:t>
            </a:r>
          </a:p>
          <a:p>
            <a:endParaRPr lang="ja-JP" altLang="en-US" sz="2000" b="1" dirty="0"/>
          </a:p>
          <a:p>
            <a:r>
              <a:rPr lang="en-US" altLang="ja-JP" sz="2400" b="1" dirty="0"/>
              <a:t>Hooks</a:t>
            </a:r>
            <a:r>
              <a:rPr lang="ja-JP" altLang="en-US" sz="2400" b="1" dirty="0"/>
              <a:t>（フックス）：ロジック</a:t>
            </a:r>
            <a:endParaRPr lang="en-US" altLang="ja-JP" sz="2400" b="1" dirty="0"/>
          </a:p>
          <a:p>
            <a:r>
              <a:rPr lang="en-US" altLang="ja-JP" sz="2000" b="1" dirty="0"/>
              <a:t>→ State</a:t>
            </a:r>
            <a:r>
              <a:rPr lang="ja-JP" altLang="en-US" sz="2000" b="1" dirty="0"/>
              <a:t>を操作するための処理ロジック（機能モジュール）</a:t>
            </a:r>
          </a:p>
          <a:p>
            <a:endParaRPr lang="ja-JP" altLang="en-US" sz="2000" b="1" dirty="0"/>
          </a:p>
          <a:p>
            <a:r>
              <a:rPr lang="en-US" altLang="ja-JP" sz="2400" b="1" dirty="0"/>
              <a:t>CRUD</a:t>
            </a:r>
            <a:r>
              <a:rPr lang="ja-JP" altLang="en-US" sz="2400" b="1" dirty="0"/>
              <a:t>（クラッド）：データ操作</a:t>
            </a:r>
            <a:endParaRPr lang="en-US" altLang="ja-JP" sz="2400" b="1" dirty="0"/>
          </a:p>
          <a:p>
            <a:r>
              <a:rPr lang="en-US" altLang="ja-JP" sz="2000" b="1" dirty="0"/>
              <a:t>→ Create / Read / Update / Delete</a:t>
            </a:r>
          </a:p>
          <a:p>
            <a:r>
              <a:rPr lang="en-US" altLang="ja-JP" sz="2000" b="1" dirty="0"/>
              <a:t>   </a:t>
            </a:r>
            <a:r>
              <a:rPr lang="ja-JP" altLang="en-US" sz="2000" b="1" dirty="0"/>
              <a:t>データの「追加・取得・更新・削除」の基本操作</a:t>
            </a:r>
          </a:p>
          <a:p>
            <a:endParaRPr lang="ja-JP" altLang="en-US" sz="2000" b="1" dirty="0"/>
          </a:p>
          <a:p>
            <a:r>
              <a:rPr lang="en-US" altLang="ja-JP" sz="2400" b="1" dirty="0"/>
              <a:t>UI</a:t>
            </a:r>
            <a:r>
              <a:rPr lang="ja-JP" altLang="en-US" sz="2400" b="1" dirty="0"/>
              <a:t>：操作面</a:t>
            </a:r>
            <a:endParaRPr lang="en-US" altLang="ja-JP" sz="2400" b="1" dirty="0"/>
          </a:p>
          <a:p>
            <a:r>
              <a:rPr lang="en-US" altLang="ja-JP" sz="2000" b="1" dirty="0"/>
              <a:t>→ </a:t>
            </a:r>
            <a:r>
              <a:rPr lang="ja-JP" altLang="en-US" sz="2000" b="1" dirty="0"/>
              <a:t>ユーザーが触る見た目の部分（ボタン・入力欄など）</a:t>
            </a:r>
          </a:p>
          <a:p>
            <a:endParaRPr lang="ja-JP" altLang="en-US" sz="2000" b="1" dirty="0"/>
          </a:p>
          <a:p>
            <a:r>
              <a:rPr lang="en-US" altLang="ja-JP" sz="2400" b="1" dirty="0"/>
              <a:t>Canvas</a:t>
            </a:r>
            <a:r>
              <a:rPr lang="ja-JP" altLang="en-US" sz="2400" b="1" dirty="0"/>
              <a:t>：描画</a:t>
            </a:r>
            <a:endParaRPr lang="en-US" altLang="ja-JP" sz="2400" b="1" dirty="0"/>
          </a:p>
          <a:p>
            <a:r>
              <a:rPr lang="en-US" altLang="ja-JP" sz="2000" b="1" dirty="0"/>
              <a:t>→ </a:t>
            </a:r>
            <a:r>
              <a:rPr lang="ja-JP" altLang="en-US" sz="2000" b="1" dirty="0"/>
              <a:t>実際にカードを描画している表示エリア</a:t>
            </a:r>
          </a:p>
        </p:txBody>
      </p:sp>
    </p:spTree>
    <p:extLst>
      <p:ext uri="{BB962C8B-B14F-4D97-AF65-F5344CB8AC3E}">
        <p14:creationId xmlns:p14="http://schemas.microsoft.com/office/powerpoint/2010/main" val="4127091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5DF37-B13B-7A88-DDAE-559B71AB6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B18628-326E-6D8E-925E-AB138F73D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内部設計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A89874D-CA5B-DABD-0F43-62484DE31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 err="1"/>
              <a:t>CardEditor</a:t>
            </a:r>
            <a:r>
              <a:rPr lang="ja-JP" altLang="en-US" dirty="0"/>
              <a:t>を中心とした構造とデータ設計を解説します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16169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40989-9043-7E95-5E53-0DC810CD9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矢印: 下カーブ 8">
            <a:extLst>
              <a:ext uri="{FF2B5EF4-FFF2-40B4-BE49-F238E27FC236}">
                <a16:creationId xmlns:a16="http://schemas.microsoft.com/office/drawing/2014/main" id="{CD82096E-C1E4-3B20-CD21-217109F9014C}"/>
              </a:ext>
            </a:extLst>
          </p:cNvPr>
          <p:cNvSpPr/>
          <p:nvPr/>
        </p:nvSpPr>
        <p:spPr>
          <a:xfrm rot="12070329" flipH="1">
            <a:off x="5573267" y="4923125"/>
            <a:ext cx="3179828" cy="1259567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" name="矢印: 下カーブ 4">
            <a:extLst>
              <a:ext uri="{FF2B5EF4-FFF2-40B4-BE49-F238E27FC236}">
                <a16:creationId xmlns:a16="http://schemas.microsoft.com/office/drawing/2014/main" id="{A7249C5F-226B-51A9-E1BD-E967388AC98C}"/>
              </a:ext>
            </a:extLst>
          </p:cNvPr>
          <p:cNvSpPr/>
          <p:nvPr/>
        </p:nvSpPr>
        <p:spPr>
          <a:xfrm rot="13653672" flipH="1">
            <a:off x="1031945" y="2876213"/>
            <a:ext cx="3064152" cy="1448929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FE7D65B-D2AC-6C1F-1E54-833B24F9E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523" y="381000"/>
            <a:ext cx="6022783" cy="562089"/>
          </a:xfrm>
        </p:spPr>
        <p:txBody>
          <a:bodyPr>
            <a:noAutofit/>
          </a:bodyPr>
          <a:lstStyle/>
          <a:p>
            <a:r>
              <a:rPr kumimoji="1" lang="ja-JP" altLang="en-US" b="1" dirty="0">
                <a:latin typeface="+mn-lt"/>
                <a:ea typeface="+mn-ea"/>
              </a:rPr>
              <a:t>編集処理の流れ </a:t>
            </a:r>
            <a:r>
              <a:rPr kumimoji="1" lang="en-US" altLang="ja-JP" b="1" dirty="0">
                <a:latin typeface="+mn-lt"/>
                <a:ea typeface="+mn-ea"/>
              </a:rPr>
              <a:t>(Data Flow)</a:t>
            </a:r>
            <a:endParaRPr kumimoji="1" lang="ja-JP" altLang="en-US" b="1" dirty="0">
              <a:latin typeface="+mn-lt"/>
              <a:ea typeface="+mn-ea"/>
            </a:endParaRPr>
          </a:p>
        </p:txBody>
      </p:sp>
      <p:sp>
        <p:nvSpPr>
          <p:cNvPr id="4" name="フローチャート: 結合子 3">
            <a:extLst>
              <a:ext uri="{FF2B5EF4-FFF2-40B4-BE49-F238E27FC236}">
                <a16:creationId xmlns:a16="http://schemas.microsoft.com/office/drawing/2014/main" id="{E6719C77-6C35-5C01-FCC5-58E5B8023210}"/>
              </a:ext>
            </a:extLst>
          </p:cNvPr>
          <p:cNvSpPr/>
          <p:nvPr/>
        </p:nvSpPr>
        <p:spPr>
          <a:xfrm>
            <a:off x="708522" y="1083899"/>
            <a:ext cx="2552700" cy="12573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ユーザー操作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6416DE44-E38C-518B-27DB-A6F7ADBFDFCB}"/>
              </a:ext>
            </a:extLst>
          </p:cNvPr>
          <p:cNvSpPr/>
          <p:nvPr/>
        </p:nvSpPr>
        <p:spPr>
          <a:xfrm>
            <a:off x="3986205" y="2289937"/>
            <a:ext cx="3742951" cy="227812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b="1" dirty="0" err="1"/>
              <a:t>CardEditor.tsx</a:t>
            </a:r>
            <a:endParaRPr kumimoji="1" lang="ja-JP" altLang="en-US" sz="2800" b="1" dirty="0"/>
          </a:p>
        </p:txBody>
      </p:sp>
      <p:sp>
        <p:nvSpPr>
          <p:cNvPr id="7" name="フローチャート: 結合子 6">
            <a:extLst>
              <a:ext uri="{FF2B5EF4-FFF2-40B4-BE49-F238E27FC236}">
                <a16:creationId xmlns:a16="http://schemas.microsoft.com/office/drawing/2014/main" id="{B618E25E-5A46-4425-5354-C8C2D76A6F0F}"/>
              </a:ext>
            </a:extLst>
          </p:cNvPr>
          <p:cNvSpPr/>
          <p:nvPr/>
        </p:nvSpPr>
        <p:spPr>
          <a:xfrm>
            <a:off x="8094332" y="4003890"/>
            <a:ext cx="2825941" cy="164776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/>
              <a:t>Canvas</a:t>
            </a:r>
            <a:r>
              <a:rPr kumimoji="1" lang="ja-JP" altLang="en-US" sz="2000" b="1" dirty="0"/>
              <a:t>描画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C71CDBE9-EBE5-C567-84E7-2EA779A4FE5A}"/>
              </a:ext>
            </a:extLst>
          </p:cNvPr>
          <p:cNvSpPr/>
          <p:nvPr/>
        </p:nvSpPr>
        <p:spPr>
          <a:xfrm>
            <a:off x="7542511" y="587201"/>
            <a:ext cx="3754322" cy="139393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Flow</a:t>
            </a:r>
            <a:r>
              <a:rPr kumimoji="1" lang="ja-JP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概要</a:t>
            </a:r>
            <a:endParaRPr kumimoji="1" lang="en-US" altLang="ja-JP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操作は</a:t>
            </a:r>
            <a:r>
              <a:rPr lang="en-US" altLang="ja-JP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CardEditor</a:t>
            </a:r>
            <a:r>
              <a:rPr lang="ja-JP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に集約</a:t>
            </a:r>
            <a:endParaRPr lang="en-US" altLang="ja-JP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CardEditor</a:t>
            </a:r>
            <a:r>
              <a:rPr kumimoji="1" lang="ja-JP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が</a:t>
            </a:r>
            <a:r>
              <a:rPr kumimoji="1"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Canvas</a:t>
            </a:r>
            <a:r>
              <a:rPr kumimoji="1" lang="ja-JP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に反映</a:t>
            </a:r>
            <a:endParaRPr kumimoji="1" lang="en-US" altLang="ja-JP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操作→制御→描画</a:t>
            </a:r>
          </a:p>
        </p:txBody>
      </p:sp>
    </p:spTree>
    <p:extLst>
      <p:ext uri="{BB962C8B-B14F-4D97-AF65-F5344CB8AC3E}">
        <p14:creationId xmlns:p14="http://schemas.microsoft.com/office/powerpoint/2010/main" val="2715379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1D777-D68E-FB80-E970-6A02E5116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F5B341-36B2-A6A3-1D59-AF5F268C0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522" y="381000"/>
            <a:ext cx="8281241" cy="562089"/>
          </a:xfrm>
        </p:spPr>
        <p:txBody>
          <a:bodyPr>
            <a:noAutofit/>
          </a:bodyPr>
          <a:lstStyle/>
          <a:p>
            <a:r>
              <a:rPr kumimoji="1" lang="ja-JP" altLang="en-US" b="1" dirty="0">
                <a:latin typeface="+mn-lt"/>
                <a:ea typeface="+mn-ea"/>
              </a:rPr>
              <a:t>内部構造 </a:t>
            </a:r>
            <a:r>
              <a:rPr kumimoji="1" lang="en-US" altLang="ja-JP" b="1" dirty="0">
                <a:latin typeface="+mn-lt"/>
                <a:ea typeface="+mn-ea"/>
              </a:rPr>
              <a:t>(</a:t>
            </a:r>
            <a:r>
              <a:rPr kumimoji="1" lang="en-US" altLang="ja-JP" b="1" dirty="0" err="1">
                <a:latin typeface="+mn-lt"/>
                <a:ea typeface="+mn-ea"/>
              </a:rPr>
              <a:t>CardEditor.tsx</a:t>
            </a:r>
            <a:r>
              <a:rPr kumimoji="1" lang="ja-JP" altLang="en-US" b="1" dirty="0">
                <a:latin typeface="+mn-lt"/>
                <a:ea typeface="+mn-ea"/>
              </a:rPr>
              <a:t>中心の役割分担</a:t>
            </a:r>
            <a:r>
              <a:rPr kumimoji="1" lang="en-US" altLang="ja-JP" b="1" dirty="0">
                <a:latin typeface="+mn-lt"/>
                <a:ea typeface="+mn-ea"/>
              </a:rPr>
              <a:t>)</a:t>
            </a:r>
            <a:endParaRPr kumimoji="1" lang="ja-JP" altLang="en-US" b="1" dirty="0">
              <a:latin typeface="+mn-lt"/>
              <a:ea typeface="+mn-ea"/>
            </a:endParaRPr>
          </a:p>
        </p:txBody>
      </p:sp>
      <p:graphicFrame>
        <p:nvGraphicFramePr>
          <p:cNvPr id="12" name="図表 11">
            <a:extLst>
              <a:ext uri="{FF2B5EF4-FFF2-40B4-BE49-F238E27FC236}">
                <a16:creationId xmlns:a16="http://schemas.microsoft.com/office/drawing/2014/main" id="{B9B33743-A817-BE3C-C0B0-67077E76D2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9977557"/>
              </p:ext>
            </p:extLst>
          </p:nvPr>
        </p:nvGraphicFramePr>
        <p:xfrm>
          <a:off x="1744662" y="1176866"/>
          <a:ext cx="8702675" cy="54525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吹き出し: 円形 15">
            <a:extLst>
              <a:ext uri="{FF2B5EF4-FFF2-40B4-BE49-F238E27FC236}">
                <a16:creationId xmlns:a16="http://schemas.microsoft.com/office/drawing/2014/main" id="{2C5DB19C-C88A-BA97-ED40-75E03579D093}"/>
              </a:ext>
            </a:extLst>
          </p:cNvPr>
          <p:cNvSpPr/>
          <p:nvPr/>
        </p:nvSpPr>
        <p:spPr>
          <a:xfrm>
            <a:off x="438150" y="1272116"/>
            <a:ext cx="3162300" cy="1184148"/>
          </a:xfrm>
          <a:prstGeom prst="wedgeEllipseCallout">
            <a:avLst>
              <a:gd name="adj1" fmla="val 13355"/>
              <a:gd name="adj2" fmla="val 74566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編集状態の管理</a:t>
            </a:r>
            <a:endParaRPr kumimoji="1" lang="en-US" altLang="ja-JP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blocks</a:t>
            </a: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ja-JP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CRUD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ズーム計算</a:t>
            </a:r>
          </a:p>
        </p:txBody>
      </p:sp>
      <p:sp>
        <p:nvSpPr>
          <p:cNvPr id="17" name="吹き出し: 円形 16">
            <a:extLst>
              <a:ext uri="{FF2B5EF4-FFF2-40B4-BE49-F238E27FC236}">
                <a16:creationId xmlns:a16="http://schemas.microsoft.com/office/drawing/2014/main" id="{AB8CF8A5-1513-6834-623C-9A1E3AE83D78}"/>
              </a:ext>
            </a:extLst>
          </p:cNvPr>
          <p:cNvSpPr/>
          <p:nvPr/>
        </p:nvSpPr>
        <p:spPr>
          <a:xfrm>
            <a:off x="7378698" y="1272116"/>
            <a:ext cx="3603627" cy="1184148"/>
          </a:xfrm>
          <a:prstGeom prst="wedgeEllipseCallout">
            <a:avLst>
              <a:gd name="adj1" fmla="val 13355"/>
              <a:gd name="adj2" fmla="val 74566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実際の描画レイヤー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テキスト・画像・操作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吹き出し: 円形 17">
            <a:extLst>
              <a:ext uri="{FF2B5EF4-FFF2-40B4-BE49-F238E27FC236}">
                <a16:creationId xmlns:a16="http://schemas.microsoft.com/office/drawing/2014/main" id="{EC308AF8-4B62-75D8-B88D-E50A52CE77C4}"/>
              </a:ext>
            </a:extLst>
          </p:cNvPr>
          <p:cNvSpPr/>
          <p:nvPr/>
        </p:nvSpPr>
        <p:spPr>
          <a:xfrm>
            <a:off x="3894137" y="1272116"/>
            <a:ext cx="3276600" cy="1184148"/>
          </a:xfrm>
          <a:prstGeom prst="wedgeEllipseCallout">
            <a:avLst>
              <a:gd name="adj1" fmla="val 13355"/>
              <a:gd name="adj2" fmla="val 74566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全体統括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hooks</a:t>
            </a: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と</a:t>
            </a:r>
            <a:r>
              <a:rPr lang="en-US" altLang="ja-JP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UI</a:t>
            </a: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を接続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195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CFBB4-D2D9-39D5-3D39-EE50FF876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D48735A-62D5-AE7C-7909-3C92CCE3D8E7}"/>
              </a:ext>
            </a:extLst>
          </p:cNvPr>
          <p:cNvSpPr txBox="1"/>
          <p:nvPr/>
        </p:nvSpPr>
        <p:spPr>
          <a:xfrm>
            <a:off x="208779" y="342529"/>
            <a:ext cx="5090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操作シナリオ（ユーザー利用例）</a:t>
            </a:r>
            <a:endParaRPr kumimoji="1" lang="ja-JP" altLang="en-US" sz="2400" b="1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EB7E2AF-958E-0815-C707-51C8370F5AF6}"/>
              </a:ext>
            </a:extLst>
          </p:cNvPr>
          <p:cNvSpPr txBox="1"/>
          <p:nvPr/>
        </p:nvSpPr>
        <p:spPr>
          <a:xfrm>
            <a:off x="208779" y="1051310"/>
            <a:ext cx="47529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登場人物</a:t>
            </a:r>
          </a:p>
          <a:p>
            <a:r>
              <a:rPr lang="ja-JP" altLang="en-US" dirty="0"/>
              <a:t>👤ユーザー</a:t>
            </a:r>
            <a:endParaRPr lang="en-US" altLang="ja-JP" dirty="0"/>
          </a:p>
          <a:p>
            <a:r>
              <a:rPr lang="ja-JP" altLang="en-US" dirty="0"/>
              <a:t>🟥 </a:t>
            </a:r>
            <a:r>
              <a:rPr lang="en-US" altLang="ja-JP" dirty="0" err="1"/>
              <a:t>CardEditor</a:t>
            </a:r>
            <a:r>
              <a:rPr lang="zh-TW" altLang="en-US" dirty="0"/>
              <a:t> </a:t>
            </a:r>
            <a:r>
              <a:rPr lang="zh-TW" altLang="en-US" dirty="0">
                <a:latin typeface="+mn-ea"/>
              </a:rPr>
              <a:t>（編集司令塔）</a:t>
            </a:r>
            <a:br>
              <a:rPr lang="en-US" altLang="ja-JP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</a:br>
            <a:r>
              <a:rPr lang="ja-JP" altLang="en-US" dirty="0"/>
              <a:t>🟦 </a:t>
            </a:r>
            <a:r>
              <a:rPr lang="en-US" altLang="ja-JP" dirty="0"/>
              <a:t>Canvas</a:t>
            </a:r>
            <a:r>
              <a:rPr lang="ja-JP" altLang="en-US" dirty="0"/>
              <a:t> （描画）</a:t>
            </a:r>
            <a:endParaRPr kumimoji="1" lang="ja-JP" altLang="en-US" dirty="0"/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570543C7-2C84-9C12-7A6A-152E25E6B715}"/>
              </a:ext>
            </a:extLst>
          </p:cNvPr>
          <p:cNvSpPr/>
          <p:nvPr/>
        </p:nvSpPr>
        <p:spPr>
          <a:xfrm>
            <a:off x="2718794" y="3088608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8FF46045-F584-9D4F-B943-9D196E2EF5A0}"/>
              </a:ext>
            </a:extLst>
          </p:cNvPr>
          <p:cNvSpPr/>
          <p:nvPr/>
        </p:nvSpPr>
        <p:spPr>
          <a:xfrm>
            <a:off x="6002447" y="3126974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8E0C9F4-D5FC-3E19-8553-E0D6710B6C7E}"/>
              </a:ext>
            </a:extLst>
          </p:cNvPr>
          <p:cNvSpPr txBox="1"/>
          <p:nvPr/>
        </p:nvSpPr>
        <p:spPr>
          <a:xfrm>
            <a:off x="199588" y="2872478"/>
            <a:ext cx="2385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①👤</a:t>
            </a:r>
            <a:r>
              <a:rPr lang="ja-JP" altLang="en-US" b="1" dirty="0"/>
              <a:t>ユーザー</a:t>
            </a:r>
            <a:endParaRPr lang="en-US" altLang="ja-JP" b="1" dirty="0"/>
          </a:p>
          <a:p>
            <a:r>
              <a:rPr lang="ja-JP" altLang="en-US" dirty="0"/>
              <a:t>テキスト追加</a:t>
            </a:r>
            <a:endParaRPr kumimoji="1" lang="ja-JP" altLang="en-US" dirty="0"/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34843727-54C8-BAA1-E537-552E6EA84FB0}"/>
              </a:ext>
            </a:extLst>
          </p:cNvPr>
          <p:cNvSpPr/>
          <p:nvPr/>
        </p:nvSpPr>
        <p:spPr>
          <a:xfrm>
            <a:off x="10833641" y="3088608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1EBD5B3-3648-250A-1F14-7589C74C9B97}"/>
              </a:ext>
            </a:extLst>
          </p:cNvPr>
          <p:cNvSpPr txBox="1"/>
          <p:nvPr/>
        </p:nvSpPr>
        <p:spPr>
          <a:xfrm>
            <a:off x="10839383" y="2660357"/>
            <a:ext cx="695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④へ</a:t>
            </a:r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174849F0-93DD-596B-76AA-73F3D2415E58}"/>
              </a:ext>
            </a:extLst>
          </p:cNvPr>
          <p:cNvSpPr/>
          <p:nvPr/>
        </p:nvSpPr>
        <p:spPr>
          <a:xfrm>
            <a:off x="2687845" y="4357566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0C8E333-2EE4-29CD-F209-D03E145C4C82}"/>
              </a:ext>
            </a:extLst>
          </p:cNvPr>
          <p:cNvSpPr txBox="1"/>
          <p:nvPr/>
        </p:nvSpPr>
        <p:spPr>
          <a:xfrm>
            <a:off x="3412927" y="4276716"/>
            <a:ext cx="2428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⑤</a:t>
            </a:r>
            <a:r>
              <a:rPr lang="ja-JP" altLang="en-US" b="1" dirty="0"/>
              <a:t>保存</a:t>
            </a:r>
            <a:endParaRPr lang="en-US" altLang="ja-JP" b="1" dirty="0"/>
          </a:p>
          <a:p>
            <a:r>
              <a:rPr lang="en-US" altLang="ja-JP" dirty="0"/>
              <a:t>PNG/JPEG </a:t>
            </a:r>
            <a:r>
              <a:rPr lang="ja-JP" altLang="en-US" dirty="0"/>
              <a:t>出力</a:t>
            </a:r>
            <a:endParaRPr kumimoji="1" lang="en-US" altLang="ja-JP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0A3524E-F8A4-BA5B-D266-98CCD3C59935}"/>
              </a:ext>
            </a:extLst>
          </p:cNvPr>
          <p:cNvSpPr txBox="1"/>
          <p:nvPr/>
        </p:nvSpPr>
        <p:spPr>
          <a:xfrm>
            <a:off x="208779" y="4206474"/>
            <a:ext cx="3314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④</a:t>
            </a:r>
            <a:r>
              <a:rPr lang="ja-JP" altLang="en-US" dirty="0"/>
              <a:t>🟦 </a:t>
            </a:r>
            <a:r>
              <a:rPr lang="en-US" altLang="ja-JP" dirty="0"/>
              <a:t>Canvas</a:t>
            </a:r>
            <a:r>
              <a:rPr lang="ja-JP" altLang="en-US" dirty="0"/>
              <a:t> </a:t>
            </a:r>
            <a:endParaRPr lang="en-US" altLang="ja-JP" dirty="0"/>
          </a:p>
          <a:p>
            <a:r>
              <a:rPr lang="ja-JP" altLang="en-US" dirty="0"/>
              <a:t>再描画（即時反映）</a:t>
            </a:r>
            <a:endParaRPr lang="en-US" altLang="ja-JP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F20D64E-A146-7DDF-26D7-B4EFB08F4A5F}"/>
              </a:ext>
            </a:extLst>
          </p:cNvPr>
          <p:cNvSpPr txBox="1"/>
          <p:nvPr/>
        </p:nvSpPr>
        <p:spPr>
          <a:xfrm>
            <a:off x="3412927" y="2803344"/>
            <a:ext cx="3106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②</a:t>
            </a:r>
            <a:r>
              <a:rPr lang="ja-JP" altLang="en-US" dirty="0"/>
              <a:t>🟥</a:t>
            </a:r>
            <a:r>
              <a:rPr lang="en-US" altLang="ja-JP" b="1" dirty="0" err="1"/>
              <a:t>CardEditor</a:t>
            </a:r>
            <a:endParaRPr lang="en-US" altLang="ja-JP" b="1" dirty="0"/>
          </a:p>
          <a:p>
            <a:r>
              <a:rPr lang="en-US" altLang="ja-JP" dirty="0"/>
              <a:t>blocks</a:t>
            </a:r>
            <a:r>
              <a:rPr lang="ja-JP" altLang="en-US" dirty="0"/>
              <a:t>に追加</a:t>
            </a:r>
            <a:r>
              <a:rPr kumimoji="1" lang="en-US" altLang="ja-JP" dirty="0"/>
              <a:t>	</a:t>
            </a:r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D269ACB-16FC-3C37-F3B6-90C2FD4DC010}"/>
              </a:ext>
            </a:extLst>
          </p:cNvPr>
          <p:cNvSpPr txBox="1"/>
          <p:nvPr/>
        </p:nvSpPr>
        <p:spPr>
          <a:xfrm>
            <a:off x="7142100" y="2777791"/>
            <a:ext cx="39902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③</a:t>
            </a:r>
            <a:r>
              <a:rPr lang="ja-JP" altLang="en-US" dirty="0"/>
              <a:t>🟥 </a:t>
            </a:r>
            <a:r>
              <a:rPr lang="en-US" altLang="ja-JP" b="1" dirty="0" err="1"/>
              <a:t>CardEditor</a:t>
            </a:r>
            <a:r>
              <a:rPr lang="zh-TW" altLang="en-US" b="1" dirty="0"/>
              <a:t> </a:t>
            </a:r>
            <a:endParaRPr lang="en-US" altLang="zh-TW" b="1" dirty="0"/>
          </a:p>
          <a:p>
            <a:r>
              <a:rPr lang="ja-JP" altLang="en-US" dirty="0"/>
              <a:t>インライン編集・ドラッグ移動</a:t>
            </a:r>
            <a:br>
              <a:rPr lang="ja-JP" altLang="en-US" dirty="0"/>
            </a:br>
            <a:r>
              <a:rPr lang="en-US" altLang="ja-JP" dirty="0"/>
              <a:t>state</a:t>
            </a:r>
            <a:r>
              <a:rPr lang="ja-JP" altLang="en-US" dirty="0"/>
              <a:t>更新</a:t>
            </a:r>
            <a:endParaRPr kumimoji="0" lang="ja-JP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79608B63-DAEF-4B27-2FD6-999E8FDAE736}"/>
              </a:ext>
            </a:extLst>
          </p:cNvPr>
          <p:cNvSpPr/>
          <p:nvPr/>
        </p:nvSpPr>
        <p:spPr>
          <a:xfrm>
            <a:off x="5537882" y="916553"/>
            <a:ext cx="6133851" cy="11619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b="1" dirty="0"/>
              <a:t>・操作はすべて </a:t>
            </a:r>
            <a:r>
              <a:rPr lang="en-US" altLang="ja-JP" b="1" dirty="0" err="1"/>
              <a:t>CardEditor</a:t>
            </a:r>
            <a:r>
              <a:rPr lang="en-US" altLang="ja-JP" b="1" dirty="0"/>
              <a:t> </a:t>
            </a:r>
            <a:r>
              <a:rPr lang="ja-JP" altLang="en-US" b="1" dirty="0"/>
              <a:t>に集約</a:t>
            </a:r>
          </a:p>
          <a:p>
            <a:r>
              <a:rPr lang="ja-JP" altLang="en-US" b="1" dirty="0"/>
              <a:t>・</a:t>
            </a:r>
            <a:r>
              <a:rPr lang="en-US" altLang="ja-JP" b="1" dirty="0"/>
              <a:t>blocks </a:t>
            </a:r>
            <a:r>
              <a:rPr lang="ja-JP" altLang="en-US" b="1" dirty="0"/>
              <a:t>が唯一の状態ソース</a:t>
            </a:r>
          </a:p>
          <a:p>
            <a:r>
              <a:rPr lang="ja-JP" altLang="en-US" b="1" dirty="0"/>
              <a:t>・更新 → 再描画 の一方向フロー</a:t>
            </a:r>
            <a:endParaRPr kumimoji="1" lang="ja-JP" altLang="en-US" dirty="0"/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95F9B316-DA52-B966-5B73-BBE2AB839F90}"/>
              </a:ext>
            </a:extLst>
          </p:cNvPr>
          <p:cNvSpPr/>
          <p:nvPr/>
        </p:nvSpPr>
        <p:spPr>
          <a:xfrm>
            <a:off x="5891993" y="4333606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8FDAE5E-0F71-13F3-35D1-FC146C35EAFA}"/>
              </a:ext>
            </a:extLst>
          </p:cNvPr>
          <p:cNvSpPr txBox="1"/>
          <p:nvPr/>
        </p:nvSpPr>
        <p:spPr>
          <a:xfrm>
            <a:off x="7122035" y="4114257"/>
            <a:ext cx="3990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⑥</a:t>
            </a:r>
            <a:r>
              <a:rPr lang="ja-JP" altLang="en-US" dirty="0"/>
              <a:t>🟥 </a:t>
            </a:r>
            <a:r>
              <a:rPr lang="en-US" altLang="ja-JP" b="1" dirty="0" err="1"/>
              <a:t>CardEditor</a:t>
            </a:r>
            <a:r>
              <a:rPr lang="zh-TW" altLang="en-US" b="1" dirty="0"/>
              <a:t> </a:t>
            </a:r>
            <a:endParaRPr lang="en-US" altLang="zh-TW" b="1" dirty="0"/>
          </a:p>
          <a:p>
            <a:r>
              <a:rPr lang="en-US" altLang="zh-TW" b="1" dirty="0"/>
              <a:t>Undo / Redo</a:t>
            </a:r>
          </a:p>
        </p:txBody>
      </p:sp>
    </p:spTree>
    <p:extLst>
      <p:ext uri="{BB962C8B-B14F-4D97-AF65-F5344CB8AC3E}">
        <p14:creationId xmlns:p14="http://schemas.microsoft.com/office/powerpoint/2010/main" val="163574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B03B046-FE3D-18CC-DF72-E0E97F8C8D2B}"/>
              </a:ext>
            </a:extLst>
          </p:cNvPr>
          <p:cNvSpPr txBox="1"/>
          <p:nvPr/>
        </p:nvSpPr>
        <p:spPr>
          <a:xfrm>
            <a:off x="378691" y="286327"/>
            <a:ext cx="38515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b="1" dirty="0" err="1"/>
              <a:t>データ構造</a:t>
            </a:r>
            <a:endParaRPr lang="ja-JP" altLang="ja-JP" sz="4000" b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0898F9E-CFA4-4A7D-A3EF-76A3B39E647F}"/>
              </a:ext>
            </a:extLst>
          </p:cNvPr>
          <p:cNvSpPr txBox="1"/>
          <p:nvPr/>
        </p:nvSpPr>
        <p:spPr>
          <a:xfrm>
            <a:off x="378691" y="1031695"/>
            <a:ext cx="9365673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/>
              <a:t> </a:t>
            </a:r>
            <a:r>
              <a:rPr lang="en-US" altLang="ja-JP" sz="2400" b="1" dirty="0" err="1"/>
              <a:t>Block（例：Text</a:t>
            </a:r>
            <a:r>
              <a:rPr lang="en-US" altLang="ja-JP" sz="2400" b="1" dirty="0"/>
              <a:t>）</a:t>
            </a:r>
            <a:endParaRPr lang="ja-JP" altLang="ja-JP" sz="2400" b="1" dirty="0"/>
          </a:p>
          <a:p>
            <a:pPr latinLnBrk="1"/>
            <a:r>
              <a:rPr lang="en-US" altLang="ja-JP" sz="2400" b="1" dirty="0"/>
              <a:t>type</a:t>
            </a:r>
            <a:r>
              <a:rPr lang="en-US" altLang="ja-JP" sz="2400" dirty="0"/>
              <a:t> </a:t>
            </a:r>
            <a:r>
              <a:rPr lang="en-US" altLang="ja-JP" sz="2400" dirty="0" err="1"/>
              <a:t>TextBlock</a:t>
            </a:r>
            <a:r>
              <a:rPr lang="en-US" altLang="ja-JP" sz="2400" dirty="0"/>
              <a:t> = {</a:t>
            </a:r>
            <a:br>
              <a:rPr lang="en-US" altLang="ja-JP" sz="2400" dirty="0"/>
            </a:br>
            <a:r>
              <a:rPr lang="en-US" altLang="ja-JP" sz="2400" dirty="0"/>
              <a:t>  id: string;</a:t>
            </a:r>
            <a:br>
              <a:rPr lang="en-US" altLang="ja-JP" sz="2400" dirty="0"/>
            </a:br>
            <a:r>
              <a:rPr lang="en-US" altLang="ja-JP" sz="2400" dirty="0"/>
              <a:t>  type: 'text';</a:t>
            </a:r>
            <a:br>
              <a:rPr lang="en-US" altLang="ja-JP" sz="2400" dirty="0"/>
            </a:br>
            <a:r>
              <a:rPr lang="en-US" altLang="ja-JP" sz="2400" dirty="0"/>
              <a:t>  text: string;</a:t>
            </a:r>
            <a:br>
              <a:rPr lang="en-US" altLang="ja-JP" sz="2400" dirty="0"/>
            </a:br>
            <a:r>
              <a:rPr lang="en-US" altLang="ja-JP" sz="2400" dirty="0"/>
              <a:t>  x: number;      </a:t>
            </a:r>
            <a:r>
              <a:rPr lang="en-US" altLang="ja-JP" sz="2400" i="1" dirty="0"/>
              <a:t>// </a:t>
            </a:r>
            <a:r>
              <a:rPr lang="en-US" altLang="ja-JP" sz="2400" i="1" dirty="0" err="1"/>
              <a:t>実寸座標</a:t>
            </a:r>
            <a:br>
              <a:rPr lang="en-US" altLang="ja-JP" sz="2400" dirty="0"/>
            </a:br>
            <a:r>
              <a:rPr lang="en-US" altLang="ja-JP" sz="2400" dirty="0"/>
              <a:t>  y: number;      </a:t>
            </a:r>
            <a:r>
              <a:rPr lang="en-US" altLang="ja-JP" sz="2400" i="1" dirty="0"/>
              <a:t>// </a:t>
            </a:r>
            <a:r>
              <a:rPr lang="en-US" altLang="ja-JP" sz="2400" i="1" dirty="0" err="1"/>
              <a:t>実寸座標</a:t>
            </a:r>
            <a:br>
              <a:rPr lang="en-US" altLang="ja-JP" sz="2400" dirty="0"/>
            </a:br>
            <a:r>
              <a:rPr lang="en-US" altLang="ja-JP" sz="2400" dirty="0"/>
              <a:t>  </a:t>
            </a:r>
            <a:r>
              <a:rPr lang="en-US" altLang="ja-JP" sz="2400" dirty="0" err="1"/>
              <a:t>fontSize</a:t>
            </a:r>
            <a:r>
              <a:rPr lang="en-US" altLang="ja-JP" sz="2400" dirty="0"/>
              <a:t>: number;</a:t>
            </a:r>
            <a:br>
              <a:rPr lang="en-US" altLang="ja-JP" sz="2400" dirty="0"/>
            </a:br>
            <a:r>
              <a:rPr lang="en-US" altLang="ja-JP" sz="2400" dirty="0"/>
              <a:t>  </a:t>
            </a:r>
            <a:r>
              <a:rPr lang="en-US" altLang="ja-JP" sz="2400" dirty="0" err="1"/>
              <a:t>fontKey</a:t>
            </a:r>
            <a:r>
              <a:rPr lang="en-US" altLang="ja-JP" sz="2400" dirty="0"/>
              <a:t>: 'sans' | 'maru' | 'serif';</a:t>
            </a:r>
            <a:br>
              <a:rPr lang="en-US" altLang="ja-JP" sz="2400" dirty="0"/>
            </a:br>
            <a:r>
              <a:rPr lang="en-US" altLang="ja-JP" sz="2400" dirty="0"/>
              <a:t>  bold: </a:t>
            </a:r>
            <a:r>
              <a:rPr lang="en-US" altLang="ja-JP" sz="2400" dirty="0" err="1"/>
              <a:t>boolean</a:t>
            </a:r>
            <a:r>
              <a:rPr lang="en-US" altLang="ja-JP" sz="2400" dirty="0"/>
              <a:t>;</a:t>
            </a:r>
            <a:br>
              <a:rPr lang="en-US" altLang="ja-JP" sz="2400" dirty="0"/>
            </a:br>
            <a:r>
              <a:rPr lang="en-US" altLang="ja-JP" sz="2400" dirty="0"/>
              <a:t>  align: 'left' | 'center' | 'right';</a:t>
            </a:r>
            <a:br>
              <a:rPr lang="en-US" altLang="ja-JP" sz="2400" dirty="0"/>
            </a:br>
            <a:r>
              <a:rPr lang="en-US" altLang="ja-JP" sz="2400" dirty="0"/>
              <a:t>};</a:t>
            </a:r>
            <a:endParaRPr lang="ja-JP" altLang="ja-JP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ja-JP" sz="2400" dirty="0"/>
              <a:t>blocks </a:t>
            </a:r>
            <a:r>
              <a:rPr lang="en-US" altLang="ja-JP" sz="2400" dirty="0" err="1"/>
              <a:t>配列が唯一の状態</a:t>
            </a:r>
            <a:endParaRPr lang="ja-JP" altLang="ja-JP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ja-JP" altLang="ja-JP" sz="2400" dirty="0"/>
              <a:t>表示倍率・一時的</a:t>
            </a:r>
            <a:r>
              <a:rPr lang="en-US" altLang="ja-JP" sz="2400" dirty="0"/>
              <a:t> UI </a:t>
            </a:r>
            <a:r>
              <a:rPr lang="ja-JP" altLang="ja-JP" sz="2400" dirty="0"/>
              <a:t>状態は含めない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06935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5CAC3-F2AC-AD03-0BE9-547C9BEF6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44D167-D2E8-AFFB-50A8-D3B6C4AFE8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ja-JP" b="1" dirty="0">
                <a:solidFill>
                  <a:srgbClr val="C00000"/>
                </a:solidFill>
                <a:latin typeface="+mn-lt"/>
              </a:rPr>
              <a:t>SECTION 3 </a:t>
            </a:r>
            <a:r>
              <a:rPr lang="ja-JP" altLang="en-US" b="1" dirty="0">
                <a:latin typeface="+mn-lt"/>
              </a:rPr>
              <a:t>実装編</a:t>
            </a:r>
            <a:endParaRPr lang="en-US" altLang="ja-JP" b="1" dirty="0">
              <a:latin typeface="+mn-lt"/>
            </a:endParaRPr>
          </a:p>
        </p:txBody>
      </p:sp>
      <p:sp>
        <p:nvSpPr>
          <p:cNvPr id="7" name="字幕 2">
            <a:extLst>
              <a:ext uri="{FF2B5EF4-FFF2-40B4-BE49-F238E27FC236}">
                <a16:creationId xmlns:a16="http://schemas.microsoft.com/office/drawing/2014/main" id="{722BED26-6964-3BED-BCF7-583A0880FF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altLang="ja-JP" dirty="0"/>
              <a:t>Hooks</a:t>
            </a:r>
            <a:r>
              <a:rPr lang="ja-JP" altLang="en-US" dirty="0"/>
              <a:t>と</a:t>
            </a:r>
            <a:r>
              <a:rPr lang="en-US" altLang="ja-JP" dirty="0"/>
              <a:t>State</a:t>
            </a:r>
            <a:r>
              <a:rPr lang="ja-JP" altLang="en-US" dirty="0"/>
              <a:t>による実装アプローチ</a:t>
            </a:r>
          </a:p>
        </p:txBody>
      </p:sp>
    </p:spTree>
    <p:extLst>
      <p:ext uri="{BB962C8B-B14F-4D97-AF65-F5344CB8AC3E}">
        <p14:creationId xmlns:p14="http://schemas.microsoft.com/office/powerpoint/2010/main" val="923794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C29B7-FD35-C1E9-D60B-D4797D7A8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76A4EA-0E53-F575-4FF4-E6930D57D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状態管理 </a:t>
            </a:r>
            <a:r>
              <a:rPr lang="en-US" altLang="zh-TW" dirty="0"/>
              <a:t>/ Hooks</a:t>
            </a:r>
            <a:r>
              <a:rPr lang="zh-TW" altLang="en-US" dirty="0"/>
              <a:t>設計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5B3109C-2F93-9F90-6F0E-09217FC68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編集ロジックと状態管理の設計思想を整理します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816612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896BF-1CD3-2E36-A04D-92DA508B5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769506-7F29-0A12-526C-726F2C731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522" y="381000"/>
            <a:ext cx="7928702" cy="562089"/>
          </a:xfrm>
        </p:spPr>
        <p:txBody>
          <a:bodyPr>
            <a:noAutofit/>
          </a:bodyPr>
          <a:lstStyle/>
          <a:p>
            <a:r>
              <a:rPr lang="ja-JP" altLang="en-US" b="1" dirty="0">
                <a:latin typeface="+mn-ea"/>
                <a:ea typeface="+mn-ea"/>
              </a:rPr>
              <a:t>編集データ管理 </a:t>
            </a:r>
            <a:r>
              <a:rPr lang="en-US" altLang="ja-JP" b="1" dirty="0">
                <a:latin typeface="+mn-ea"/>
                <a:ea typeface="+mn-ea"/>
              </a:rPr>
              <a:t>(State / Hooks </a:t>
            </a:r>
            <a:r>
              <a:rPr lang="ja-JP" altLang="en-US" b="1" dirty="0">
                <a:latin typeface="+mn-ea"/>
                <a:ea typeface="+mn-ea"/>
              </a:rPr>
              <a:t>の役割</a:t>
            </a:r>
            <a:r>
              <a:rPr lang="en-US" altLang="ja-JP" b="1" dirty="0">
                <a:latin typeface="+mn-ea"/>
                <a:ea typeface="+mn-ea"/>
              </a:rPr>
              <a:t>)</a:t>
            </a:r>
            <a:endParaRPr kumimoji="1" lang="ja-JP" altLang="en-US" b="1" dirty="0">
              <a:latin typeface="+mn-lt"/>
              <a:ea typeface="+mn-ea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CB98226-A88E-B281-FC18-BE3B79BC5349}"/>
              </a:ext>
            </a:extLst>
          </p:cNvPr>
          <p:cNvSpPr txBox="1"/>
          <p:nvPr/>
        </p:nvSpPr>
        <p:spPr>
          <a:xfrm>
            <a:off x="708521" y="943089"/>
            <a:ext cx="100769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編集はすべて「状態の変化」として扱われます。</a:t>
            </a:r>
            <a:br>
              <a:rPr lang="ja-JP" altLang="en-US" sz="2000" dirty="0"/>
            </a:br>
            <a:r>
              <a:rPr lang="ja-JP" altLang="en-US" sz="2000" dirty="0"/>
              <a:t>まず、その状態管理の仕組みから説明します。</a:t>
            </a:r>
            <a:endParaRPr kumimoji="1" lang="ja-JP" altLang="en-US" sz="20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C708659-7871-A1A5-4DA6-B3E3E6544BF3}"/>
              </a:ext>
            </a:extLst>
          </p:cNvPr>
          <p:cNvSpPr txBox="1"/>
          <p:nvPr/>
        </p:nvSpPr>
        <p:spPr>
          <a:xfrm>
            <a:off x="708521" y="2213064"/>
            <a:ext cx="9812587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b="1" dirty="0"/>
              <a:t>Q. </a:t>
            </a:r>
            <a:r>
              <a:rPr lang="ja-JP" altLang="en-US" sz="3200" b="1" dirty="0"/>
              <a:t>なぜ状態管理が必要？</a:t>
            </a:r>
            <a:br>
              <a:rPr lang="ja-JP" altLang="en-US" sz="2400" dirty="0"/>
            </a:br>
            <a:r>
              <a:rPr lang="ja-JP" altLang="en-US" sz="2400" dirty="0"/>
              <a:t>→ 編集内容を一元管理し、画面と常に同期させるため</a:t>
            </a:r>
          </a:p>
          <a:p>
            <a:r>
              <a:rPr lang="en-US" altLang="ja-JP" sz="3200" b="1" dirty="0"/>
              <a:t>Q. State</a:t>
            </a:r>
            <a:r>
              <a:rPr lang="ja-JP" altLang="en-US" sz="3200" b="1" dirty="0"/>
              <a:t>とは？</a:t>
            </a:r>
            <a:br>
              <a:rPr lang="ja-JP" altLang="en-US" sz="2400" dirty="0"/>
            </a:br>
            <a:r>
              <a:rPr lang="ja-JP" altLang="en-US" sz="2400" dirty="0"/>
              <a:t>→ 画面の現在状態を保持し、状態遷移を管理するデータ</a:t>
            </a:r>
          </a:p>
          <a:p>
            <a:r>
              <a:rPr lang="en-US" altLang="ja-JP" sz="3200" b="1" dirty="0"/>
              <a:t>Q. Hooks</a:t>
            </a:r>
            <a:r>
              <a:rPr lang="ja-JP" altLang="en-US" sz="3200" b="1" dirty="0"/>
              <a:t>の役割は？</a:t>
            </a:r>
            <a:br>
              <a:rPr lang="ja-JP" altLang="en-US" sz="2400" dirty="0"/>
            </a:br>
            <a:r>
              <a:rPr lang="ja-JP" altLang="en-US" sz="2400" dirty="0"/>
              <a:t>→ </a:t>
            </a:r>
            <a:r>
              <a:rPr lang="en-US" altLang="ja-JP" sz="2400" dirty="0"/>
              <a:t>State</a:t>
            </a:r>
            <a:r>
              <a:rPr lang="ja-JP" altLang="en-US" sz="2400" dirty="0"/>
              <a:t>の更新・制御ロジックを整理し、再利用可能にする仕組み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14815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9DBF6-06F2-E024-86A6-2AE53CBAB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E5EF40-5BE6-750E-6406-6AEF605CD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521" y="381000"/>
            <a:ext cx="7157521" cy="562089"/>
          </a:xfrm>
        </p:spPr>
        <p:txBody>
          <a:bodyPr>
            <a:noAutofit/>
          </a:bodyPr>
          <a:lstStyle/>
          <a:p>
            <a:r>
              <a:rPr lang="ja-JP" altLang="en-US" b="1" dirty="0">
                <a:latin typeface="+mn-ea"/>
                <a:ea typeface="+mn-ea"/>
              </a:rPr>
              <a:t>処理ロジック（</a:t>
            </a:r>
            <a:r>
              <a:rPr lang="en-US" altLang="ja-JP" b="1" dirty="0">
                <a:latin typeface="+mn-ea"/>
                <a:ea typeface="+mn-ea"/>
              </a:rPr>
              <a:t>Hooks </a:t>
            </a:r>
            <a:r>
              <a:rPr lang="ja-JP" altLang="en-US" b="1" dirty="0">
                <a:latin typeface="+mn-ea"/>
                <a:ea typeface="+mn-ea"/>
              </a:rPr>
              <a:t>の役割）</a:t>
            </a:r>
            <a:r>
              <a:rPr lang="en-US" altLang="ja-JP" b="1" dirty="0">
                <a:latin typeface="+mn-ea"/>
                <a:ea typeface="+mn-ea"/>
              </a:rPr>
              <a:t>-1</a:t>
            </a:r>
            <a:endParaRPr kumimoji="1" lang="ja-JP" altLang="en-US" b="1" dirty="0">
              <a:latin typeface="+mn-ea"/>
              <a:ea typeface="+mn-ea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949323E-58F7-9CCD-8ED2-CAE11115D2E9}"/>
              </a:ext>
            </a:extLst>
          </p:cNvPr>
          <p:cNvSpPr txBox="1"/>
          <p:nvPr/>
        </p:nvSpPr>
        <p:spPr>
          <a:xfrm>
            <a:off x="500654" y="1044999"/>
            <a:ext cx="108907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>
                <a:solidFill>
                  <a:srgbClr val="C00000"/>
                </a:solidFill>
              </a:rPr>
              <a:t>Hooks</a:t>
            </a:r>
            <a:r>
              <a:rPr lang="ja-JP" altLang="en-US" sz="2800" b="1" dirty="0">
                <a:solidFill>
                  <a:srgbClr val="C00000"/>
                </a:solidFill>
              </a:rPr>
              <a:t>とは？</a:t>
            </a:r>
          </a:p>
          <a:p>
            <a:r>
              <a:rPr lang="ja-JP" altLang="en-US" sz="2800" dirty="0"/>
              <a:t>👉 </a:t>
            </a:r>
            <a:r>
              <a:rPr lang="en-US" altLang="ja-JP" sz="2800" b="1" dirty="0"/>
              <a:t>State</a:t>
            </a:r>
            <a:r>
              <a:rPr lang="ja-JP" altLang="en-US" sz="2800" b="1" dirty="0"/>
              <a:t>を安全に更新し、編集処理を整理する制御レイヤー</a:t>
            </a:r>
            <a:endParaRPr lang="ja-JP" altLang="en-US" sz="28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2257CD1-9229-1334-D925-49A428065937}"/>
              </a:ext>
            </a:extLst>
          </p:cNvPr>
          <p:cNvSpPr txBox="1"/>
          <p:nvPr/>
        </p:nvSpPr>
        <p:spPr>
          <a:xfrm>
            <a:off x="609369" y="2101016"/>
            <a:ext cx="822470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b="1" dirty="0" err="1"/>
              <a:t>CardCraft</a:t>
            </a:r>
            <a:r>
              <a:rPr lang="ja-JP" altLang="en-US" sz="3200" b="1" dirty="0"/>
              <a:t>では以下を</a:t>
            </a:r>
            <a:r>
              <a:rPr lang="en-US" altLang="ja-JP" sz="3200" b="1" dirty="0"/>
              <a:t>Hooks</a:t>
            </a:r>
            <a:r>
              <a:rPr lang="ja-JP" altLang="en-US" sz="3200" b="1" dirty="0"/>
              <a:t>で管理</a:t>
            </a:r>
            <a:endParaRPr lang="en-US" altLang="ja-JP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3200" dirty="0"/>
              <a:t>blocks</a:t>
            </a:r>
            <a:r>
              <a:rPr lang="ja-JP" altLang="en-US" sz="3200" dirty="0"/>
              <a:t>の追加 </a:t>
            </a:r>
            <a:r>
              <a:rPr lang="en-US" altLang="ja-JP" sz="3200" dirty="0"/>
              <a:t>/ </a:t>
            </a:r>
            <a:r>
              <a:rPr lang="ja-JP" altLang="en-US" sz="3200" dirty="0"/>
              <a:t>更新 </a:t>
            </a:r>
            <a:r>
              <a:rPr lang="en-US" altLang="ja-JP" sz="3200" dirty="0"/>
              <a:t>/ </a:t>
            </a:r>
            <a:r>
              <a:rPr lang="ja-JP" altLang="en-US" sz="3200" dirty="0"/>
              <a:t>削除（</a:t>
            </a:r>
            <a:r>
              <a:rPr lang="en-US" altLang="ja-JP" sz="3200" dirty="0"/>
              <a:t>CRUD</a:t>
            </a:r>
            <a:r>
              <a:rPr lang="ja-JP" altLang="en-US" sz="3200" dirty="0"/>
              <a:t>）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3200" dirty="0"/>
              <a:t>選択状態の制御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3200" dirty="0"/>
              <a:t>ズーム計算（</a:t>
            </a:r>
            <a:r>
              <a:rPr lang="en-US" altLang="ja-JP" sz="3200" dirty="0" err="1"/>
              <a:t>scaleToFit</a:t>
            </a:r>
            <a:r>
              <a:rPr lang="ja-JP" altLang="en-US" sz="3200" dirty="0"/>
              <a:t>）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3200" dirty="0"/>
              <a:t>Undo / Redo</a:t>
            </a:r>
            <a:r>
              <a:rPr lang="ja-JP" altLang="en-US" sz="3200" dirty="0"/>
              <a:t>（履歴管理）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3200" dirty="0"/>
              <a:t>UI</a:t>
            </a:r>
            <a:r>
              <a:rPr lang="ja-JP" altLang="en-US" sz="3200" dirty="0"/>
              <a:t>と</a:t>
            </a:r>
            <a:r>
              <a:rPr lang="en-US" altLang="ja-JP" sz="3200" dirty="0"/>
              <a:t>Canvas</a:t>
            </a:r>
            <a:r>
              <a:rPr lang="ja-JP" altLang="en-US" sz="3200" dirty="0"/>
              <a:t>の同期」</a:t>
            </a:r>
            <a:endParaRPr lang="en-US" altLang="ja-JP" sz="3200" dirty="0"/>
          </a:p>
          <a:p>
            <a:r>
              <a:rPr lang="ja-JP" altLang="en-US" sz="3200" b="1" dirty="0"/>
              <a:t>👉 「＝ 編集ロジックの中枢」</a:t>
            </a:r>
            <a:endParaRPr kumimoji="1" lang="ja-JP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9566986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CD016-FB9F-EB19-9898-39F07015B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935ACB-D7F6-4C3F-23FE-4E5931C42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521" y="381000"/>
            <a:ext cx="10374448" cy="562089"/>
          </a:xfrm>
        </p:spPr>
        <p:txBody>
          <a:bodyPr>
            <a:noAutofit/>
          </a:bodyPr>
          <a:lstStyle/>
          <a:p>
            <a:r>
              <a:rPr lang="ja-JP" altLang="en-US" b="1" dirty="0">
                <a:latin typeface="+mn-ea"/>
                <a:ea typeface="+mn-ea"/>
              </a:rPr>
              <a:t>状態管理の中身（</a:t>
            </a:r>
            <a:r>
              <a:rPr lang="en-US" altLang="ja-JP" b="1" dirty="0" err="1">
                <a:latin typeface="+mn-ea"/>
                <a:ea typeface="+mn-ea"/>
              </a:rPr>
              <a:t>CardCraft</a:t>
            </a:r>
            <a:r>
              <a:rPr lang="ja-JP" altLang="en-US" b="1" dirty="0">
                <a:latin typeface="+mn-ea"/>
                <a:ea typeface="+mn-ea"/>
              </a:rPr>
              <a:t>では何を持っている？）</a:t>
            </a:r>
            <a:endParaRPr kumimoji="1" lang="ja-JP" altLang="en-US" b="1" dirty="0">
              <a:latin typeface="+mn-ea"/>
              <a:ea typeface="+mn-ea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8FD3C35-852A-2BD4-BBB3-7E3DDA9481D7}"/>
              </a:ext>
            </a:extLst>
          </p:cNvPr>
          <p:cNvSpPr txBox="1"/>
          <p:nvPr/>
        </p:nvSpPr>
        <p:spPr>
          <a:xfrm>
            <a:off x="798111" y="1078049"/>
            <a:ext cx="55696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>
                <a:solidFill>
                  <a:srgbClr val="C00000"/>
                </a:solidFill>
              </a:rPr>
              <a:t>State </a:t>
            </a:r>
            <a:r>
              <a:rPr lang="ja-JP" altLang="en-US" sz="2800" b="1" dirty="0">
                <a:solidFill>
                  <a:srgbClr val="C00000"/>
                </a:solidFill>
              </a:rPr>
              <a:t>＝ データ（何があるか）</a:t>
            </a:r>
            <a:endParaRPr kumimoji="1" lang="ja-JP" altLang="en-US" sz="2800" b="1" dirty="0">
              <a:solidFill>
                <a:srgbClr val="C00000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282A30B-8C85-0554-2A0B-499D5B39AF9F}"/>
              </a:ext>
            </a:extLst>
          </p:cNvPr>
          <p:cNvSpPr txBox="1"/>
          <p:nvPr/>
        </p:nvSpPr>
        <p:spPr>
          <a:xfrm>
            <a:off x="798111" y="1736229"/>
            <a:ext cx="8224703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b="1" dirty="0"/>
              <a:t>State</a:t>
            </a:r>
            <a:r>
              <a:rPr lang="ja-JP" altLang="en-US" sz="3200" b="1" dirty="0"/>
              <a:t>で管理しているもの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3200" dirty="0"/>
              <a:t>テキスト内容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3200" dirty="0"/>
              <a:t>位置（</a:t>
            </a:r>
            <a:r>
              <a:rPr lang="en-US" altLang="ja-JP" sz="3200" dirty="0"/>
              <a:t>x / y</a:t>
            </a:r>
            <a:r>
              <a:rPr lang="ja-JP" altLang="en-US" sz="3200" dirty="0"/>
              <a:t>）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3200" dirty="0"/>
              <a:t>サイズ・フォント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3200" dirty="0"/>
              <a:t>選択中ブロック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3200" dirty="0"/>
              <a:t>ズーム倍率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3200" b="1" dirty="0"/>
              <a:t>👉 ＝「いまのカードの状態すべて」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838983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CB2BE-532E-29B9-247F-B9099A887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D88C1F-0C47-905E-0EB0-44A6399E1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521" y="381000"/>
            <a:ext cx="7157521" cy="562089"/>
          </a:xfrm>
        </p:spPr>
        <p:txBody>
          <a:bodyPr>
            <a:noAutofit/>
          </a:bodyPr>
          <a:lstStyle/>
          <a:p>
            <a:r>
              <a:rPr lang="ja-JP" altLang="en-US" b="1" dirty="0">
                <a:latin typeface="+mn-ea"/>
                <a:ea typeface="+mn-ea"/>
              </a:rPr>
              <a:t>処理ロジック（</a:t>
            </a:r>
            <a:r>
              <a:rPr lang="en-US" altLang="ja-JP" b="1" dirty="0">
                <a:latin typeface="+mn-ea"/>
                <a:ea typeface="+mn-ea"/>
              </a:rPr>
              <a:t>Hooks </a:t>
            </a:r>
            <a:r>
              <a:rPr lang="ja-JP" altLang="en-US" b="1" dirty="0">
                <a:latin typeface="+mn-ea"/>
                <a:ea typeface="+mn-ea"/>
              </a:rPr>
              <a:t>の役割）</a:t>
            </a:r>
            <a:r>
              <a:rPr lang="en-US" altLang="ja-JP" b="1" dirty="0">
                <a:latin typeface="+mn-ea"/>
                <a:ea typeface="+mn-ea"/>
              </a:rPr>
              <a:t>-2</a:t>
            </a:r>
            <a:endParaRPr kumimoji="1" lang="ja-JP" altLang="en-US" b="1" dirty="0">
              <a:latin typeface="+mn-ea"/>
              <a:ea typeface="+mn-ea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388172B-DCC8-737F-B12C-67FEC7FB6370}"/>
              </a:ext>
            </a:extLst>
          </p:cNvPr>
          <p:cNvSpPr txBox="1"/>
          <p:nvPr/>
        </p:nvSpPr>
        <p:spPr>
          <a:xfrm>
            <a:off x="798111" y="1078049"/>
            <a:ext cx="8224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 err="1"/>
              <a:t>CardCraft</a:t>
            </a:r>
            <a:r>
              <a:rPr lang="ja-JP" altLang="en-US" sz="2800" b="1" dirty="0"/>
              <a:t>での具体例</a:t>
            </a:r>
            <a:endParaRPr kumimoji="1" lang="ja-JP" altLang="en-US" sz="28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A3CC0549-4709-FF66-4DD3-103334018C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834870"/>
              </p:ext>
            </p:extLst>
          </p:nvPr>
        </p:nvGraphicFramePr>
        <p:xfrm>
          <a:off x="798111" y="1920486"/>
          <a:ext cx="10254258" cy="30170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27129">
                  <a:extLst>
                    <a:ext uri="{9D8B030D-6E8A-4147-A177-3AD203B41FA5}">
                      <a16:colId xmlns:a16="http://schemas.microsoft.com/office/drawing/2014/main" val="1296390941"/>
                    </a:ext>
                  </a:extLst>
                </a:gridCol>
                <a:gridCol w="5127129">
                  <a:extLst>
                    <a:ext uri="{9D8B030D-6E8A-4147-A177-3AD203B41FA5}">
                      <a16:colId xmlns:a16="http://schemas.microsoft.com/office/drawing/2014/main" val="296524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2800" b="1" dirty="0"/>
                        <a:t>Hook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b="1" dirty="0"/>
                        <a:t>役割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253919"/>
                  </a:ext>
                </a:extLst>
              </a:tr>
              <a:tr h="62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useCardBlocks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/>
                        <a:t>ブロック</a:t>
                      </a:r>
                      <a:r>
                        <a:rPr lang="en-US" dirty="0"/>
                        <a:t>CRUD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4359143"/>
                  </a:ext>
                </a:extLst>
              </a:tr>
              <a:tr h="62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useEditorState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/>
                        <a:t>選択・</a:t>
                      </a:r>
                      <a:r>
                        <a:rPr lang="en-US" dirty="0"/>
                        <a:t>UI</a:t>
                      </a:r>
                      <a:r>
                        <a:rPr lang="ja-JP" altLang="en-US" dirty="0"/>
                        <a:t>状態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851494"/>
                  </a:ext>
                </a:extLst>
              </a:tr>
              <a:tr h="62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useScaleToFit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/>
                        <a:t>自動ズーム計算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7806362"/>
                  </a:ext>
                </a:extLst>
              </a:tr>
              <a:tr h="62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useHistory（Undo</a:t>
                      </a:r>
                      <a:r>
                        <a:rPr lang="en-US" dirty="0"/>
                        <a:t>/Redo）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/>
                        <a:t>履歴管理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731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7795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FF1EFEA-11F7-3649-46F0-64F9ACD48B04}"/>
              </a:ext>
            </a:extLst>
          </p:cNvPr>
          <p:cNvSpPr txBox="1"/>
          <p:nvPr/>
        </p:nvSpPr>
        <p:spPr>
          <a:xfrm>
            <a:off x="319488" y="328202"/>
            <a:ext cx="81084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b="1" dirty="0"/>
              <a:t>Hooks</a:t>
            </a:r>
            <a:r>
              <a:rPr lang="ja-JP" altLang="en-US" sz="3200" b="1" dirty="0"/>
              <a:t>の連携構造（編集処理の全体像）</a:t>
            </a:r>
            <a:endParaRPr kumimoji="1" lang="ja-JP" altLang="en-US" sz="3200" b="1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830902F-C129-B2AF-E88F-87A5B7EFE2F3}"/>
              </a:ext>
            </a:extLst>
          </p:cNvPr>
          <p:cNvSpPr txBox="1"/>
          <p:nvPr/>
        </p:nvSpPr>
        <p:spPr>
          <a:xfrm>
            <a:off x="1123721" y="3765697"/>
            <a:ext cx="930925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 err="1"/>
              <a:t>CardEditor.tsx</a:t>
            </a:r>
            <a:r>
              <a:rPr lang="en-US" altLang="ja-JP" sz="2400" b="1" dirty="0"/>
              <a:t> </a:t>
            </a:r>
            <a:r>
              <a:rPr lang="ja-JP" altLang="en-US" sz="2400" b="1" dirty="0"/>
              <a:t>は編集の司令塔</a:t>
            </a:r>
          </a:p>
          <a:p>
            <a:endParaRPr lang="ja-JP" altLang="en-US" dirty="0"/>
          </a:p>
          <a:p>
            <a:r>
              <a:rPr lang="ja-JP" altLang="en-US" sz="2000" dirty="0"/>
              <a:t>・各</a:t>
            </a:r>
            <a:r>
              <a:rPr lang="en-US" altLang="ja-JP" sz="2000" dirty="0"/>
              <a:t>Hook</a:t>
            </a:r>
            <a:r>
              <a:rPr lang="ja-JP" altLang="en-US" sz="2000" dirty="0"/>
              <a:t>から状態を取得します</a:t>
            </a:r>
          </a:p>
          <a:p>
            <a:r>
              <a:rPr lang="ja-JP" altLang="en-US" sz="2000" dirty="0"/>
              <a:t>・</a:t>
            </a:r>
            <a:r>
              <a:rPr lang="en-US" altLang="ja-JP" sz="2000" dirty="0"/>
              <a:t>UI</a:t>
            </a:r>
            <a:r>
              <a:rPr lang="ja-JP" altLang="en-US" sz="2000" dirty="0"/>
              <a:t>イベントを</a:t>
            </a:r>
            <a:r>
              <a:rPr lang="en-US" altLang="ja-JP" sz="2000" dirty="0"/>
              <a:t>Hook</a:t>
            </a:r>
            <a:r>
              <a:rPr lang="ja-JP" altLang="en-US" sz="2000" dirty="0"/>
              <a:t>に渡します</a:t>
            </a:r>
          </a:p>
          <a:p>
            <a:r>
              <a:rPr lang="ja-JP" altLang="en-US" sz="2000" dirty="0"/>
              <a:t>・</a:t>
            </a:r>
            <a:r>
              <a:rPr lang="en-US" altLang="ja-JP" sz="2000" dirty="0"/>
              <a:t>Canvas</a:t>
            </a:r>
            <a:r>
              <a:rPr lang="ja-JP" altLang="en-US" sz="2000" dirty="0"/>
              <a:t>へ描画を指示します</a:t>
            </a:r>
          </a:p>
          <a:p>
            <a:endParaRPr lang="ja-JP" altLang="en-US" sz="2000" dirty="0"/>
          </a:p>
          <a:p>
            <a:r>
              <a:rPr lang="ja-JP" altLang="en-US" sz="2800" dirty="0"/>
              <a:t>＝</a:t>
            </a:r>
            <a:r>
              <a:rPr lang="ja-JP" altLang="en-US" sz="2800" b="1" dirty="0"/>
              <a:t> すべての編集処理は </a:t>
            </a:r>
            <a:r>
              <a:rPr lang="en-US" altLang="ja-JP" sz="2800" b="1" dirty="0" err="1"/>
              <a:t>CardEditor</a:t>
            </a:r>
            <a:r>
              <a:rPr lang="en-US" altLang="ja-JP" sz="2800" b="1" dirty="0"/>
              <a:t> </a:t>
            </a:r>
            <a:r>
              <a:rPr lang="ja-JP" altLang="en-US" sz="2800" b="1" dirty="0"/>
              <a:t>に集約されます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93A1404-29CD-5E96-F2F6-4A232582B39F}"/>
              </a:ext>
            </a:extLst>
          </p:cNvPr>
          <p:cNvSpPr txBox="1"/>
          <p:nvPr/>
        </p:nvSpPr>
        <p:spPr>
          <a:xfrm>
            <a:off x="1233889" y="1088041"/>
            <a:ext cx="781095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/>
              <a:t> useCardBlocks</a:t>
            </a:r>
          </a:p>
          <a:p>
            <a:r>
              <a:rPr lang="en-US" altLang="ja-JP" sz="2400" b="1" dirty="0"/>
              <a:t>             ↓</a:t>
            </a:r>
          </a:p>
          <a:p>
            <a:r>
              <a:rPr lang="en-US" altLang="ja-JP" sz="2400" b="1" dirty="0" err="1"/>
              <a:t>useHistory</a:t>
            </a:r>
            <a:r>
              <a:rPr lang="en-US" altLang="ja-JP" sz="2400" b="1" dirty="0"/>
              <a:t> ← </a:t>
            </a:r>
            <a:r>
              <a:rPr lang="en-US" altLang="ja-JP" sz="2400" b="1" dirty="0" err="1"/>
              <a:t>CardEditor</a:t>
            </a:r>
            <a:r>
              <a:rPr lang="en-US" altLang="ja-JP" sz="2400" b="1" dirty="0"/>
              <a:t> → </a:t>
            </a:r>
            <a:r>
              <a:rPr lang="en-US" altLang="ja-JP" sz="2400" b="1" dirty="0" err="1"/>
              <a:t>useEditorState</a:t>
            </a:r>
            <a:endParaRPr lang="en-US" altLang="ja-JP" sz="2400" b="1" dirty="0"/>
          </a:p>
          <a:p>
            <a:r>
              <a:rPr lang="en-US" altLang="ja-JP" sz="2400" b="1" dirty="0"/>
              <a:t>             ↓</a:t>
            </a:r>
          </a:p>
          <a:p>
            <a:r>
              <a:rPr lang="en-US" altLang="ja-JP" sz="2400" b="1" dirty="0"/>
              <a:t>        </a:t>
            </a:r>
            <a:r>
              <a:rPr lang="en-US" altLang="ja-JP" sz="2400" b="1" dirty="0" err="1"/>
              <a:t>useScaleToFit</a:t>
            </a:r>
            <a:endParaRPr lang="en-US" altLang="ja-JP" sz="2400" b="1" dirty="0"/>
          </a:p>
          <a:p>
            <a:r>
              <a:rPr lang="en-US" altLang="ja-JP" sz="2400" b="1" dirty="0"/>
              <a:t>             ↓</a:t>
            </a:r>
          </a:p>
          <a:p>
            <a:r>
              <a:rPr lang="en-US" altLang="ja-JP" sz="2400" b="1" dirty="0"/>
              <a:t>           Canvas</a:t>
            </a:r>
            <a:endParaRPr kumimoji="1" lang="ja-JP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7845147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5A9B7-001E-E91D-793F-6E6837CD9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A02FA7-402F-CCB3-A9AF-FCBB6BAF38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ja-JP" b="1" dirty="0">
                <a:solidFill>
                  <a:srgbClr val="C00000"/>
                </a:solidFill>
                <a:latin typeface="+mn-lt"/>
              </a:rPr>
              <a:t>SECTION 4 </a:t>
            </a:r>
            <a:r>
              <a:rPr lang="ja-JP" altLang="en-US" b="1" dirty="0">
                <a:latin typeface="+mn-lt"/>
              </a:rPr>
              <a:t>運用編</a:t>
            </a:r>
            <a:endParaRPr lang="en-US" altLang="ja-JP" b="1" dirty="0">
              <a:latin typeface="+mn-lt"/>
            </a:endParaRPr>
          </a:p>
        </p:txBody>
      </p:sp>
      <p:sp>
        <p:nvSpPr>
          <p:cNvPr id="7" name="字幕 2">
            <a:extLst>
              <a:ext uri="{FF2B5EF4-FFF2-40B4-BE49-F238E27FC236}">
                <a16:creationId xmlns:a16="http://schemas.microsoft.com/office/drawing/2014/main" id="{81D8A14C-0406-4694-DD4D-23D4F3E97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ja-JP" altLang="en-US" dirty="0"/>
              <a:t>デプロイと運用フロー</a:t>
            </a:r>
          </a:p>
        </p:txBody>
      </p:sp>
    </p:spTree>
    <p:extLst>
      <p:ext uri="{BB962C8B-B14F-4D97-AF65-F5344CB8AC3E}">
        <p14:creationId xmlns:p14="http://schemas.microsoft.com/office/powerpoint/2010/main" val="10074505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EB900-EF05-7CBE-C341-8AACFE1BC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99DEBEA-CCD4-77EE-0D39-3FFEDE9DB14C}"/>
              </a:ext>
            </a:extLst>
          </p:cNvPr>
          <p:cNvSpPr txBox="1"/>
          <p:nvPr/>
        </p:nvSpPr>
        <p:spPr>
          <a:xfrm>
            <a:off x="208779" y="342529"/>
            <a:ext cx="5090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運用フロー（デプロイ</a:t>
            </a:r>
            <a:r>
              <a:rPr lang="en-US" altLang="ja-JP" sz="2400" b="1" dirty="0"/>
              <a:t>〜</a:t>
            </a:r>
            <a:r>
              <a:rPr lang="ja-JP" altLang="en-US" sz="2400" b="1" dirty="0"/>
              <a:t>公開まで）</a:t>
            </a:r>
            <a:endParaRPr kumimoji="1" lang="ja-JP" altLang="en-US" sz="2400" b="1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0E562A2-B136-8B60-DE0B-078659B1B809}"/>
              </a:ext>
            </a:extLst>
          </p:cNvPr>
          <p:cNvSpPr txBox="1"/>
          <p:nvPr/>
        </p:nvSpPr>
        <p:spPr>
          <a:xfrm>
            <a:off x="208779" y="1051310"/>
            <a:ext cx="47529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登場人物</a:t>
            </a:r>
          </a:p>
          <a:p>
            <a:r>
              <a:rPr lang="ja-JP" altLang="en-US" dirty="0"/>
              <a:t>🟦</a:t>
            </a:r>
            <a:r>
              <a:rPr lang="en-US" altLang="ja-JP" dirty="0" err="1"/>
              <a:t>Github</a:t>
            </a:r>
            <a:r>
              <a:rPr lang="ja-JP" altLang="en-US" dirty="0"/>
              <a:t>（ソース管理）</a:t>
            </a:r>
          </a:p>
          <a:p>
            <a:r>
              <a:rPr lang="ja-JP" altLang="en-US" dirty="0"/>
              <a:t>🟥</a:t>
            </a:r>
            <a:r>
              <a:rPr lang="en-US" altLang="ja-JP" dirty="0" err="1"/>
              <a:t>Vercel</a:t>
            </a:r>
            <a:r>
              <a:rPr lang="en-US" altLang="ja-JP" dirty="0"/>
              <a:t>(</a:t>
            </a:r>
            <a:r>
              <a:rPr lang="ja-JP" altLang="en-US" dirty="0"/>
              <a:t>ビルド</a:t>
            </a:r>
            <a:r>
              <a:rPr lang="en-US" altLang="ja-JP" dirty="0"/>
              <a:t>/</a:t>
            </a:r>
            <a:r>
              <a:rPr lang="ja-JP" altLang="en-US" dirty="0"/>
              <a:t>デプロイ</a:t>
            </a:r>
            <a:r>
              <a:rPr lang="en-US" altLang="ja-JP" dirty="0"/>
              <a:t>)</a:t>
            </a:r>
            <a:br>
              <a:rPr lang="en-US" altLang="ja-JP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</a:br>
            <a:r>
              <a:rPr lang="ja-JP" altLang="en-US" dirty="0"/>
              <a:t>🟪 </a:t>
            </a:r>
            <a:r>
              <a:rPr lang="en-US" altLang="ja-JP" dirty="0"/>
              <a:t>WordPress</a:t>
            </a:r>
            <a:r>
              <a:rPr lang="ja-JP" altLang="en-US" dirty="0"/>
              <a:t>（表示・導線：</a:t>
            </a:r>
            <a:r>
              <a:rPr lang="en-US" altLang="ja-JP" dirty="0" err="1"/>
              <a:t>iframe</a:t>
            </a:r>
            <a:r>
              <a:rPr lang="ja-JP" altLang="en-US" dirty="0"/>
              <a:t>）</a:t>
            </a:r>
            <a:endParaRPr lang="en-US" altLang="ja-JP" dirty="0"/>
          </a:p>
          <a:p>
            <a:r>
              <a:rPr lang="ja-JP" altLang="en-US" dirty="0"/>
              <a:t>👤ユーザー（本番利用）</a:t>
            </a:r>
            <a:endParaRPr lang="en-US" altLang="ja-JP" dirty="0"/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117D6185-6F44-D95B-02BE-82E6C64DADAA}"/>
              </a:ext>
            </a:extLst>
          </p:cNvPr>
          <p:cNvSpPr/>
          <p:nvPr/>
        </p:nvSpPr>
        <p:spPr>
          <a:xfrm>
            <a:off x="3035099" y="3259570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E2C05987-0F1E-AA1A-B063-B3B5AB7B6CE7}"/>
              </a:ext>
            </a:extLst>
          </p:cNvPr>
          <p:cNvSpPr/>
          <p:nvPr/>
        </p:nvSpPr>
        <p:spPr>
          <a:xfrm>
            <a:off x="6376819" y="3246132"/>
            <a:ext cx="557211" cy="484632"/>
          </a:xfrm>
          <a:prstGeom prst="rightArrow">
            <a:avLst>
              <a:gd name="adj1" fmla="val 50000"/>
              <a:gd name="adj2" fmla="val 5454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056FEDB-A3CB-6738-CC05-77062104C268}"/>
              </a:ext>
            </a:extLst>
          </p:cNvPr>
          <p:cNvSpPr txBox="1"/>
          <p:nvPr/>
        </p:nvSpPr>
        <p:spPr>
          <a:xfrm>
            <a:off x="326853" y="3217491"/>
            <a:ext cx="2385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①🟦</a:t>
            </a:r>
            <a:r>
              <a:rPr lang="ja-JP" altLang="en-US" b="1" dirty="0"/>
              <a:t>開発</a:t>
            </a:r>
            <a:endParaRPr lang="en-US" altLang="ja-JP" b="1" dirty="0"/>
          </a:p>
          <a:p>
            <a:r>
              <a:rPr lang="en-US" altLang="ja-JP" dirty="0"/>
              <a:t>→ GitHub</a:t>
            </a:r>
            <a:r>
              <a:rPr lang="ja-JP" altLang="en-US" dirty="0"/>
              <a:t>へ</a:t>
            </a:r>
            <a:r>
              <a:rPr lang="en-US" altLang="ja-JP" dirty="0"/>
              <a:t>push</a:t>
            </a:r>
            <a:endParaRPr kumimoji="1" lang="ja-JP" altLang="en-US" dirty="0"/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1B3F04C1-A44D-3848-7FA6-5604F6EB5B10}"/>
              </a:ext>
            </a:extLst>
          </p:cNvPr>
          <p:cNvSpPr/>
          <p:nvPr/>
        </p:nvSpPr>
        <p:spPr>
          <a:xfrm>
            <a:off x="10857288" y="3253455"/>
            <a:ext cx="557211" cy="5723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B17E215-73AD-FB97-79B2-E416101051B5}"/>
              </a:ext>
            </a:extLst>
          </p:cNvPr>
          <p:cNvSpPr txBox="1"/>
          <p:nvPr/>
        </p:nvSpPr>
        <p:spPr>
          <a:xfrm>
            <a:off x="10787173" y="2848159"/>
            <a:ext cx="695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④へ</a:t>
            </a:r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B219A912-57DB-F04C-35FD-858FE4A2049F}"/>
              </a:ext>
            </a:extLst>
          </p:cNvPr>
          <p:cNvSpPr/>
          <p:nvPr/>
        </p:nvSpPr>
        <p:spPr>
          <a:xfrm>
            <a:off x="4404543" y="4657027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CAFAA38-DD80-64BA-169C-276B11C3368B}"/>
              </a:ext>
            </a:extLst>
          </p:cNvPr>
          <p:cNvSpPr txBox="1"/>
          <p:nvPr/>
        </p:nvSpPr>
        <p:spPr>
          <a:xfrm>
            <a:off x="5537882" y="4576178"/>
            <a:ext cx="38584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⑤</a:t>
            </a:r>
            <a:r>
              <a:rPr lang="ja-JP" altLang="en-US" dirty="0"/>
              <a:t>👤</a:t>
            </a:r>
            <a:r>
              <a:rPr lang="ja-JP" altLang="en-US" b="1" dirty="0"/>
              <a:t>ユーザ</a:t>
            </a:r>
            <a:r>
              <a:rPr lang="ja-JP" altLang="en-US" dirty="0"/>
              <a:t>ー</a:t>
            </a:r>
            <a:endParaRPr lang="en-US" altLang="ja-JP" dirty="0"/>
          </a:p>
          <a:p>
            <a:r>
              <a:rPr kumimoji="1" lang="en-US" altLang="ja-JP" dirty="0"/>
              <a:t>WordPress</a:t>
            </a:r>
            <a:r>
              <a:rPr kumimoji="1" lang="ja-JP" altLang="en-US" dirty="0"/>
              <a:t>ページから利用</a:t>
            </a:r>
            <a:endParaRPr kumimoji="1" lang="en-US" altLang="ja-JP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209AB4D-FAD3-6AAA-B381-4BF794D2A82D}"/>
              </a:ext>
            </a:extLst>
          </p:cNvPr>
          <p:cNvSpPr txBox="1"/>
          <p:nvPr/>
        </p:nvSpPr>
        <p:spPr>
          <a:xfrm>
            <a:off x="326853" y="4601733"/>
            <a:ext cx="38584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④</a:t>
            </a:r>
            <a:r>
              <a:rPr lang="ja-JP" altLang="en-US" dirty="0"/>
              <a:t>🟪 </a:t>
            </a:r>
            <a:r>
              <a:rPr lang="en-US" altLang="ja-JP" b="1" dirty="0"/>
              <a:t>WordPress</a:t>
            </a:r>
          </a:p>
          <a:p>
            <a:r>
              <a:rPr lang="en-US" altLang="ja-JP" dirty="0" err="1"/>
              <a:t>iframe</a:t>
            </a:r>
            <a:r>
              <a:rPr lang="en-US" altLang="ja-JP" dirty="0"/>
              <a:t> </a:t>
            </a:r>
            <a:r>
              <a:rPr lang="ja-JP" altLang="en-US" dirty="0"/>
              <a:t>で常に最新の</a:t>
            </a:r>
            <a:r>
              <a:rPr lang="en-US" altLang="ja-JP" dirty="0"/>
              <a:t>Editor</a:t>
            </a:r>
            <a:r>
              <a:rPr lang="ja-JP" altLang="en-US" dirty="0"/>
              <a:t>を表示</a:t>
            </a:r>
            <a:endParaRPr lang="en-US" altLang="ja-JP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C1F197F-CB3D-7F36-A575-E314C7720AFC}"/>
              </a:ext>
            </a:extLst>
          </p:cNvPr>
          <p:cNvSpPr txBox="1"/>
          <p:nvPr/>
        </p:nvSpPr>
        <p:spPr>
          <a:xfrm>
            <a:off x="3954297" y="3200455"/>
            <a:ext cx="25897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②</a:t>
            </a:r>
            <a:r>
              <a:rPr lang="ja-JP" altLang="en-US" dirty="0"/>
              <a:t>🟥</a:t>
            </a:r>
            <a:r>
              <a:rPr lang="en-US" altLang="ja-JP" b="1" dirty="0" err="1"/>
              <a:t>Vercel</a:t>
            </a:r>
            <a:endParaRPr lang="en-US" altLang="ja-JP" b="1" dirty="0"/>
          </a:p>
          <a:p>
            <a:r>
              <a:rPr lang="ja-JP" altLang="en-US" dirty="0"/>
              <a:t>自動ビルド</a:t>
            </a:r>
            <a:r>
              <a:rPr lang="en-US" altLang="ja-JP" dirty="0"/>
              <a:t>&amp;</a:t>
            </a:r>
            <a:r>
              <a:rPr lang="ja-JP" altLang="en-US" dirty="0"/>
              <a:t>デプロイ</a:t>
            </a:r>
            <a:r>
              <a:rPr kumimoji="1" lang="en-US" altLang="ja-JP" dirty="0"/>
              <a:t>	</a:t>
            </a:r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E8467E7-4652-C58D-CDBD-5B4102E229EA}"/>
              </a:ext>
            </a:extLst>
          </p:cNvPr>
          <p:cNvSpPr txBox="1"/>
          <p:nvPr/>
        </p:nvSpPr>
        <p:spPr>
          <a:xfrm>
            <a:off x="7269319" y="3160667"/>
            <a:ext cx="3394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③</a:t>
            </a:r>
            <a:r>
              <a:rPr lang="ja-JP" altLang="en-US" dirty="0"/>
              <a:t>🟥</a:t>
            </a:r>
            <a:r>
              <a:rPr lang="en-US" altLang="ja-JP" b="1" dirty="0" err="1"/>
              <a:t>Vercel</a:t>
            </a:r>
            <a:endParaRPr lang="en-US" altLang="zh-TW" b="1" dirty="0"/>
          </a:p>
          <a:p>
            <a:r>
              <a:rPr lang="en-US" altLang="ja-JP" dirty="0" err="1"/>
              <a:t>Vercel</a:t>
            </a:r>
            <a:r>
              <a:rPr lang="ja-JP" altLang="en-US" dirty="0"/>
              <a:t>の公開</a:t>
            </a:r>
            <a:r>
              <a:rPr lang="en-US" altLang="ja-JP" dirty="0"/>
              <a:t>URL</a:t>
            </a:r>
            <a:r>
              <a:rPr lang="ja-JP" altLang="en-US" dirty="0"/>
              <a:t>が更新される</a:t>
            </a:r>
            <a:endParaRPr kumimoji="0" lang="ja-JP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BD0B3C8-90CD-BFE0-265B-5E1D9EAA84DF}"/>
              </a:ext>
            </a:extLst>
          </p:cNvPr>
          <p:cNvSpPr/>
          <p:nvPr/>
        </p:nvSpPr>
        <p:spPr>
          <a:xfrm>
            <a:off x="5537882" y="916553"/>
            <a:ext cx="6133851" cy="13983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b="1" dirty="0"/>
              <a:t>・フロントエンドと</a:t>
            </a:r>
            <a:r>
              <a:rPr lang="en-US" altLang="ja-JP" b="1" dirty="0"/>
              <a:t>CMS</a:t>
            </a:r>
            <a:r>
              <a:rPr lang="ja-JP" altLang="en-US" b="1" dirty="0"/>
              <a:t>を分離（</a:t>
            </a:r>
            <a:r>
              <a:rPr lang="en-US" altLang="ja-JP" b="1" dirty="0"/>
              <a:t>Headless</a:t>
            </a:r>
            <a:r>
              <a:rPr lang="ja-JP" altLang="en-US" b="1" dirty="0"/>
              <a:t>構成）</a:t>
            </a:r>
          </a:p>
          <a:p>
            <a:r>
              <a:rPr lang="ja-JP" altLang="en-US" b="1" dirty="0"/>
              <a:t>・</a:t>
            </a:r>
            <a:r>
              <a:rPr lang="en-US" altLang="ja-JP" b="1" dirty="0" err="1"/>
              <a:t>Vercel</a:t>
            </a:r>
            <a:r>
              <a:rPr lang="en-US" altLang="ja-JP" b="1" dirty="0"/>
              <a:t> = </a:t>
            </a:r>
            <a:r>
              <a:rPr lang="ja-JP" altLang="en-US" b="1" dirty="0"/>
              <a:t>配信専用</a:t>
            </a:r>
          </a:p>
          <a:p>
            <a:r>
              <a:rPr lang="ja-JP" altLang="en-US" b="1" dirty="0"/>
              <a:t>・</a:t>
            </a:r>
            <a:r>
              <a:rPr lang="en-US" altLang="ja-JP" b="1" dirty="0"/>
              <a:t>WordPress = </a:t>
            </a:r>
            <a:r>
              <a:rPr lang="ja-JP" altLang="en-US" b="1" dirty="0"/>
              <a:t>表示／管理専用</a:t>
            </a:r>
          </a:p>
          <a:p>
            <a:r>
              <a:rPr lang="ja-JP" altLang="en-US" b="1" dirty="0"/>
              <a:t>・疎結合により独立デプロイ可能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595733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C61C3-5E9D-6784-E91F-671F34878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167C22-8C91-219B-F44C-E092449207BD}"/>
              </a:ext>
            </a:extLst>
          </p:cNvPr>
          <p:cNvSpPr txBox="1"/>
          <p:nvPr/>
        </p:nvSpPr>
        <p:spPr>
          <a:xfrm>
            <a:off x="1123721" y="399258"/>
            <a:ext cx="35143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/>
              <a:t>全体まとめ</a:t>
            </a:r>
            <a:endParaRPr kumimoji="1" lang="ja-JP" altLang="en-US" sz="3200" b="1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7C6C354-D734-5E2B-2A6E-599E435C4E93}"/>
              </a:ext>
            </a:extLst>
          </p:cNvPr>
          <p:cNvSpPr txBox="1"/>
          <p:nvPr/>
        </p:nvSpPr>
        <p:spPr>
          <a:xfrm>
            <a:off x="980503" y="1441137"/>
            <a:ext cx="98490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b="1" dirty="0"/>
              <a:t>・フロントと</a:t>
            </a:r>
            <a:r>
              <a:rPr lang="en-US" altLang="ja-JP" sz="3600" b="1" dirty="0"/>
              <a:t>CMS</a:t>
            </a:r>
            <a:r>
              <a:rPr lang="ja-JP" altLang="en-US" sz="3600" b="1" dirty="0"/>
              <a:t>を分離</a:t>
            </a:r>
          </a:p>
          <a:p>
            <a:r>
              <a:rPr lang="ja-JP" altLang="en-US" sz="3600" b="1" dirty="0"/>
              <a:t>・デプロイ自動化（</a:t>
            </a:r>
            <a:r>
              <a:rPr lang="en-US" altLang="ja-JP" sz="3600" b="1" dirty="0"/>
              <a:t>Git push</a:t>
            </a:r>
            <a:r>
              <a:rPr lang="ja-JP" altLang="en-US" sz="3600" b="1" dirty="0"/>
              <a:t>のみ）</a:t>
            </a:r>
          </a:p>
          <a:p>
            <a:r>
              <a:rPr lang="ja-JP" altLang="en-US" sz="3600" b="1" dirty="0"/>
              <a:t>・</a:t>
            </a:r>
            <a:r>
              <a:rPr lang="en-US" altLang="ja-JP" sz="3600" b="1" dirty="0"/>
              <a:t>WordPress</a:t>
            </a:r>
            <a:r>
              <a:rPr lang="ja-JP" altLang="en-US" sz="3600" b="1" dirty="0"/>
              <a:t>側の修正不要</a:t>
            </a:r>
          </a:p>
          <a:p>
            <a:r>
              <a:rPr lang="ja-JP" altLang="en-US" sz="3600" b="1" dirty="0"/>
              <a:t>・無停止リリース可能</a:t>
            </a:r>
          </a:p>
          <a:p>
            <a:r>
              <a:rPr lang="ja-JP" altLang="en-US" sz="3600" b="1" dirty="0"/>
              <a:t>・将来の拡張（</a:t>
            </a:r>
            <a:r>
              <a:rPr lang="en-US" altLang="ja-JP" sz="3600" b="1" dirty="0" err="1"/>
              <a:t>Supabase</a:t>
            </a:r>
            <a:r>
              <a:rPr lang="en-US" altLang="ja-JP" sz="3600" b="1" dirty="0"/>
              <a:t>/API</a:t>
            </a:r>
            <a:r>
              <a:rPr lang="ja-JP" altLang="en-US" sz="3600" b="1" dirty="0"/>
              <a:t>追加）も容易</a:t>
            </a:r>
          </a:p>
        </p:txBody>
      </p:sp>
    </p:spTree>
    <p:extLst>
      <p:ext uri="{BB962C8B-B14F-4D97-AF65-F5344CB8AC3E}">
        <p14:creationId xmlns:p14="http://schemas.microsoft.com/office/powerpoint/2010/main" val="20857927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A883F-789C-BCE3-4741-E33B8799A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F97673B-D5D2-7A4A-0EEF-E53EAF276948}"/>
              </a:ext>
            </a:extLst>
          </p:cNvPr>
          <p:cNvSpPr txBox="1"/>
          <p:nvPr/>
        </p:nvSpPr>
        <p:spPr>
          <a:xfrm>
            <a:off x="567369" y="476376"/>
            <a:ext cx="35143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/>
              <a:t>今後の拡張予定</a:t>
            </a:r>
            <a:endParaRPr kumimoji="1" lang="ja-JP" altLang="en-US" sz="3200" b="1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F0ED485-0D97-24C0-6F24-B9D7310A2D18}"/>
              </a:ext>
            </a:extLst>
          </p:cNvPr>
          <p:cNvSpPr txBox="1"/>
          <p:nvPr/>
        </p:nvSpPr>
        <p:spPr>
          <a:xfrm>
            <a:off x="567369" y="1305789"/>
            <a:ext cx="108295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2800" b="1" dirty="0"/>
              <a:t>画像アップロード（ロゴ・写真追加）</a:t>
            </a:r>
            <a:endParaRPr lang="en-US" altLang="ja-JP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2800" b="1" dirty="0"/>
              <a:t>テンプレート追加・共有</a:t>
            </a:r>
            <a:endParaRPr lang="en-US" altLang="ja-JP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b="1" dirty="0"/>
              <a:t>PDF / </a:t>
            </a:r>
            <a:r>
              <a:rPr lang="ja-JP" altLang="en-US" sz="2800" b="1" dirty="0"/>
              <a:t>印刷最適化出力</a:t>
            </a:r>
            <a:endParaRPr lang="en-US" altLang="zh-TW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2800" b="1" dirty="0"/>
              <a:t>アカウント連携（複数端末同期）</a:t>
            </a:r>
            <a:endParaRPr lang="en-US" altLang="ja-JP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b="1" dirty="0"/>
              <a:t>API</a:t>
            </a:r>
            <a:r>
              <a:rPr lang="ja-JP" altLang="en-US" sz="2800" b="1" dirty="0"/>
              <a:t>連携 </a:t>
            </a:r>
            <a:r>
              <a:rPr lang="en-US" altLang="ja-JP" sz="2800" b="1" dirty="0"/>
              <a:t>/ </a:t>
            </a:r>
            <a:r>
              <a:rPr lang="ja-JP" altLang="en-US" sz="2800" b="1" dirty="0"/>
              <a:t>外部サービス統合（</a:t>
            </a:r>
            <a:r>
              <a:rPr lang="en-US" altLang="ja-JP" sz="2800" b="1" dirty="0" err="1"/>
              <a:t>Supabase</a:t>
            </a:r>
            <a:r>
              <a:rPr lang="en-US" altLang="ja-JP" sz="2800" b="1" dirty="0"/>
              <a:t> / NFC / </a:t>
            </a:r>
            <a:r>
              <a:rPr lang="ja-JP" altLang="en-US" sz="2800" b="1" dirty="0"/>
              <a:t>決済 など）</a:t>
            </a:r>
            <a:endParaRPr lang="en-US" altLang="ja-JP" sz="2800" b="1" dirty="0"/>
          </a:p>
          <a:p>
            <a:r>
              <a:rPr lang="en-US" altLang="ja-JP" sz="2800" b="1" dirty="0"/>
              <a:t>※ </a:t>
            </a:r>
            <a:r>
              <a:rPr lang="ja-JP" altLang="en-US" sz="2800" b="1" dirty="0"/>
              <a:t>一部機能は別バージョンで実装・検証済み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CA1E83C-C303-89B6-88A9-2BD131BEA055}"/>
              </a:ext>
            </a:extLst>
          </p:cNvPr>
          <p:cNvSpPr txBox="1"/>
          <p:nvPr/>
        </p:nvSpPr>
        <p:spPr>
          <a:xfrm>
            <a:off x="567369" y="4305202"/>
            <a:ext cx="104219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/>
              <a:t>この構成により、機能追加・スケールにも柔軟に対応可能です</a:t>
            </a:r>
            <a:endParaRPr lang="en-US" altLang="ja-JP" sz="2800" b="1" dirty="0"/>
          </a:p>
          <a:p>
            <a:r>
              <a:rPr kumimoji="1" lang="ja-JP" altLang="en-US" sz="2800" b="1" dirty="0"/>
              <a:t>アイディアのご提案よろしくお願いいたします</a:t>
            </a:r>
            <a:r>
              <a:rPr kumimoji="1" lang="en-US" altLang="ja-JP" sz="2800" b="1" dirty="0"/>
              <a:t>(__)</a:t>
            </a:r>
            <a:endParaRPr kumimoji="1" lang="ja-JP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669871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1712</Words>
  <Application>Microsoft Office PowerPoint</Application>
  <PresentationFormat>ワイド画面</PresentationFormat>
  <Paragraphs>282</Paragraphs>
  <Slides>29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29</vt:i4>
      </vt:variant>
    </vt:vector>
  </HeadingPairs>
  <TitlesOfParts>
    <vt:vector size="36" baseType="lpstr">
      <vt:lpstr>Adobe Fan Heiti Std B</vt:lpstr>
      <vt:lpstr>游ゴシック</vt:lpstr>
      <vt:lpstr>游ゴシック Light</vt:lpstr>
      <vt:lpstr>Aptos</vt:lpstr>
      <vt:lpstr>Arial</vt:lpstr>
      <vt:lpstr>Wingdings</vt:lpstr>
      <vt:lpstr>Office テーマ</vt:lpstr>
      <vt:lpstr>CardCraft 名刺デザインエディタ  React / Next.js 製・WordPress埋め込み対応</vt:lpstr>
      <vt:lpstr>SECTION 1 仕様編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SECTION 2 技術設計編</vt:lpstr>
      <vt:lpstr>全体構成</vt:lpstr>
      <vt:lpstr>1.全体構成（Architecture）</vt:lpstr>
      <vt:lpstr>用語解説</vt:lpstr>
      <vt:lpstr>内部設計</vt:lpstr>
      <vt:lpstr>編集処理の流れ (Data Flow)</vt:lpstr>
      <vt:lpstr>内部構造 (CardEditor.tsx中心の役割分担)</vt:lpstr>
      <vt:lpstr>PowerPoint プレゼンテーション</vt:lpstr>
      <vt:lpstr>PowerPoint プレゼンテーション</vt:lpstr>
      <vt:lpstr>SECTION 3 実装編</vt:lpstr>
      <vt:lpstr>状態管理 / Hooks設計</vt:lpstr>
      <vt:lpstr>編集データ管理 (State / Hooks の役割)</vt:lpstr>
      <vt:lpstr>処理ロジック（Hooks の役割）-1</vt:lpstr>
      <vt:lpstr>状態管理の中身（CardCraftでは何を持っている？）</vt:lpstr>
      <vt:lpstr>処理ロジック（Hooks の役割）-2</vt:lpstr>
      <vt:lpstr>PowerPoint プレゼンテーション</vt:lpstr>
      <vt:lpstr>SECTION 4 運用編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Owner</dc:creator>
  <cp:lastModifiedBy>Owner</cp:lastModifiedBy>
  <cp:revision>15</cp:revision>
  <dcterms:created xsi:type="dcterms:W3CDTF">2026-02-02T05:40:05Z</dcterms:created>
  <dcterms:modified xsi:type="dcterms:W3CDTF">2026-02-03T06:30:30Z</dcterms:modified>
</cp:coreProperties>
</file>