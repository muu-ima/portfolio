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7" r:id="rId3"/>
    <p:sldId id="274" r:id="rId4"/>
    <p:sldId id="290" r:id="rId5"/>
    <p:sldId id="288" r:id="rId6"/>
    <p:sldId id="291" r:id="rId7"/>
    <p:sldId id="275" r:id="rId8"/>
    <p:sldId id="292" r:id="rId9"/>
    <p:sldId id="256" r:id="rId10"/>
    <p:sldId id="294" r:id="rId11"/>
    <p:sldId id="295" r:id="rId12"/>
    <p:sldId id="296" r:id="rId13"/>
    <p:sldId id="297" r:id="rId14"/>
    <p:sldId id="289" r:id="rId15"/>
    <p:sldId id="298" r:id="rId16"/>
    <p:sldId id="300" r:id="rId17"/>
    <p:sldId id="299" r:id="rId18"/>
    <p:sldId id="301" r:id="rId19"/>
    <p:sldId id="302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C3A33A-8815-02C7-23CC-45B87AA5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86B96B-6492-7D9A-848D-0D5606B63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D90E12-3F35-23CD-64BF-A5CD423A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86E97C-FC5D-BFA1-B724-F2EBD7AF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E064D-1FD2-48BD-CDB9-48450957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51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07005-5F57-2BEB-A2FD-F730A00A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5D732A-DB22-E68C-8A28-EF2B99B84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D6AB4-C85C-5EC1-3872-3FC23F71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25322D-58CF-A37D-6D5C-F0147B2D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6C570C-4E47-8EBD-79A3-0278B2B8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07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C3F38-530F-25A6-9B89-FF5F9D06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415BD5-E7ED-6928-78FA-6A8ADA66B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A320D1-206D-9F9E-35BF-9ACD7948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E62964-CFD0-F239-F1B8-B3D2A428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358731-3F80-ABD9-260E-27372241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1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7CFBAE-1836-ACD5-B727-DA5F436E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DBB32-5620-147C-5296-11A5BC6BA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32B8DD-7E19-9F56-9DE4-B6CE70FD1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D2CB29-784D-E6F0-ACE3-D5324988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1ADEC8-F909-438F-17AB-804B77CF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736F61-2409-69A1-EA37-BAE5F6E1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31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0E94C2-CD9D-79BC-6160-B0D9676E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77E9E7-B020-E4BE-C556-4B20F5CF7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813E70-96AB-9F2C-3368-066A94B5F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A53824F-E2F8-C9AF-5E71-DA73DDC65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845C4A-213D-12FC-9782-B4A9BA97C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4755E0-1A05-F46C-31E2-97ACC7E4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A96886-AA98-908A-8FAC-6328CDFA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2A481D1-765A-7BD3-3952-62F82B79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30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41580-86B4-25CB-33E6-13E337BB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8DEF78-76BD-F1C7-88C4-58B21E20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EFE034A-0547-E306-83CC-24692372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6517FC-6EE0-B864-A41E-FB8B780B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0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85E75F-9B59-8084-0D8C-1C63B8615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D7010E2-70D1-DB2F-9FBF-CE21225B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532CB7-D848-3D51-EB3C-A7C032FD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79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F7176C-C634-5086-28A3-86DFC577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FBE43-8213-A542-3543-1FB253BEB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D934E9-A162-990B-C81D-D38B92B43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0CC3B1-5C68-E51F-0476-44312A1D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DF4F86-D76B-A074-489A-83044732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6373C9-8219-7A76-1464-5E550B47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54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DEEBB-19C8-91E5-0E24-92A8E354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1281DA-E82E-0241-B62B-31000A482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2B0A0A-67E8-CB99-56B5-EFAD4E3ED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9A6002-F1BD-48A8-7B0A-2B391F03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EA5D18-B5FB-456E-935F-A75C7F41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694E9F-9681-E548-DF48-9B6E46C9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52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305CA-B14F-4074-8A81-7558E78D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5174CF-74FD-6BAA-AB45-E0C341097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5434A9-B2C1-D0D8-A770-3D5680F1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D12C3-C606-462E-30AE-BD2FECE0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2E5D0D-236F-6580-4468-AD53E970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71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93CFB8E-3F5E-E637-7A9E-9C5EB3789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53776B-84F2-7792-5511-3F84B1F47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9346E4-05E7-88F5-89CB-86DDA075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F534A5-1B45-5689-5000-1DDD2251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6C770E-A3EE-F599-4277-7C9D22E9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9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D280A2-4DFA-7A0E-2238-7E48DFA70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4333BD-1AB3-64D7-6643-B0D1FE98F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5F5650-92AD-5EFB-F0F5-AA44D1A70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87314-7BA6-4550-9F0C-3199F047EF5C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DF0DBD-B39E-F739-90D1-63BCF974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C08432-52C0-4663-BD04-F5CFD12BA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89528-9D7F-47DB-8C1C-88BF87848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55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19721F-9753-B3A8-5647-951C04821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215" y="486076"/>
            <a:ext cx="3932237" cy="2517006"/>
          </a:xfrm>
        </p:spPr>
        <p:txBody>
          <a:bodyPr>
            <a:normAutofit/>
          </a:bodyPr>
          <a:lstStyle/>
          <a:p>
            <a:r>
              <a:rPr lang="en-US" altLang="ja-JP" sz="4000" b="1" dirty="0" err="1">
                <a:latin typeface="+mn-lt"/>
              </a:rPr>
              <a:t>CardCraft</a:t>
            </a:r>
            <a:br>
              <a:rPr lang="en-US" altLang="ja-JP" dirty="0"/>
            </a:br>
            <a:r>
              <a:rPr lang="ja-JP" altLang="en-US" sz="2800" dirty="0"/>
              <a:t>名刺デザインエディタ</a:t>
            </a:r>
            <a:br>
              <a:rPr lang="en-US" altLang="ja-JP" sz="2800" dirty="0"/>
            </a:br>
            <a:br>
              <a:rPr lang="en-US" altLang="ja-JP" sz="2800" dirty="0"/>
            </a:br>
            <a:r>
              <a:rPr lang="en-US" altLang="ja-JP" sz="2400" dirty="0"/>
              <a:t>React / Next.js </a:t>
            </a:r>
            <a:r>
              <a:rPr lang="ja-JP" altLang="en-US" sz="2400" dirty="0"/>
              <a:t>製・</a:t>
            </a:r>
            <a:r>
              <a:rPr lang="en-US" altLang="ja-JP" sz="2400" dirty="0"/>
              <a:t>WordPress</a:t>
            </a:r>
            <a:r>
              <a:rPr lang="ja-JP" altLang="en-US" sz="2400" dirty="0"/>
              <a:t>埋め込み対応</a:t>
            </a:r>
            <a:endParaRPr kumimoji="1" lang="ja-JP" altLang="en-US" sz="24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08C67D-441E-5C83-6564-B84E0CC1A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473" y="3185962"/>
            <a:ext cx="4155722" cy="1147913"/>
          </a:xfrm>
        </p:spPr>
        <p:txBody>
          <a:bodyPr/>
          <a:lstStyle/>
          <a:p>
            <a:r>
              <a:rPr lang="ja-JP" altLang="en-US" dirty="0"/>
              <a:t>・</a:t>
            </a:r>
            <a:r>
              <a:rPr lang="en-US" altLang="ja-JP" dirty="0"/>
              <a:t>Web</a:t>
            </a:r>
            <a:r>
              <a:rPr lang="ja-JP" altLang="en-US" dirty="0"/>
              <a:t>上で動作する名刺編集ツール</a:t>
            </a:r>
            <a:endParaRPr lang="en-US" altLang="ja-JP" dirty="0"/>
          </a:p>
          <a:p>
            <a:r>
              <a:rPr lang="ja-JP" altLang="en-US" dirty="0"/>
              <a:t>・テキスト</a:t>
            </a:r>
            <a:r>
              <a:rPr lang="en-US" altLang="ja-JP" dirty="0"/>
              <a:t>/</a:t>
            </a:r>
            <a:r>
              <a:rPr lang="ja-JP" altLang="en-US" dirty="0"/>
              <a:t>画像をブロック単位で自由配置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WordPress</a:t>
            </a:r>
            <a:r>
              <a:rPr lang="ja-JP" altLang="en-US" dirty="0"/>
              <a:t>に</a:t>
            </a:r>
            <a:r>
              <a:rPr lang="en-US" altLang="ja-JP" dirty="0" err="1"/>
              <a:t>iframe</a:t>
            </a:r>
            <a:r>
              <a:rPr lang="ja-JP" altLang="en-US" dirty="0"/>
              <a:t>で埋め込み可能</a:t>
            </a:r>
            <a:endParaRPr kumimoji="1" lang="ja-JP" altLang="en-US" dirty="0"/>
          </a:p>
        </p:txBody>
      </p:sp>
      <p:pic>
        <p:nvPicPr>
          <p:cNvPr id="17" name="図 1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0A9B3D0-6AB0-D403-BA27-97EDECCA8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273" y="1904467"/>
            <a:ext cx="6639254" cy="3264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1D397E-63FE-4583-5096-1386D5C77F7E}"/>
              </a:ext>
            </a:extLst>
          </p:cNvPr>
          <p:cNvSpPr txBox="1"/>
          <p:nvPr/>
        </p:nvSpPr>
        <p:spPr>
          <a:xfrm>
            <a:off x="677214" y="4516755"/>
            <a:ext cx="381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開発進捗レポート </a:t>
            </a:r>
            <a:r>
              <a:rPr lang="en-US" altLang="ja-JP" dirty="0"/>
              <a:t>#2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98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2A059-4D14-0710-5993-175D0AB09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1" dirty="0">
                <a:solidFill>
                  <a:srgbClr val="C00000"/>
                </a:solidFill>
                <a:latin typeface="+mn-ea"/>
                <a:ea typeface="+mn-ea"/>
              </a:rPr>
              <a:t>SECTION 1 </a:t>
            </a:r>
            <a:br>
              <a:rPr lang="en-US" altLang="ja-JP" b="1" dirty="0"/>
            </a:br>
            <a:r>
              <a:rPr lang="ja-JP" altLang="en-US" b="1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エディター仕様</a:t>
            </a:r>
            <a:endParaRPr kumimoji="1" lang="ja-JP" altLang="en-US" b="1" dirty="0"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D16B18-5966-1FC6-492B-A4849CF39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現在の機能と画面構成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1040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03F99C-E449-DEBB-9703-E76919E04C11}"/>
              </a:ext>
            </a:extLst>
          </p:cNvPr>
          <p:cNvSpPr txBox="1"/>
          <p:nvPr/>
        </p:nvSpPr>
        <p:spPr>
          <a:xfrm>
            <a:off x="512330" y="342900"/>
            <a:ext cx="4357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/>
              <a:t>1. </a:t>
            </a:r>
            <a:r>
              <a:rPr lang="ja-JP" altLang="en-US" sz="4000" b="1" dirty="0"/>
              <a:t>現在の主な機能</a:t>
            </a:r>
            <a:endParaRPr lang="ja-JP" altLang="ja-JP" sz="4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142A35-82AD-B6C7-C21C-AB8984486A17}"/>
              </a:ext>
            </a:extLst>
          </p:cNvPr>
          <p:cNvSpPr txBox="1"/>
          <p:nvPr/>
        </p:nvSpPr>
        <p:spPr>
          <a:xfrm>
            <a:off x="1099286" y="1050786"/>
            <a:ext cx="318337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テキスト編集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テキスト追加</a:t>
            </a:r>
            <a:endParaRPr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文字編集</a:t>
            </a:r>
            <a:endParaRPr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テキスト整列</a:t>
            </a:r>
            <a:endParaRPr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フォント変更</a:t>
            </a:r>
            <a:endParaRPr kumimoji="1"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文字サイズ変更</a:t>
            </a:r>
            <a:endParaRPr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文字色変更</a:t>
            </a:r>
            <a:endParaRPr kumimoji="1"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幅調整</a:t>
            </a:r>
            <a:endParaRPr lang="en-US" altLang="ja-JP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793F7F-D934-3F0F-54DB-6B6385EA8FD2}"/>
              </a:ext>
            </a:extLst>
          </p:cNvPr>
          <p:cNvSpPr txBox="1"/>
          <p:nvPr/>
        </p:nvSpPr>
        <p:spPr>
          <a:xfrm>
            <a:off x="1099286" y="3685937"/>
            <a:ext cx="485774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ja-JP" altLang="en-US" sz="2400" b="1" dirty="0"/>
              <a:t>画像編集</a:t>
            </a:r>
            <a:endParaRPr lang="en-US" altLang="ja-JP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画像アップロード</a:t>
            </a:r>
            <a:endParaRPr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画像移動 </a:t>
            </a:r>
            <a:r>
              <a:rPr lang="en-US" altLang="ja-JP" sz="2000" dirty="0"/>
              <a:t>/ </a:t>
            </a:r>
            <a:r>
              <a:rPr lang="ja-JP" altLang="en-US" sz="2000" dirty="0"/>
              <a:t>削除</a:t>
            </a:r>
            <a:endParaRPr lang="en-US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背景画像切替</a:t>
            </a:r>
            <a:endParaRPr lang="en-US" altLang="ja-JP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プレビュー</a:t>
            </a:r>
            <a:endParaRPr lang="en-US" altLang="ja-JP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Undo / Redo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画像書き出し </a:t>
            </a:r>
            <a:r>
              <a:rPr lang="en-US" altLang="ja-JP" dirty="0"/>
              <a:t>PNG / JPEG</a:t>
            </a:r>
            <a:r>
              <a:rPr lang="ja-JP" altLang="en-US" dirty="0"/>
              <a:t> ダウンロード</a:t>
            </a:r>
          </a:p>
          <a:p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9A6F08-D759-DA95-9CA0-E095DAB79B5C}"/>
              </a:ext>
            </a:extLst>
          </p:cNvPr>
          <p:cNvSpPr txBox="1"/>
          <p:nvPr/>
        </p:nvSpPr>
        <p:spPr>
          <a:xfrm>
            <a:off x="6923823" y="2553444"/>
            <a:ext cx="26193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デザイン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背景画像切り替え</a:t>
            </a:r>
          </a:p>
          <a:p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7332DC-7E03-7A84-7559-B1D7EEF999AD}"/>
              </a:ext>
            </a:extLst>
          </p:cNvPr>
          <p:cNvSpPr txBox="1"/>
          <p:nvPr/>
        </p:nvSpPr>
        <p:spPr>
          <a:xfrm>
            <a:off x="6923823" y="1082397"/>
            <a:ext cx="305752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編集操作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プレビュー表示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/>
              <a:t>Undo / Redo</a:t>
            </a:r>
          </a:p>
          <a:p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05C76C-A498-6786-12BB-A812A399C50E}"/>
              </a:ext>
            </a:extLst>
          </p:cNvPr>
          <p:cNvSpPr txBox="1"/>
          <p:nvPr/>
        </p:nvSpPr>
        <p:spPr>
          <a:xfrm>
            <a:off x="6923823" y="3685937"/>
            <a:ext cx="37727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出力</a:t>
            </a:r>
            <a:endParaRPr lang="en-US" altLang="ja-JP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画像書き出し </a:t>
            </a:r>
            <a:r>
              <a:rPr lang="en-US" altLang="ja-JP" sz="2000" dirty="0"/>
              <a:t>PNG / JPEG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7817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3092-38CB-8B3A-5385-9B7FFF2C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3CF1A7-C52C-D606-3B3F-77E5FEC0ECBC}"/>
              </a:ext>
            </a:extLst>
          </p:cNvPr>
          <p:cNvSpPr txBox="1"/>
          <p:nvPr/>
        </p:nvSpPr>
        <p:spPr>
          <a:xfrm>
            <a:off x="512330" y="250431"/>
            <a:ext cx="4357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/>
              <a:t>2. </a:t>
            </a:r>
            <a:r>
              <a:rPr lang="ja-JP" altLang="en-US" sz="4000" b="1" dirty="0"/>
              <a:t>エディター画面</a:t>
            </a:r>
            <a:endParaRPr lang="ja-JP" altLang="ja-JP" sz="4000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4A1EEC-ED52-AFC0-E110-5188B2FB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52" y="1205290"/>
            <a:ext cx="10131289" cy="5202840"/>
          </a:xfrm>
          <a:prstGeom prst="rect">
            <a:avLst/>
          </a:prstGeom>
        </p:spPr>
      </p:pic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6556F1A6-FAC3-A764-197B-7455DB2C788A}"/>
              </a:ext>
            </a:extLst>
          </p:cNvPr>
          <p:cNvSpPr/>
          <p:nvPr/>
        </p:nvSpPr>
        <p:spPr>
          <a:xfrm>
            <a:off x="7980736" y="2136772"/>
            <a:ext cx="3381375" cy="1146806"/>
          </a:xfrm>
          <a:prstGeom prst="wedgeRoundRectCallout">
            <a:avLst>
              <a:gd name="adj1" fmla="val -69284"/>
              <a:gd name="adj2" fmla="val 4339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Canvas（中央）</a:t>
            </a:r>
            <a:b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</a:rPr>
              <a:t>名刺デザインを編集する領域</a:t>
            </a: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9D5B5B19-7534-5AF3-8850-A78BC487AC01}"/>
              </a:ext>
            </a:extLst>
          </p:cNvPr>
          <p:cNvSpPr/>
          <p:nvPr/>
        </p:nvSpPr>
        <p:spPr>
          <a:xfrm>
            <a:off x="1971674" y="967851"/>
            <a:ext cx="4399522" cy="874077"/>
          </a:xfrm>
          <a:prstGeom prst="wedgeRoundRectCallout">
            <a:avLst>
              <a:gd name="adj1" fmla="val -65858"/>
              <a:gd name="adj2" fmla="val 904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ツールパネル（左）</a:t>
            </a:r>
            <a:b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</a:rPr>
              <a:t>テキスト追加 / 画像追加 / デザイン切替</a:t>
            </a: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16853D11-AAE8-B571-B6A7-402487130C81}"/>
              </a:ext>
            </a:extLst>
          </p:cNvPr>
          <p:cNvSpPr/>
          <p:nvPr/>
        </p:nvSpPr>
        <p:spPr>
          <a:xfrm>
            <a:off x="7639008" y="779422"/>
            <a:ext cx="3723103" cy="874077"/>
          </a:xfrm>
          <a:prstGeom prst="wedgeRoundRectCallout">
            <a:avLst>
              <a:gd name="adj1" fmla="val -51492"/>
              <a:gd name="adj2" fmla="val 7666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中央ツールバー（上部）</a:t>
            </a:r>
            <a:b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</a:rPr>
              <a:t>フォント / サイズ / 色などの編集</a:t>
            </a: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898B4CB0-903B-DF88-ADEF-022117DD7C03}"/>
              </a:ext>
            </a:extLst>
          </p:cNvPr>
          <p:cNvSpPr/>
          <p:nvPr/>
        </p:nvSpPr>
        <p:spPr>
          <a:xfrm>
            <a:off x="1971674" y="4783691"/>
            <a:ext cx="3200401" cy="1015310"/>
          </a:xfrm>
          <a:prstGeom prst="wedgeRoundRectCallout">
            <a:avLst>
              <a:gd name="adj1" fmla="val -59485"/>
              <a:gd name="adj2" fmla="val 6504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000" b="1" dirty="0"/>
              <a:t>プレビュー </a:t>
            </a:r>
            <a:r>
              <a:rPr lang="en-US" altLang="ja-JP" sz="2000" b="1" dirty="0"/>
              <a:t>/ </a:t>
            </a:r>
            <a:r>
              <a:rPr lang="ja-JP" altLang="en-US" sz="2000" b="1" dirty="0"/>
              <a:t>書き出し</a:t>
            </a:r>
            <a:br>
              <a:rPr lang="ja-JP" altLang="en-US" dirty="0"/>
            </a:br>
            <a:r>
              <a:rPr lang="en-US" altLang="ja-JP" dirty="0"/>
              <a:t>PNG / JPEG </a:t>
            </a:r>
            <a:r>
              <a:rPr lang="ja-JP" altLang="en-US" dirty="0"/>
              <a:t>ダウンロード</a:t>
            </a:r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C052782-D0C2-461F-3219-C27973EF93B2}"/>
              </a:ext>
            </a:extLst>
          </p:cNvPr>
          <p:cNvSpPr/>
          <p:nvPr/>
        </p:nvSpPr>
        <p:spPr>
          <a:xfrm>
            <a:off x="929720" y="1662676"/>
            <a:ext cx="283653" cy="1371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chemeClr val="accent6"/>
                </a:solidFill>
              </a:ln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CBA469-46F1-FB23-6E35-61CC394804A0}"/>
              </a:ext>
            </a:extLst>
          </p:cNvPr>
          <p:cNvSpPr/>
          <p:nvPr/>
        </p:nvSpPr>
        <p:spPr>
          <a:xfrm>
            <a:off x="929720" y="5560279"/>
            <a:ext cx="283653" cy="85902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9F68AD-DB8F-AF91-2B47-A80A64CFB6CE}"/>
              </a:ext>
            </a:extLst>
          </p:cNvPr>
          <p:cNvSpPr/>
          <p:nvPr/>
        </p:nvSpPr>
        <p:spPr>
          <a:xfrm>
            <a:off x="4515843" y="1863487"/>
            <a:ext cx="3200401" cy="3128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9BEEE35-757D-B2E0-E768-9CAB76A84A7D}"/>
              </a:ext>
            </a:extLst>
          </p:cNvPr>
          <p:cNvSpPr/>
          <p:nvPr/>
        </p:nvSpPr>
        <p:spPr>
          <a:xfrm>
            <a:off x="4643437" y="2680602"/>
            <a:ext cx="2905125" cy="19714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23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22C74-3A92-D717-ACB6-B7078D6B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E5400-D02E-C8EE-054D-D726D875F4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1" dirty="0">
                <a:solidFill>
                  <a:srgbClr val="C00000"/>
                </a:solidFill>
                <a:latin typeface="+mn-ea"/>
                <a:ea typeface="+mn-ea"/>
              </a:rPr>
              <a:t>SECTION 2 </a:t>
            </a:r>
            <a:br>
              <a:rPr lang="en-US" altLang="ja-JP" b="1" dirty="0"/>
            </a:br>
            <a:r>
              <a:rPr lang="ja-JP" altLang="en-US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実装の難しさ</a:t>
            </a:r>
            <a:endParaRPr kumimoji="1" lang="ja-JP" altLang="en-US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22FE69A9-1AD8-C6D7-3A22-9DA6A0772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エディターの主な課題</a:t>
            </a:r>
          </a:p>
        </p:txBody>
      </p:sp>
    </p:spTree>
    <p:extLst>
      <p:ext uri="{BB962C8B-B14F-4D97-AF65-F5344CB8AC3E}">
        <p14:creationId xmlns:p14="http://schemas.microsoft.com/office/powerpoint/2010/main" val="176159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76C2-8071-48EE-2CE6-83E3854B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3B9506-FC19-F286-C50C-BDA3B69BE7F9}"/>
              </a:ext>
            </a:extLst>
          </p:cNvPr>
          <p:cNvSpPr txBox="1"/>
          <p:nvPr/>
        </p:nvSpPr>
        <p:spPr>
          <a:xfrm>
            <a:off x="512330" y="342900"/>
            <a:ext cx="4649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/>
              <a:t>1. Canvas</a:t>
            </a:r>
            <a:r>
              <a:rPr lang="ja-JP" altLang="en-US" sz="4000" b="1" dirty="0"/>
              <a:t>座標管理</a:t>
            </a:r>
            <a:endParaRPr lang="ja-JP" altLang="ja-JP" sz="4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CCBB0C-3BFF-C1D5-61A2-3D37F33A1466}"/>
              </a:ext>
            </a:extLst>
          </p:cNvPr>
          <p:cNvSpPr txBox="1"/>
          <p:nvPr/>
        </p:nvSpPr>
        <p:spPr>
          <a:xfrm>
            <a:off x="355145" y="1059120"/>
            <a:ext cx="9511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①名刺デザインはキャンバス上で自由に配置できる必要があります。</a:t>
            </a:r>
            <a:endParaRPr lang="en-US" altLang="ja-JP" sz="2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29A318-1641-CF11-AF9B-0B77D17B02C3}"/>
              </a:ext>
            </a:extLst>
          </p:cNvPr>
          <p:cNvSpPr txBox="1"/>
          <p:nvPr/>
        </p:nvSpPr>
        <p:spPr>
          <a:xfrm>
            <a:off x="388504" y="145923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・テキスト</a:t>
            </a:r>
            <a:br>
              <a:rPr lang="ja-JP" altLang="en-US" b="1" dirty="0"/>
            </a:br>
            <a:r>
              <a:rPr lang="ja-JP" altLang="en-US" b="1" dirty="0"/>
              <a:t>・画像</a:t>
            </a:r>
            <a:br>
              <a:rPr lang="ja-JP" altLang="en-US" b="1" dirty="0"/>
            </a:br>
            <a:r>
              <a:rPr lang="ja-JP" altLang="en-US" b="1" dirty="0"/>
              <a:t>・ブロック</a:t>
            </a:r>
            <a:br>
              <a:rPr lang="ja-JP" altLang="en-US" dirty="0"/>
            </a:br>
            <a:r>
              <a:rPr lang="ja-JP" altLang="en-US" dirty="0"/>
              <a:t>これらを座標ベースで管理する必要があります。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D4CF8C-D0CE-B1B6-F5AA-159C71301E72}"/>
              </a:ext>
            </a:extLst>
          </p:cNvPr>
          <p:cNvSpPr txBox="1"/>
          <p:nvPr/>
        </p:nvSpPr>
        <p:spPr>
          <a:xfrm>
            <a:off x="355145" y="2667893"/>
            <a:ext cx="4806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② モバイル表示とスケール補正</a:t>
            </a:r>
            <a:endParaRPr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D2BF6A-7A8F-D65F-BFA2-7CDA396784FE}"/>
              </a:ext>
            </a:extLst>
          </p:cNvPr>
          <p:cNvSpPr txBox="1"/>
          <p:nvPr/>
        </p:nvSpPr>
        <p:spPr>
          <a:xfrm>
            <a:off x="388504" y="3068002"/>
            <a:ext cx="48062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モバイルではキャンバスを縮小表示している</a:t>
            </a:r>
            <a:br>
              <a:rPr lang="ja-JP" altLang="en-US" dirty="0"/>
            </a:br>
            <a:r>
              <a:rPr lang="ja-JP" altLang="en-US" dirty="0"/>
              <a:t>そのため</a:t>
            </a:r>
            <a:br>
              <a:rPr lang="ja-JP" altLang="en-US" dirty="0"/>
            </a:br>
            <a:r>
              <a:rPr lang="ja-JP" altLang="en-US" b="1" dirty="0"/>
              <a:t>・表示サイズ</a:t>
            </a:r>
            <a:br>
              <a:rPr lang="ja-JP" altLang="en-US" b="1" dirty="0"/>
            </a:br>
            <a:r>
              <a:rPr lang="ja-JP" altLang="en-US" b="1" dirty="0"/>
              <a:t>・実際の座標</a:t>
            </a:r>
            <a:br>
              <a:rPr lang="ja-JP" altLang="en-US" dirty="0"/>
            </a:br>
            <a:r>
              <a:rPr lang="ja-JP" altLang="en-US" dirty="0"/>
              <a:t>を一致させる処理の必要があります。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D31F816-896F-722A-5424-7B73311E9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050" y="2851280"/>
            <a:ext cx="6281477" cy="32258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21F63E-39A2-8FEC-15C9-E5BE68CF53D4}"/>
              </a:ext>
            </a:extLst>
          </p:cNvPr>
          <p:cNvSpPr txBox="1"/>
          <p:nvPr/>
        </p:nvSpPr>
        <p:spPr>
          <a:xfrm>
            <a:off x="7305675" y="2281893"/>
            <a:ext cx="260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例）モバイル対応画像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0BDF4E3-1156-9FC9-D69B-072642D784C4}"/>
              </a:ext>
            </a:extLst>
          </p:cNvPr>
          <p:cNvSpPr txBox="1"/>
          <p:nvPr/>
        </p:nvSpPr>
        <p:spPr>
          <a:xfrm>
            <a:off x="388504" y="4745384"/>
            <a:ext cx="52693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エディターは普通のフォームアプリと違って</a:t>
            </a:r>
            <a:br>
              <a:rPr lang="ja-JP" altLang="en-US" sz="2000" b="1" dirty="0"/>
            </a:br>
            <a:r>
              <a:rPr lang="ja-JP" altLang="en-US" sz="2000" b="1" dirty="0"/>
              <a:t>「配置」「座標」「編集状態」「履歴」</a:t>
            </a:r>
            <a:endParaRPr lang="en-US" altLang="ja-JP" sz="2000" b="1" dirty="0"/>
          </a:p>
          <a:p>
            <a:r>
              <a:rPr lang="ja-JP" altLang="en-US" sz="2000" b="1" dirty="0"/>
              <a:t>を同時に扱う必要があるため</a:t>
            </a:r>
            <a:br>
              <a:rPr lang="ja-JP" altLang="en-US" sz="2000" b="1" dirty="0"/>
            </a:br>
            <a:r>
              <a:rPr lang="ja-JP" altLang="en-US" sz="2000" b="1" dirty="0"/>
              <a:t>フロントエンド実装の中でも</a:t>
            </a:r>
            <a:br>
              <a:rPr lang="ja-JP" altLang="en-US" sz="2000" b="1" dirty="0"/>
            </a:br>
            <a:r>
              <a:rPr lang="ja-JP" altLang="en-US" sz="2000" b="1" dirty="0"/>
              <a:t>特に難易度が高い領域になります。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43004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37E4BC-2E26-4C5D-5ADE-D9818F9A4E38}"/>
              </a:ext>
            </a:extLst>
          </p:cNvPr>
          <p:cNvSpPr txBox="1"/>
          <p:nvPr/>
        </p:nvSpPr>
        <p:spPr>
          <a:xfrm>
            <a:off x="381000" y="361950"/>
            <a:ext cx="5868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2.</a:t>
            </a:r>
            <a:r>
              <a:rPr lang="ja-JP" altLang="en-US" sz="3200" b="1" dirty="0"/>
              <a:t>なぜエディターは難しいのか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825D8E-46D7-40E7-E5F2-BC2AE82B5BF2}"/>
              </a:ext>
            </a:extLst>
          </p:cNvPr>
          <p:cNvSpPr txBox="1"/>
          <p:nvPr/>
        </p:nvSpPr>
        <p:spPr>
          <a:xfrm>
            <a:off x="381000" y="946725"/>
            <a:ext cx="26837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通常の</a:t>
            </a:r>
            <a:r>
              <a:rPr lang="en-US" altLang="ja-JP" sz="2400" b="1" dirty="0"/>
              <a:t>Web</a:t>
            </a:r>
            <a:r>
              <a:rPr lang="ja-JP" altLang="en-US" sz="2400" b="1" dirty="0"/>
              <a:t>アプリ</a:t>
            </a:r>
            <a:endParaRPr lang="en-US" altLang="ja-JP" sz="2400" b="1" dirty="0"/>
          </a:p>
          <a:p>
            <a:r>
              <a:rPr lang="ja-JP" altLang="en-US" dirty="0"/>
              <a:t>入力 → 保存 → 表示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514AC0-75BE-4714-5A37-AAF52393A224}"/>
              </a:ext>
            </a:extLst>
          </p:cNvPr>
          <p:cNvSpPr txBox="1"/>
          <p:nvPr/>
        </p:nvSpPr>
        <p:spPr>
          <a:xfrm>
            <a:off x="504826" y="1639220"/>
            <a:ext cx="2294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例</a:t>
            </a:r>
          </a:p>
          <a:p>
            <a:r>
              <a:rPr lang="ja-JP" altLang="en-US" dirty="0"/>
              <a:t>フォーム入力</a:t>
            </a:r>
          </a:p>
          <a:p>
            <a:r>
              <a:rPr lang="ja-JP" altLang="en-US" dirty="0"/>
              <a:t>データ保存</a:t>
            </a:r>
          </a:p>
          <a:p>
            <a:r>
              <a:rPr lang="ja-JP" altLang="en-US" dirty="0"/>
              <a:t>一覧表示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9222D2F6-5756-C4DA-0F14-D874ABEE38F9}"/>
              </a:ext>
            </a:extLst>
          </p:cNvPr>
          <p:cNvSpPr/>
          <p:nvPr/>
        </p:nvSpPr>
        <p:spPr>
          <a:xfrm>
            <a:off x="3052572" y="1685389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05BC0E-4F02-3E09-8C09-B1F09CB3C773}"/>
              </a:ext>
            </a:extLst>
          </p:cNvPr>
          <p:cNvSpPr txBox="1"/>
          <p:nvPr/>
        </p:nvSpPr>
        <p:spPr>
          <a:xfrm>
            <a:off x="3900487" y="1626054"/>
            <a:ext cx="1963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ユーザー操作 </a:t>
            </a:r>
            <a:endParaRPr lang="en-US" altLang="ja-JP" b="1" dirty="0"/>
          </a:p>
          <a:p>
            <a:r>
              <a:rPr lang="ja-JP" altLang="en-US" b="1" dirty="0"/>
              <a:t>↓ </a:t>
            </a:r>
            <a:endParaRPr lang="en-US" altLang="ja-JP" b="1" dirty="0"/>
          </a:p>
          <a:p>
            <a:r>
              <a:rPr lang="ja-JP" altLang="en-US" b="1" dirty="0"/>
              <a:t>データ更新</a:t>
            </a:r>
            <a:endParaRPr kumimoji="1" lang="ja-JP" altLang="en-US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B99070-C6FE-B9BD-54D8-7A0EAA61A5EC}"/>
              </a:ext>
            </a:extLst>
          </p:cNvPr>
          <p:cNvSpPr txBox="1"/>
          <p:nvPr/>
        </p:nvSpPr>
        <p:spPr>
          <a:xfrm>
            <a:off x="504826" y="2967335"/>
            <a:ext cx="2047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/>
              <a:t>エディター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7EF4AFA-97EC-A397-0204-AF8EF8CFB5CC}"/>
              </a:ext>
            </a:extLst>
          </p:cNvPr>
          <p:cNvSpPr txBox="1"/>
          <p:nvPr/>
        </p:nvSpPr>
        <p:spPr>
          <a:xfrm>
            <a:off x="504826" y="3429000"/>
            <a:ext cx="41243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+mj-ea"/>
                <a:ea typeface="+mj-ea"/>
              </a:rPr>
              <a:t>エディターはこれが同時に発生します。</a:t>
            </a:r>
            <a:endParaRPr lang="en-US" altLang="ja-JP" dirty="0">
              <a:latin typeface="+mj-ea"/>
              <a:ea typeface="+mj-ea"/>
            </a:endParaRPr>
          </a:p>
          <a:p>
            <a:r>
              <a:rPr lang="zh-TW" altLang="en-US" sz="2000" b="1" dirty="0">
                <a:latin typeface="+mj-ea"/>
                <a:ea typeface="+mj-ea"/>
              </a:rPr>
              <a:t>配置</a:t>
            </a:r>
            <a:br>
              <a:rPr lang="zh-TW" altLang="en-US" sz="2000" b="1" dirty="0">
                <a:latin typeface="+mj-ea"/>
                <a:ea typeface="+mj-ea"/>
              </a:rPr>
            </a:br>
            <a:r>
              <a:rPr lang="zh-TW" altLang="en-US" sz="2000" b="1" dirty="0">
                <a:latin typeface="+mj-ea"/>
                <a:ea typeface="+mj-ea"/>
              </a:rPr>
              <a:t>座標</a:t>
            </a:r>
            <a:br>
              <a:rPr lang="zh-TW" altLang="en-US" sz="2000" b="1" dirty="0">
                <a:latin typeface="+mj-ea"/>
                <a:ea typeface="+mj-ea"/>
              </a:rPr>
            </a:br>
            <a:r>
              <a:rPr lang="zh-TW" altLang="en-US" sz="2000" b="1" dirty="0">
                <a:latin typeface="+mj-lt"/>
                <a:ea typeface="+mj-ea"/>
              </a:rPr>
              <a:t>編集状態</a:t>
            </a:r>
            <a:br>
              <a:rPr lang="zh-TW" altLang="en-US" sz="2000" b="1" dirty="0">
                <a:latin typeface="+mj-ea"/>
                <a:ea typeface="+mj-ea"/>
              </a:rPr>
            </a:br>
            <a:r>
              <a:rPr lang="zh-TW" altLang="en-US" sz="2000" b="1" dirty="0">
                <a:latin typeface="+mj-ea"/>
                <a:ea typeface="+mj-ea"/>
              </a:rPr>
              <a:t>履歴</a:t>
            </a:r>
            <a:endParaRPr kumimoji="1" lang="ja-JP" altLang="en-US" sz="2000" b="1" dirty="0">
              <a:latin typeface="+mj-ea"/>
              <a:ea typeface="+mj-ea"/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00B332D7-190B-206F-741F-3BED8DA3F031}"/>
              </a:ext>
            </a:extLst>
          </p:cNvPr>
          <p:cNvSpPr/>
          <p:nvPr/>
        </p:nvSpPr>
        <p:spPr>
          <a:xfrm>
            <a:off x="4619813" y="3986903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778E7D1-5435-88F7-C625-131D077DA6F1}"/>
              </a:ext>
            </a:extLst>
          </p:cNvPr>
          <p:cNvSpPr txBox="1"/>
          <p:nvPr/>
        </p:nvSpPr>
        <p:spPr>
          <a:xfrm>
            <a:off x="5268269" y="3198167"/>
            <a:ext cx="19632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ユーザー操作</a:t>
            </a:r>
          </a:p>
          <a:p>
            <a:r>
              <a:rPr lang="ja-JP" altLang="en-US" b="1" dirty="0"/>
              <a:t>↓</a:t>
            </a:r>
          </a:p>
          <a:p>
            <a:r>
              <a:rPr lang="en-US" altLang="ja-JP" b="1" dirty="0"/>
              <a:t>UI</a:t>
            </a:r>
            <a:r>
              <a:rPr lang="ja-JP" altLang="en-US" b="1" dirty="0"/>
              <a:t>状態更新</a:t>
            </a:r>
          </a:p>
          <a:p>
            <a:r>
              <a:rPr lang="ja-JP" altLang="en-US" b="1" dirty="0"/>
              <a:t>↓</a:t>
            </a:r>
          </a:p>
          <a:p>
            <a:r>
              <a:rPr lang="ja-JP" altLang="en-US" b="1" dirty="0"/>
              <a:t>座標更新</a:t>
            </a:r>
          </a:p>
          <a:p>
            <a:r>
              <a:rPr lang="ja-JP" altLang="en-US" b="1" dirty="0"/>
              <a:t>↓</a:t>
            </a:r>
          </a:p>
          <a:p>
            <a:r>
              <a:rPr lang="ja-JP" altLang="en-US" b="1" dirty="0"/>
              <a:t>履歴保存</a:t>
            </a:r>
          </a:p>
          <a:p>
            <a:r>
              <a:rPr lang="ja-JP" altLang="en-US" b="1" dirty="0"/>
              <a:t>↓</a:t>
            </a:r>
          </a:p>
          <a:p>
            <a:r>
              <a:rPr lang="ja-JP" altLang="en-US" b="1" dirty="0"/>
              <a:t>再描画</a:t>
            </a:r>
            <a:endParaRPr kumimoji="1" lang="ja-JP" altLang="en-US" b="1" dirty="0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A281FBD-7F24-AE94-21E4-BEDD70D88575}"/>
              </a:ext>
            </a:extLst>
          </p:cNvPr>
          <p:cNvSpPr/>
          <p:nvPr/>
        </p:nvSpPr>
        <p:spPr>
          <a:xfrm>
            <a:off x="6737015" y="3973306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0998756-CF85-2779-14A6-0DDA4643CDB9}"/>
              </a:ext>
            </a:extLst>
          </p:cNvPr>
          <p:cNvSpPr txBox="1"/>
          <p:nvPr/>
        </p:nvSpPr>
        <p:spPr>
          <a:xfrm>
            <a:off x="7385471" y="3178873"/>
            <a:ext cx="45992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エディターは同時に複数の状態を扱う</a:t>
            </a:r>
          </a:p>
          <a:p>
            <a:r>
              <a:rPr lang="ja-JP" altLang="en-US" dirty="0"/>
              <a:t>配置（位置）</a:t>
            </a:r>
          </a:p>
          <a:p>
            <a:r>
              <a:rPr lang="ja-JP" altLang="en-US" dirty="0"/>
              <a:t>座標</a:t>
            </a:r>
          </a:p>
          <a:p>
            <a:r>
              <a:rPr lang="ja-JP" altLang="en-US" dirty="0"/>
              <a:t>編集状態</a:t>
            </a:r>
          </a:p>
          <a:p>
            <a:r>
              <a:rPr lang="en-US" altLang="ja-JP" dirty="0"/>
              <a:t>Undo / Redo</a:t>
            </a:r>
            <a:r>
              <a:rPr lang="ja-JP" altLang="en-US" dirty="0"/>
              <a:t>履歴</a:t>
            </a:r>
          </a:p>
          <a:p>
            <a:r>
              <a:rPr lang="en-US" altLang="ja-JP" dirty="0"/>
              <a:t>UI</a:t>
            </a:r>
            <a:r>
              <a:rPr lang="ja-JP" altLang="en-US" dirty="0"/>
              <a:t>状態</a:t>
            </a:r>
            <a:endParaRPr lang="en-US" altLang="ja-JP" dirty="0"/>
          </a:p>
          <a:p>
            <a:endParaRPr lang="ja-JP" altLang="en-US" dirty="0"/>
          </a:p>
          <a:p>
            <a:r>
              <a:rPr lang="ja-JP" altLang="en-US" dirty="0"/>
              <a:t>これを</a:t>
            </a:r>
          </a:p>
          <a:p>
            <a:r>
              <a:rPr lang="ja-JP" altLang="en-US" b="1" dirty="0"/>
              <a:t>リアルタイムで同期・管理する必要がある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202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2C674D-146D-032E-7719-F73D78B4A7DB}"/>
              </a:ext>
            </a:extLst>
          </p:cNvPr>
          <p:cNvSpPr txBox="1"/>
          <p:nvPr/>
        </p:nvSpPr>
        <p:spPr>
          <a:xfrm>
            <a:off x="342899" y="358259"/>
            <a:ext cx="9248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1" dirty="0"/>
              <a:t>3.</a:t>
            </a:r>
            <a:r>
              <a:rPr lang="ja-JP" altLang="en-US" sz="3200" b="1" dirty="0"/>
              <a:t>実装事例：カラーピッカー実装で発生した課題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1DC621-0809-42D7-E696-784F7CE0EEDB}"/>
              </a:ext>
            </a:extLst>
          </p:cNvPr>
          <p:cNvSpPr txBox="1"/>
          <p:nvPr/>
        </p:nvSpPr>
        <p:spPr>
          <a:xfrm>
            <a:off x="342899" y="1332736"/>
            <a:ext cx="3724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①カラーピッカー機能の追加</a:t>
            </a:r>
            <a:endParaRPr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テキスト色変更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カラーピッカー</a:t>
            </a:r>
            <a:r>
              <a:rPr lang="en-US" altLang="ja-JP" dirty="0"/>
              <a:t>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編集ツールへのタブ追加</a:t>
            </a:r>
          </a:p>
          <a:p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68A840-F0D4-8BF4-59E3-CB3300ACF285}"/>
              </a:ext>
            </a:extLst>
          </p:cNvPr>
          <p:cNvSpPr txBox="1"/>
          <p:nvPr/>
        </p:nvSpPr>
        <p:spPr>
          <a:xfrm>
            <a:off x="4553861" y="1269011"/>
            <a:ext cx="5325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②発生した問題</a:t>
            </a:r>
            <a:endParaRPr lang="en-US" altLang="ja-JP" b="1" dirty="0"/>
          </a:p>
          <a:p>
            <a:r>
              <a:rPr lang="ja-JP" altLang="en-US" dirty="0"/>
              <a:t>カラーピッカーをタブとして追加した際に</a:t>
            </a:r>
            <a:endParaRPr lang="en-US" altLang="ja-JP" dirty="0"/>
          </a:p>
          <a:p>
            <a:r>
              <a:rPr lang="ja-JP" altLang="en-US" dirty="0"/>
              <a:t>履歴管理（</a:t>
            </a:r>
            <a:r>
              <a:rPr lang="en-US" altLang="ja-JP" dirty="0"/>
              <a:t>Undo / Redo</a:t>
            </a:r>
            <a:r>
              <a:rPr lang="ja-JP" altLang="en-US" dirty="0"/>
              <a:t>）が暴走</a:t>
            </a:r>
            <a:endParaRPr lang="en-US" altLang="ja-JP" dirty="0"/>
          </a:p>
          <a:p>
            <a:r>
              <a:rPr lang="ja-JP" altLang="en-US" b="1" dirty="0"/>
              <a:t>原因 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プレビュー操作が履歴に記録されてしまう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色を動かすたびに履歴が追加される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Undo</a:t>
            </a:r>
            <a:r>
              <a:rPr lang="ja-JP" altLang="en-US" dirty="0"/>
              <a:t>スタックが大量に増える</a:t>
            </a:r>
          </a:p>
          <a:p>
            <a:endParaRPr kumimoji="1" lang="ja-JP" altLang="en-US" b="1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CCEBFB6B-B1A2-6EFB-4559-BA0624634286}"/>
              </a:ext>
            </a:extLst>
          </p:cNvPr>
          <p:cNvSpPr/>
          <p:nvPr/>
        </p:nvSpPr>
        <p:spPr>
          <a:xfrm>
            <a:off x="10202192" y="1826303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0F3FC5DF-73B7-8000-E0BA-A82EFEA4D4B0}"/>
              </a:ext>
            </a:extLst>
          </p:cNvPr>
          <p:cNvSpPr/>
          <p:nvPr/>
        </p:nvSpPr>
        <p:spPr>
          <a:xfrm>
            <a:off x="3895796" y="1826303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7C8792-9547-FACD-AF20-BBF985CA6281}"/>
              </a:ext>
            </a:extLst>
          </p:cNvPr>
          <p:cNvSpPr txBox="1"/>
          <p:nvPr/>
        </p:nvSpPr>
        <p:spPr>
          <a:xfrm>
            <a:off x="10057684" y="13883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③へ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1D271D-280E-713A-CDAA-E2668FDAD7AC}"/>
              </a:ext>
            </a:extLst>
          </p:cNvPr>
          <p:cNvSpPr txBox="1"/>
          <p:nvPr/>
        </p:nvSpPr>
        <p:spPr>
          <a:xfrm>
            <a:off x="544367" y="3770938"/>
            <a:ext cx="3724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③考察</a:t>
            </a:r>
            <a:endParaRPr lang="en-US" altLang="ja-JP" dirty="0"/>
          </a:p>
          <a:p>
            <a:r>
              <a:rPr lang="ja-JP" altLang="en-US" dirty="0"/>
              <a:t>カラーピッカーは</a:t>
            </a:r>
            <a:r>
              <a:rPr lang="en-US" altLang="ja-JP" dirty="0" err="1"/>
              <a:t>pointermove</a:t>
            </a:r>
            <a:endParaRPr lang="en-US" altLang="ja-JP" dirty="0"/>
          </a:p>
          <a:p>
            <a:r>
              <a:rPr lang="ja-JP" altLang="en-US" dirty="0"/>
              <a:t>で大量にイベントが発生する</a:t>
            </a:r>
            <a:endParaRPr lang="en-US" altLang="ja-JP" dirty="0"/>
          </a:p>
          <a:p>
            <a:r>
              <a:rPr lang="ja-JP" altLang="en-US" dirty="0"/>
              <a:t>そのため</a:t>
            </a:r>
            <a:r>
              <a:rPr lang="en-US" altLang="ja-JP" dirty="0"/>
              <a:t>preview</a:t>
            </a:r>
            <a:r>
              <a:rPr lang="ja-JP" altLang="en-US" dirty="0"/>
              <a:t>処理</a:t>
            </a:r>
          </a:p>
          <a:p>
            <a:r>
              <a:rPr lang="ja-JP" altLang="en-US" dirty="0"/>
              <a:t>↓</a:t>
            </a:r>
          </a:p>
          <a:p>
            <a:r>
              <a:rPr lang="ja-JP" altLang="en-US" dirty="0"/>
              <a:t>履歴保存が何百回も実行される</a:t>
            </a:r>
            <a:endParaRPr kumimoji="1" lang="ja-JP" altLang="en-US" dirty="0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8317B536-39CA-2173-6D85-B40C9B3DC869}"/>
              </a:ext>
            </a:extLst>
          </p:cNvPr>
          <p:cNvSpPr/>
          <p:nvPr/>
        </p:nvSpPr>
        <p:spPr>
          <a:xfrm>
            <a:off x="4553861" y="4295843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9B0810-2884-42A2-B9A6-AD21D96EB5BB}"/>
              </a:ext>
            </a:extLst>
          </p:cNvPr>
          <p:cNvSpPr txBox="1"/>
          <p:nvPr/>
        </p:nvSpPr>
        <p:spPr>
          <a:xfrm>
            <a:off x="5693164" y="3766014"/>
            <a:ext cx="21438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④解決方法</a:t>
            </a:r>
            <a:endParaRPr lang="en-US" altLang="ja-JP" b="1" dirty="0"/>
          </a:p>
          <a:p>
            <a:r>
              <a:rPr lang="ja-JP" altLang="en-US" dirty="0"/>
              <a:t>処理を分離</a:t>
            </a:r>
            <a:endParaRPr lang="en-US" altLang="ja-JP" dirty="0"/>
          </a:p>
          <a:p>
            <a:r>
              <a:rPr lang="en-US" altLang="ja-JP" dirty="0" err="1"/>
              <a:t>previewTextColor</a:t>
            </a:r>
            <a:r>
              <a:rPr lang="ja-JP" altLang="en-US" dirty="0"/>
              <a:t>　</a:t>
            </a:r>
            <a:endParaRPr lang="en-US" altLang="ja-JP" dirty="0"/>
          </a:p>
          <a:p>
            <a:r>
              <a:rPr lang="en-US" altLang="ja-JP" dirty="0"/>
              <a:t>↓</a:t>
            </a:r>
          </a:p>
          <a:p>
            <a:r>
              <a:rPr lang="en-US" altLang="ja-JP" dirty="0"/>
              <a:t>UI</a:t>
            </a:r>
            <a:r>
              <a:rPr lang="ja-JP" altLang="en-US" dirty="0"/>
              <a:t>反映のみ</a:t>
            </a:r>
          </a:p>
          <a:p>
            <a:r>
              <a:rPr lang="en-US" altLang="ja-JP" dirty="0"/>
              <a:t>(</a:t>
            </a:r>
            <a:r>
              <a:rPr lang="ja-JP" altLang="en-US" dirty="0"/>
              <a:t>履歴保存なし</a:t>
            </a:r>
            <a:r>
              <a:rPr lang="en-US" altLang="ja-JP" dirty="0"/>
              <a:t>)</a:t>
            </a:r>
          </a:p>
          <a:p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27CFC65-9790-C629-8BF1-399FD19F61FA}"/>
              </a:ext>
            </a:extLst>
          </p:cNvPr>
          <p:cNvSpPr txBox="1"/>
          <p:nvPr/>
        </p:nvSpPr>
        <p:spPr>
          <a:xfrm>
            <a:off x="7836977" y="4043013"/>
            <a:ext cx="25239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pointerup</a:t>
            </a:r>
            <a:endParaRPr lang="en-US" altLang="ja-JP" dirty="0"/>
          </a:p>
          <a:p>
            <a:r>
              <a:rPr lang="en-US" altLang="ja-JP" dirty="0"/>
              <a:t>↓</a:t>
            </a:r>
          </a:p>
          <a:p>
            <a:r>
              <a:rPr lang="en-US" altLang="ja-JP" dirty="0" err="1"/>
              <a:t>setTextColor</a:t>
            </a:r>
            <a:endParaRPr lang="en-US" altLang="ja-JP" dirty="0"/>
          </a:p>
          <a:p>
            <a:r>
              <a:rPr lang="en-US" altLang="ja-JP" dirty="0"/>
              <a:t>↓</a:t>
            </a:r>
          </a:p>
          <a:p>
            <a:r>
              <a:rPr lang="ja-JP" altLang="en-US" dirty="0"/>
              <a:t>履歴保存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3216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5A93CAF-8D0E-E4FD-8092-CE375C681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842962"/>
            <a:ext cx="10686585" cy="547687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960ADCF-CEF3-08B0-E222-379E56EED0BD}"/>
              </a:ext>
            </a:extLst>
          </p:cNvPr>
          <p:cNvSpPr txBox="1"/>
          <p:nvPr/>
        </p:nvSpPr>
        <p:spPr>
          <a:xfrm>
            <a:off x="657224" y="139184"/>
            <a:ext cx="80962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dirty="0"/>
              <a:t>実装例：カラーピッカー履歴暴走の修正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4FF0EC6-80CC-693B-860F-1623BA03341F}"/>
              </a:ext>
            </a:extLst>
          </p:cNvPr>
          <p:cNvSpPr/>
          <p:nvPr/>
        </p:nvSpPr>
        <p:spPr>
          <a:xfrm>
            <a:off x="514350" y="2543175"/>
            <a:ext cx="1743075" cy="30194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9F09CC2E-1086-EB49-931F-C9E48E649636}"/>
              </a:ext>
            </a:extLst>
          </p:cNvPr>
          <p:cNvSpPr/>
          <p:nvPr/>
        </p:nvSpPr>
        <p:spPr>
          <a:xfrm>
            <a:off x="2257425" y="1295400"/>
            <a:ext cx="3343275" cy="1261175"/>
          </a:xfrm>
          <a:prstGeom prst="wedgeRoundRectCallout">
            <a:avLst>
              <a:gd name="adj1" fmla="val -56650"/>
              <a:gd name="adj2" fmla="val 764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/>
              <a:t>バースト対策のため修正した</a:t>
            </a:r>
          </a:p>
          <a:p>
            <a:r>
              <a:rPr lang="ja-JP" altLang="en-US" dirty="0"/>
              <a:t>エディター関連ファイル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B350AA3-2C94-EA81-6B51-36131FFA8D75}"/>
              </a:ext>
            </a:extLst>
          </p:cNvPr>
          <p:cNvSpPr/>
          <p:nvPr/>
        </p:nvSpPr>
        <p:spPr>
          <a:xfrm>
            <a:off x="5857642" y="2666999"/>
            <a:ext cx="5991458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他のファイルを含めて</a:t>
            </a:r>
            <a:r>
              <a:rPr kumimoji="1" lang="en-US" altLang="ja-JP" sz="2000" b="1" dirty="0"/>
              <a:t>10</a:t>
            </a:r>
            <a:r>
              <a:rPr kumimoji="1" lang="ja-JP" altLang="en-US" sz="2000" b="1" dirty="0"/>
              <a:t>ファイル修正しました。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501777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F887-8CEC-4121-84E6-8E3607E3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FD2DDE-61C3-163A-B147-6BF09598C8D5}"/>
              </a:ext>
            </a:extLst>
          </p:cNvPr>
          <p:cNvSpPr txBox="1"/>
          <p:nvPr/>
        </p:nvSpPr>
        <p:spPr>
          <a:xfrm>
            <a:off x="381000" y="361950"/>
            <a:ext cx="4637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4.</a:t>
            </a:r>
            <a:r>
              <a:rPr lang="ja-JP" altLang="en-US" sz="3200" b="1" dirty="0"/>
              <a:t>画像アップロード機能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05A980C-132F-A77D-226B-D330225FB770}"/>
              </a:ext>
            </a:extLst>
          </p:cNvPr>
          <p:cNvSpPr txBox="1"/>
          <p:nvPr/>
        </p:nvSpPr>
        <p:spPr>
          <a:xfrm>
            <a:off x="681758" y="1380768"/>
            <a:ext cx="4513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ユーザーは画像をアップロードし</a:t>
            </a:r>
            <a:br>
              <a:rPr lang="ja-JP" altLang="en-US" dirty="0"/>
            </a:br>
            <a:r>
              <a:rPr lang="ja-JP" altLang="en-US" dirty="0"/>
              <a:t>名刺デザインに配置できます。</a:t>
            </a:r>
            <a:endParaRPr lang="en-US" altLang="ja-JP" dirty="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EF01BF7E-8C82-667D-1EC5-0F0EC0A48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96436"/>
              </p:ext>
            </p:extLst>
          </p:nvPr>
        </p:nvGraphicFramePr>
        <p:xfrm>
          <a:off x="681758" y="2514600"/>
          <a:ext cx="86741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7050">
                  <a:extLst>
                    <a:ext uri="{9D8B030D-6E8A-4147-A177-3AD203B41FA5}">
                      <a16:colId xmlns:a16="http://schemas.microsoft.com/office/drawing/2014/main" val="3012506647"/>
                    </a:ext>
                  </a:extLst>
                </a:gridCol>
                <a:gridCol w="4337050">
                  <a:extLst>
                    <a:ext uri="{9D8B030D-6E8A-4147-A177-3AD203B41FA5}">
                      <a16:colId xmlns:a16="http://schemas.microsoft.com/office/drawing/2014/main" val="3325648778"/>
                    </a:ext>
                  </a:extLst>
                </a:gridCol>
              </a:tblGrid>
              <a:tr h="324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400" b="1" dirty="0"/>
                        <a:t>対応機能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400" b="1" dirty="0"/>
                        <a:t>今後追加予定</a:t>
                      </a:r>
                      <a:endParaRPr lang="en-US" altLang="ja-JP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784378"/>
                  </a:ext>
                </a:extLst>
              </a:tr>
              <a:tr h="12984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400" dirty="0"/>
                        <a:t>画像ファイル選択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2400" dirty="0"/>
                        <a:t>Canvas</a:t>
                      </a:r>
                      <a:r>
                        <a:rPr lang="ja-JP" altLang="en-US" sz="2400" dirty="0"/>
                        <a:t>配置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400" dirty="0"/>
                        <a:t>ドラッグ移動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400" dirty="0"/>
                        <a:t>削除</a:t>
                      </a:r>
                    </a:p>
                    <a:p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400" dirty="0"/>
                        <a:t>拡大 </a:t>
                      </a:r>
                      <a:r>
                        <a:rPr lang="en-US" altLang="ja-JP" sz="2400" dirty="0"/>
                        <a:t>/ </a:t>
                      </a:r>
                      <a:r>
                        <a:rPr lang="ja-JP" altLang="en-US" sz="2400" dirty="0"/>
                        <a:t>縮小</a:t>
                      </a:r>
                      <a:endParaRPr lang="en-US" altLang="ja-JP" sz="2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400" dirty="0"/>
                        <a:t>レイヤー追加</a:t>
                      </a:r>
                      <a:br>
                        <a:rPr lang="ja-JP" altLang="en-US" dirty="0"/>
                      </a:b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45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3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5566B-A63C-A64B-2342-EB8A16F2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EFC6D5-A594-7AE0-3E0C-923BE1DC12F9}"/>
              </a:ext>
            </a:extLst>
          </p:cNvPr>
          <p:cNvSpPr txBox="1"/>
          <p:nvPr/>
        </p:nvSpPr>
        <p:spPr>
          <a:xfrm>
            <a:off x="361950" y="3084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保存の仕組み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4F3556-C861-CA84-08B4-1009E4C02B20}"/>
              </a:ext>
            </a:extLst>
          </p:cNvPr>
          <p:cNvSpPr txBox="1"/>
          <p:nvPr/>
        </p:nvSpPr>
        <p:spPr>
          <a:xfrm>
            <a:off x="361950" y="1011138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画像は </a:t>
            </a:r>
            <a:r>
              <a:rPr lang="en-US" altLang="ja-JP" sz="2400" b="1" dirty="0" err="1"/>
              <a:t>Supabase</a:t>
            </a:r>
            <a:r>
              <a:rPr lang="en-US" altLang="ja-JP" sz="2400" b="1" dirty="0"/>
              <a:t> Storage</a:t>
            </a:r>
            <a:r>
              <a:rPr lang="en-US" altLang="ja-JP" sz="2400" dirty="0"/>
              <a:t> </a:t>
            </a:r>
            <a:r>
              <a:rPr lang="ja-JP" altLang="en-US" sz="2400" dirty="0"/>
              <a:t>に保存</a:t>
            </a:r>
            <a:endParaRPr lang="en-US" altLang="ja-JP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FD94D8-E4CA-BA67-84D3-0E39FDB82574}"/>
              </a:ext>
            </a:extLst>
          </p:cNvPr>
          <p:cNvSpPr txBox="1"/>
          <p:nvPr/>
        </p:nvSpPr>
        <p:spPr>
          <a:xfrm>
            <a:off x="772715" y="1590674"/>
            <a:ext cx="5067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画像選択</a:t>
            </a:r>
            <a:br>
              <a:rPr lang="ja-JP" altLang="en-US" sz="2000" b="1" dirty="0"/>
            </a:br>
            <a:r>
              <a:rPr lang="ja-JP" altLang="en-US" sz="2000" b="1" dirty="0"/>
              <a:t>↓</a:t>
            </a:r>
            <a:br>
              <a:rPr lang="ja-JP" altLang="en-US" sz="2000" b="1" dirty="0"/>
            </a:br>
            <a:r>
              <a:rPr lang="en-US" altLang="ja-JP" sz="2000" b="1" dirty="0" err="1"/>
              <a:t>Supabase</a:t>
            </a:r>
            <a:r>
              <a:rPr lang="en-US" altLang="ja-JP" sz="2000" b="1" dirty="0"/>
              <a:t> Storage</a:t>
            </a:r>
            <a:r>
              <a:rPr lang="ja-JP" altLang="en-US" sz="2000" b="1" dirty="0"/>
              <a:t>にアップロード</a:t>
            </a:r>
            <a:br>
              <a:rPr lang="ja-JP" altLang="en-US" sz="2000" b="1" dirty="0"/>
            </a:br>
            <a:r>
              <a:rPr lang="ja-JP" altLang="en-US" sz="2000" b="1" dirty="0"/>
              <a:t>↓</a:t>
            </a:r>
            <a:br>
              <a:rPr lang="ja-JP" altLang="en-US" sz="2000" b="1" dirty="0"/>
            </a:br>
            <a:r>
              <a:rPr lang="ja-JP" altLang="en-US" sz="2000" b="1" dirty="0"/>
              <a:t>画像</a:t>
            </a:r>
            <a:r>
              <a:rPr lang="en-US" altLang="ja-JP" sz="2000" b="1" dirty="0"/>
              <a:t>URL</a:t>
            </a:r>
            <a:r>
              <a:rPr lang="ja-JP" altLang="en-US" sz="2000" b="1" dirty="0"/>
              <a:t>取得</a:t>
            </a:r>
            <a:br>
              <a:rPr lang="ja-JP" altLang="en-US" sz="2000" b="1" dirty="0"/>
            </a:br>
            <a:r>
              <a:rPr lang="ja-JP" altLang="en-US" sz="2000" b="1" dirty="0"/>
              <a:t>↓</a:t>
            </a:r>
            <a:br>
              <a:rPr lang="ja-JP" altLang="en-US" sz="2000" b="1" dirty="0"/>
            </a:br>
            <a:r>
              <a:rPr lang="ja-JP" altLang="en-US" sz="2000" b="1" dirty="0"/>
              <a:t>エディター</a:t>
            </a:r>
            <a:r>
              <a:rPr lang="en-US" altLang="ja-JP" sz="2000" b="1" dirty="0"/>
              <a:t>state</a:t>
            </a:r>
            <a:r>
              <a:rPr lang="ja-JP" altLang="en-US" sz="2000" b="1" dirty="0"/>
              <a:t>に保存</a:t>
            </a:r>
            <a:br>
              <a:rPr lang="ja-JP" altLang="en-US" sz="2000" b="1" dirty="0"/>
            </a:br>
            <a:r>
              <a:rPr lang="ja-JP" altLang="en-US" sz="2000" b="1" dirty="0"/>
              <a:t>↓</a:t>
            </a:r>
            <a:br>
              <a:rPr lang="ja-JP" altLang="en-US" sz="2000" b="1" dirty="0"/>
            </a:br>
            <a:r>
              <a:rPr lang="en-US" altLang="ja-JP" sz="2000" b="1" dirty="0"/>
              <a:t>Canvas</a:t>
            </a:r>
            <a:r>
              <a:rPr lang="ja-JP" altLang="en-US" sz="2000" b="1" dirty="0"/>
              <a:t>表示</a:t>
            </a:r>
          </a:p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E21482-2880-F319-F3EA-8D5266FFBC71}"/>
              </a:ext>
            </a:extLst>
          </p:cNvPr>
          <p:cNvSpPr txBox="1"/>
          <p:nvPr/>
        </p:nvSpPr>
        <p:spPr>
          <a:xfrm>
            <a:off x="6467477" y="1575284"/>
            <a:ext cx="45815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エディター内部処理</a:t>
            </a:r>
            <a:endParaRPr lang="en-US" altLang="ja-JP" sz="2000" b="1" dirty="0"/>
          </a:p>
          <a:p>
            <a:r>
              <a:rPr lang="en-US" altLang="ja-JP" sz="2000" b="1" dirty="0" err="1"/>
              <a:t>UploadImage</a:t>
            </a:r>
            <a:endParaRPr lang="en-US" altLang="ja-JP" sz="2000" b="1" dirty="0"/>
          </a:p>
          <a:p>
            <a:r>
              <a:rPr lang="en-US" altLang="ja-JP" sz="2000" b="1" dirty="0"/>
              <a:t>↓</a:t>
            </a:r>
          </a:p>
          <a:p>
            <a:r>
              <a:rPr lang="en-US" altLang="ja-JP" sz="2000" b="1" dirty="0" err="1"/>
              <a:t>Supabase</a:t>
            </a:r>
            <a:r>
              <a:rPr lang="en-US" altLang="ja-JP" sz="2000" b="1" dirty="0"/>
              <a:t> Storage upload</a:t>
            </a:r>
          </a:p>
          <a:p>
            <a:r>
              <a:rPr lang="en-US" altLang="ja-JP" sz="2000" b="1" dirty="0"/>
              <a:t>↓</a:t>
            </a:r>
          </a:p>
          <a:p>
            <a:r>
              <a:rPr lang="en-US" altLang="ja-JP" sz="2000" b="1" dirty="0"/>
              <a:t>public URL</a:t>
            </a:r>
            <a:r>
              <a:rPr lang="ja-JP" altLang="en-US" sz="2000" b="1" dirty="0"/>
              <a:t>取得</a:t>
            </a:r>
          </a:p>
          <a:p>
            <a:r>
              <a:rPr lang="ja-JP" altLang="en-US" sz="2000" b="1" dirty="0"/>
              <a:t>↓</a:t>
            </a:r>
          </a:p>
          <a:p>
            <a:r>
              <a:rPr lang="en-US" altLang="ja-JP" sz="2000" b="1" dirty="0" err="1"/>
              <a:t>CardImage</a:t>
            </a:r>
            <a:r>
              <a:rPr lang="en-US" altLang="ja-JP" sz="2000" b="1" dirty="0"/>
              <a:t> state</a:t>
            </a:r>
            <a:r>
              <a:rPr lang="ja-JP" altLang="en-US" sz="2000" b="1" dirty="0"/>
              <a:t>追加</a:t>
            </a:r>
          </a:p>
          <a:p>
            <a:r>
              <a:rPr lang="ja-JP" altLang="en-US" sz="2000" b="1" dirty="0"/>
              <a:t>↓</a:t>
            </a:r>
          </a:p>
          <a:p>
            <a:r>
              <a:rPr lang="en-US" altLang="ja-JP" sz="2000" b="1" dirty="0"/>
              <a:t>Canvas</a:t>
            </a:r>
            <a:r>
              <a:rPr lang="ja-JP" altLang="en-US" sz="2000" b="1" dirty="0"/>
              <a:t>再描画</a:t>
            </a:r>
            <a:endParaRPr kumimoji="1" lang="ja-JP" altLang="en-US" sz="2000" b="1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133312A-8A17-0A81-EE58-90BE0F0FB451}"/>
              </a:ext>
            </a:extLst>
          </p:cNvPr>
          <p:cNvSpPr/>
          <p:nvPr/>
        </p:nvSpPr>
        <p:spPr>
          <a:xfrm>
            <a:off x="772715" y="5181600"/>
            <a:ext cx="10151269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 b="1" dirty="0"/>
              <a:t>画像データは</a:t>
            </a:r>
            <a:r>
              <a:rPr lang="en-US" altLang="ja-JP" sz="2800" b="1" dirty="0"/>
              <a:t>Storage</a:t>
            </a:r>
            <a:r>
              <a:rPr lang="ja-JP" altLang="en-US" sz="2800" b="1" dirty="0"/>
              <a:t>に保存し、</a:t>
            </a:r>
          </a:p>
          <a:p>
            <a:r>
              <a:rPr lang="ja-JP" altLang="en-US" sz="2800" b="1" dirty="0"/>
              <a:t>エディターでは</a:t>
            </a:r>
            <a:r>
              <a:rPr lang="en-US" altLang="ja-JP" sz="2800" b="1" dirty="0"/>
              <a:t>URL</a:t>
            </a:r>
            <a:r>
              <a:rPr lang="ja-JP" altLang="en-US" sz="2800" b="1" dirty="0"/>
              <a:t>と座標情報を管理する構成にしています。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09025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51DBA-8D5E-DB30-BCF1-308CBEE8D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E38849-6692-135E-4204-263AD6C87D92}"/>
              </a:ext>
            </a:extLst>
          </p:cNvPr>
          <p:cNvSpPr txBox="1"/>
          <p:nvPr/>
        </p:nvSpPr>
        <p:spPr>
          <a:xfrm>
            <a:off x="361950" y="308492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購入フローを考慮した画像管理設計</a:t>
            </a:r>
            <a:endParaRPr lang="ja-JP" alt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B1D368-6E3F-0EAF-7384-E79729DF5357}"/>
              </a:ext>
            </a:extLst>
          </p:cNvPr>
          <p:cNvSpPr txBox="1"/>
          <p:nvPr/>
        </p:nvSpPr>
        <p:spPr>
          <a:xfrm>
            <a:off x="190498" y="1011138"/>
            <a:ext cx="2933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ユーザーの購入フロー</a:t>
            </a:r>
            <a:endParaRPr lang="en-US" altLang="ja-JP" sz="2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55F63B-D438-20A6-801F-E31B3A4E1152}"/>
              </a:ext>
            </a:extLst>
          </p:cNvPr>
          <p:cNvSpPr txBox="1"/>
          <p:nvPr/>
        </p:nvSpPr>
        <p:spPr>
          <a:xfrm>
            <a:off x="190498" y="1515188"/>
            <a:ext cx="59055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rgbClr val="C00000"/>
                </a:solidFill>
              </a:rPr>
              <a:t>ユーザーは編集途中で離脱する可能性があります</a:t>
            </a:r>
            <a:r>
              <a:rPr lang="ja-JP" altLang="en-US" sz="2000" b="1" dirty="0"/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デザイン作成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画像アップロード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編集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購入検討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購入確定</a:t>
            </a:r>
          </a:p>
          <a:p>
            <a:r>
              <a:rPr lang="ja-JP" altLang="en-US" b="1" dirty="0"/>
              <a:t>この途中でブラウザを閉じるケースも多く発生します。</a:t>
            </a:r>
            <a:endParaRPr kumimoji="1" lang="ja-JP" altLang="en-US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5B62EE-BB1E-7C93-EEA5-A016EA6F70A4}"/>
              </a:ext>
            </a:extLst>
          </p:cNvPr>
          <p:cNvSpPr txBox="1"/>
          <p:nvPr/>
        </p:nvSpPr>
        <p:spPr>
          <a:xfrm>
            <a:off x="6393884" y="1506232"/>
            <a:ext cx="57246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そのための設計</a:t>
            </a:r>
          </a:p>
          <a:p>
            <a:r>
              <a:rPr lang="ja-JP" altLang="en-US" dirty="0"/>
              <a:t>画像は </a:t>
            </a:r>
            <a:r>
              <a:rPr lang="en-US" altLang="ja-JP" b="1" dirty="0" err="1"/>
              <a:t>Supabase</a:t>
            </a:r>
            <a:r>
              <a:rPr lang="en-US" altLang="ja-JP" b="1" dirty="0"/>
              <a:t> Storage </a:t>
            </a:r>
            <a:r>
              <a:rPr lang="ja-JP" altLang="en-US" b="1" dirty="0"/>
              <a:t>に一時保存</a:t>
            </a:r>
            <a:br>
              <a:rPr lang="ja-JP" altLang="en-US" dirty="0"/>
            </a:br>
            <a:r>
              <a:rPr lang="ja-JP" altLang="en-US" dirty="0"/>
              <a:t>エディターでは </a:t>
            </a:r>
            <a:r>
              <a:rPr lang="en-US" altLang="ja-JP" b="1" dirty="0"/>
              <a:t>URL</a:t>
            </a:r>
            <a:r>
              <a:rPr lang="ja-JP" altLang="en-US" b="1" dirty="0"/>
              <a:t>のみ管理</a:t>
            </a:r>
            <a:endParaRPr lang="ja-JP" altLang="en-US" dirty="0"/>
          </a:p>
          <a:p>
            <a:r>
              <a:rPr lang="ja-JP" altLang="en-US" dirty="0"/>
              <a:t>これにより</a:t>
            </a:r>
          </a:p>
          <a:p>
            <a:r>
              <a:rPr lang="ja-JP" altLang="en-US" dirty="0"/>
              <a:t>編集途中の状態を維持</a:t>
            </a:r>
          </a:p>
          <a:p>
            <a:r>
              <a:rPr lang="ja-JP" altLang="en-US" dirty="0"/>
              <a:t>再訪時にデザイン復元可能にする構築をしています。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7CC6CF-6C13-35CD-6EED-9A904AD88CE5}"/>
              </a:ext>
            </a:extLst>
          </p:cNvPr>
          <p:cNvSpPr txBox="1"/>
          <p:nvPr/>
        </p:nvSpPr>
        <p:spPr>
          <a:xfrm>
            <a:off x="190498" y="4019373"/>
            <a:ext cx="4810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現在は編集セッション識別用の </a:t>
            </a:r>
            <a:r>
              <a:rPr lang="en-US" altLang="ja-JP" sz="2000" b="1" dirty="0"/>
              <a:t>code </a:t>
            </a:r>
          </a:p>
          <a:p>
            <a:r>
              <a:rPr lang="ja-JP" altLang="en-US" sz="2000" b="1" dirty="0"/>
              <a:t>を </a:t>
            </a:r>
            <a:r>
              <a:rPr lang="en-US" altLang="ja-JP" sz="2000" b="1" u="sng" dirty="0" err="1">
                <a:solidFill>
                  <a:srgbClr val="C00000"/>
                </a:solidFill>
              </a:rPr>
              <a:t>LocalStorage</a:t>
            </a:r>
            <a:r>
              <a:rPr lang="en-US" altLang="ja-JP" sz="2000" b="1" dirty="0"/>
              <a:t> </a:t>
            </a:r>
            <a:r>
              <a:rPr lang="ja-JP" altLang="en-US" sz="2000" b="1" dirty="0"/>
              <a:t>に保存しています。</a:t>
            </a:r>
            <a:br>
              <a:rPr lang="ja-JP" altLang="en-US" sz="2000" b="1" dirty="0"/>
            </a:br>
            <a:r>
              <a:rPr lang="ja-JP" altLang="en-US" sz="2000" b="1" dirty="0"/>
              <a:t>将来的にはこの </a:t>
            </a:r>
            <a:r>
              <a:rPr lang="en-US" altLang="ja-JP" sz="2000" b="1" dirty="0"/>
              <a:t>code </a:t>
            </a:r>
            <a:r>
              <a:rPr lang="ja-JP" altLang="en-US" sz="2000" b="1" dirty="0"/>
              <a:t>をキーに</a:t>
            </a:r>
            <a:endParaRPr lang="en-US" altLang="ja-JP" sz="2000" b="1" dirty="0"/>
          </a:p>
          <a:p>
            <a:r>
              <a:rPr lang="ja-JP" altLang="en-US" sz="2000" b="1" dirty="0"/>
              <a:t>編集状態の復元を行う予定です</a:t>
            </a:r>
            <a:r>
              <a:rPr lang="ja-JP" altLang="en-US" sz="2000" dirty="0"/>
              <a:t>。</a:t>
            </a:r>
            <a:endParaRPr kumimoji="1" lang="ja-JP" altLang="en-US" sz="2000" b="1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64E80AB0-D0C1-779C-7DD5-FF89014E265B}"/>
              </a:ext>
            </a:extLst>
          </p:cNvPr>
          <p:cNvSpPr/>
          <p:nvPr/>
        </p:nvSpPr>
        <p:spPr>
          <a:xfrm>
            <a:off x="5817167" y="2135568"/>
            <a:ext cx="4945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9CD51038-F54D-E10F-44A8-2F2257B06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058" y="3406258"/>
            <a:ext cx="4645592" cy="3143250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63BBC22-4D05-5D0F-3005-4B57E9801907}"/>
              </a:ext>
            </a:extLst>
          </p:cNvPr>
          <p:cNvSpPr txBox="1"/>
          <p:nvPr/>
        </p:nvSpPr>
        <p:spPr>
          <a:xfrm>
            <a:off x="4717483" y="5261674"/>
            <a:ext cx="167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u="sng" dirty="0" err="1">
                <a:solidFill>
                  <a:srgbClr val="C00000"/>
                </a:solidFill>
              </a:rPr>
              <a:t>LocalStorage</a:t>
            </a:r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0A3AB9E-2398-AAE6-BB0D-88EC9782AB9E}"/>
              </a:ext>
            </a:extLst>
          </p:cNvPr>
          <p:cNvSpPr/>
          <p:nvPr/>
        </p:nvSpPr>
        <p:spPr>
          <a:xfrm>
            <a:off x="7696200" y="5715000"/>
            <a:ext cx="2447925" cy="3714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0E9A802-A2C8-D1C7-06E0-AA8DF2B07F52}"/>
              </a:ext>
            </a:extLst>
          </p:cNvPr>
          <p:cNvCxnSpPr>
            <a:endCxn id="19" idx="1"/>
          </p:cNvCxnSpPr>
          <p:nvPr/>
        </p:nvCxnSpPr>
        <p:spPr>
          <a:xfrm>
            <a:off x="5981700" y="5553075"/>
            <a:ext cx="1714500" cy="347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945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FBA2-FE7C-F6C8-8AEB-78F32770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FD2AE7-2C9A-349A-7D42-7D1922D4AAE9}"/>
              </a:ext>
            </a:extLst>
          </p:cNvPr>
          <p:cNvSpPr txBox="1"/>
          <p:nvPr/>
        </p:nvSpPr>
        <p:spPr>
          <a:xfrm>
            <a:off x="364468" y="257848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サーバー負荷を考慮した設計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EEB0E5-13B1-8607-B469-26ADAB6C6A37}"/>
              </a:ext>
            </a:extLst>
          </p:cNvPr>
          <p:cNvSpPr txBox="1"/>
          <p:nvPr/>
        </p:nvSpPr>
        <p:spPr>
          <a:xfrm>
            <a:off x="219350" y="975638"/>
            <a:ext cx="315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ユーザーの行動</a:t>
            </a:r>
            <a:endParaRPr lang="en-US" altLang="ja-JP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F00868-BA65-4FE4-DB57-CCE440714548}"/>
              </a:ext>
            </a:extLst>
          </p:cNvPr>
          <p:cNvSpPr txBox="1"/>
          <p:nvPr/>
        </p:nvSpPr>
        <p:spPr>
          <a:xfrm>
            <a:off x="223973" y="1570318"/>
            <a:ext cx="58004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ユーザーは編集途中で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ページリロード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ブラウザ再訪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購入検討中の離脱</a:t>
            </a:r>
          </a:p>
          <a:p>
            <a:r>
              <a:rPr lang="ja-JP" altLang="en-US" sz="2400" dirty="0"/>
              <a:t>などの行動を取る可能性があります。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3D3AB5-F486-49FB-5558-6B7B6B6B2554}"/>
              </a:ext>
            </a:extLst>
          </p:cNvPr>
          <p:cNvSpPr txBox="1"/>
          <p:nvPr/>
        </p:nvSpPr>
        <p:spPr>
          <a:xfrm>
            <a:off x="5619750" y="975638"/>
            <a:ext cx="657225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rgbClr val="C00000"/>
                </a:solidFill>
              </a:rPr>
              <a:t>同じ編集データの取得が頻繁に発生</a:t>
            </a:r>
            <a:endParaRPr lang="en-US" altLang="ja-JP" sz="2000" b="1" dirty="0">
              <a:solidFill>
                <a:srgbClr val="C00000"/>
              </a:solidFill>
            </a:endParaRPr>
          </a:p>
          <a:p>
            <a:r>
              <a:rPr lang="ja-JP" altLang="en-US" sz="2000" b="1" dirty="0"/>
              <a:t>サーバー負荷が増加すると</a:t>
            </a:r>
            <a:endParaRPr lang="en-US" altLang="ja-JP" sz="2000" b="1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レスポンス速度の低下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/>
              <a:t>API</a:t>
            </a:r>
            <a:r>
              <a:rPr lang="ja-JP" altLang="en-US" sz="2000" dirty="0"/>
              <a:t>処理の遅延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同時接続数の増加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サービス全体のパフォーマンス低下</a:t>
            </a:r>
          </a:p>
          <a:p>
            <a:r>
              <a:rPr lang="ja-JP" altLang="en-US" sz="2400" b="1" dirty="0"/>
              <a:t>最悪の場合</a:t>
            </a:r>
            <a:endParaRPr lang="en-US" altLang="ja-JP" sz="2400" b="1" dirty="0"/>
          </a:p>
          <a:p>
            <a:r>
              <a:rPr lang="ja-JP" altLang="en-US" sz="2000" dirty="0"/>
              <a:t>サービス全体の動作が不安定になる可能性があります。</a:t>
            </a:r>
            <a:endParaRPr lang="ja-JP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2F88E4A2-D092-1EB1-603C-90A563D2F7D4}"/>
              </a:ext>
            </a:extLst>
          </p:cNvPr>
          <p:cNvSpPr/>
          <p:nvPr/>
        </p:nvSpPr>
        <p:spPr>
          <a:xfrm>
            <a:off x="4886325" y="2175846"/>
            <a:ext cx="581025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3181958-0311-EBBD-5D30-350DAC2C966A}"/>
              </a:ext>
            </a:extLst>
          </p:cNvPr>
          <p:cNvSpPr txBox="1"/>
          <p:nvPr/>
        </p:nvSpPr>
        <p:spPr>
          <a:xfrm>
            <a:off x="364468" y="4186419"/>
            <a:ext cx="9301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画像アップロードは工程数が多く負荷の高い処理の一例です。</a:t>
            </a:r>
            <a:br>
              <a:rPr lang="ja-JP" altLang="en-US" sz="2400" b="1" dirty="0"/>
            </a:br>
            <a:r>
              <a:rPr lang="ja-JP" altLang="en-US" sz="2400" b="1" dirty="0"/>
              <a:t>設計は画像アップロードだけを前提にしているわけではなく、</a:t>
            </a:r>
            <a:br>
              <a:rPr lang="ja-JP" altLang="en-US" sz="2400" b="1" dirty="0"/>
            </a:br>
            <a:r>
              <a:rPr lang="ja-JP" altLang="en-US" sz="2400" b="1" dirty="0"/>
              <a:t>今後サービス全体で発生する処理負荷を見据えて構成しています。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14968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CF26-3992-36DD-6C5E-2B94678E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0ACF6B-E9BA-FAA1-F387-06937930F8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>
                <a:solidFill>
                  <a:srgbClr val="C00000"/>
                </a:solidFill>
                <a:latin typeface="+mn-ea"/>
                <a:ea typeface="+mn-ea"/>
              </a:rPr>
              <a:t>SECTION 3</a:t>
            </a:r>
            <a:br>
              <a:rPr lang="en-US" altLang="ja-JP" b="1" dirty="0"/>
            </a:br>
            <a:r>
              <a:rPr lang="ja-JP" altLang="en-US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今後取り掛かる事</a:t>
            </a:r>
            <a:endParaRPr kumimoji="1" lang="ja-JP" altLang="en-US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887DACFD-E231-B857-B76A-9FF3BB3F2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サービス運用を見据えた今後の実装</a:t>
            </a:r>
          </a:p>
        </p:txBody>
      </p:sp>
    </p:spTree>
    <p:extLst>
      <p:ext uri="{BB962C8B-B14F-4D97-AF65-F5344CB8AC3E}">
        <p14:creationId xmlns:p14="http://schemas.microsoft.com/office/powerpoint/2010/main" val="2154235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1F73A6-3B59-986D-D4ED-AAE1EF1D1B6F}"/>
              </a:ext>
            </a:extLst>
          </p:cNvPr>
          <p:cNvSpPr txBox="1"/>
          <p:nvPr/>
        </p:nvSpPr>
        <p:spPr>
          <a:xfrm>
            <a:off x="728662" y="542865"/>
            <a:ext cx="3333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今後取り組む主な実装</a:t>
            </a:r>
            <a:endParaRPr kumimoji="1" lang="ja-JP" altLang="en-US" sz="2400" b="1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B8EB91A-8EEB-099F-2FCD-3C4F2BFF9B02}"/>
              </a:ext>
            </a:extLst>
          </p:cNvPr>
          <p:cNvSpPr/>
          <p:nvPr/>
        </p:nvSpPr>
        <p:spPr>
          <a:xfrm>
            <a:off x="728663" y="1609725"/>
            <a:ext cx="5107783" cy="1598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solidFill>
                  <a:schemeClr val="tx1"/>
                </a:solidFill>
              </a:rPr>
              <a:t>■ </a:t>
            </a:r>
            <a:r>
              <a:rPr lang="ja-JP" altLang="en-US" sz="2000" b="1" dirty="0">
                <a:solidFill>
                  <a:schemeClr val="tx1"/>
                </a:solidFill>
              </a:rPr>
              <a:t>編集状態の復元機能</a:t>
            </a:r>
            <a:br>
              <a:rPr lang="ja-JP" altLang="en-US" sz="2000" dirty="0">
                <a:solidFill>
                  <a:schemeClr val="tx1"/>
                </a:solidFill>
              </a:rPr>
            </a:br>
            <a:r>
              <a:rPr lang="en-US" altLang="ja-JP" sz="2000" dirty="0" err="1">
                <a:solidFill>
                  <a:schemeClr val="tx1"/>
                </a:solidFill>
              </a:rPr>
              <a:t>LocalStorage</a:t>
            </a:r>
            <a:r>
              <a:rPr lang="en-US" altLang="ja-JP" sz="2000" dirty="0">
                <a:solidFill>
                  <a:schemeClr val="tx1"/>
                </a:solidFill>
              </a:rPr>
              <a:t> </a:t>
            </a:r>
            <a:r>
              <a:rPr lang="ja-JP" altLang="en-US" sz="2000" dirty="0">
                <a:solidFill>
                  <a:schemeClr val="tx1"/>
                </a:solidFill>
              </a:rPr>
              <a:t>に保存した </a:t>
            </a:r>
            <a:r>
              <a:rPr lang="en-US" altLang="ja-JP" sz="2000" dirty="0">
                <a:solidFill>
                  <a:schemeClr val="tx1"/>
                </a:solidFill>
              </a:rPr>
              <a:t>code </a:t>
            </a:r>
            <a:r>
              <a:rPr lang="ja-JP" altLang="en-US" sz="2000" dirty="0">
                <a:solidFill>
                  <a:schemeClr val="tx1"/>
                </a:solidFill>
              </a:rPr>
              <a:t>をキーに</a:t>
            </a:r>
            <a:br>
              <a:rPr lang="ja-JP" altLang="en-US" sz="2000" dirty="0">
                <a:solidFill>
                  <a:schemeClr val="tx1"/>
                </a:solidFill>
              </a:rPr>
            </a:br>
            <a:r>
              <a:rPr lang="ja-JP" altLang="en-US" sz="2000" dirty="0">
                <a:solidFill>
                  <a:schemeClr val="tx1"/>
                </a:solidFill>
              </a:rPr>
              <a:t>編集状態を復元する仕組みの実装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AE3BF38-6940-B8F2-B353-B12C0A0ECC90}"/>
              </a:ext>
            </a:extLst>
          </p:cNvPr>
          <p:cNvSpPr/>
          <p:nvPr/>
        </p:nvSpPr>
        <p:spPr>
          <a:xfrm>
            <a:off x="728662" y="3649447"/>
            <a:ext cx="5107782" cy="17702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solidFill>
                  <a:schemeClr val="tx1"/>
                </a:solidFill>
              </a:rPr>
              <a:t>■ </a:t>
            </a:r>
            <a:r>
              <a:rPr lang="ja-JP" altLang="en-US" sz="2000" b="1" dirty="0">
                <a:solidFill>
                  <a:schemeClr val="tx1"/>
                </a:solidFill>
              </a:rPr>
              <a:t>画像管理の最適化</a:t>
            </a:r>
            <a:br>
              <a:rPr lang="ja-JP" altLang="en-US" sz="2000" dirty="0">
                <a:solidFill>
                  <a:schemeClr val="tx1"/>
                </a:solidFill>
              </a:rPr>
            </a:br>
            <a:r>
              <a:rPr lang="ja-JP" altLang="en-US" sz="2000" dirty="0">
                <a:solidFill>
                  <a:schemeClr val="tx1"/>
                </a:solidFill>
              </a:rPr>
              <a:t>未使用画像を </a:t>
            </a:r>
            <a:r>
              <a:rPr lang="en-US" altLang="ja-JP" sz="2000" dirty="0">
                <a:solidFill>
                  <a:schemeClr val="tx1"/>
                </a:solidFill>
              </a:rPr>
              <a:t>Cron job </a:t>
            </a:r>
            <a:r>
              <a:rPr lang="ja-JP" altLang="en-US" sz="2000" dirty="0">
                <a:solidFill>
                  <a:schemeClr val="tx1"/>
                </a:solidFill>
              </a:rPr>
              <a:t>で定期削除し</a:t>
            </a:r>
            <a:br>
              <a:rPr lang="ja-JP" altLang="en-US" sz="2000" dirty="0">
                <a:solidFill>
                  <a:schemeClr val="tx1"/>
                </a:solidFill>
              </a:rPr>
            </a:br>
            <a:r>
              <a:rPr lang="en-US" altLang="ja-JP" sz="2000" dirty="0">
                <a:solidFill>
                  <a:schemeClr val="tx1"/>
                </a:solidFill>
              </a:rPr>
              <a:t>Storage </a:t>
            </a:r>
            <a:r>
              <a:rPr lang="ja-JP" altLang="en-US" sz="2000" dirty="0">
                <a:solidFill>
                  <a:schemeClr val="tx1"/>
                </a:solidFill>
              </a:rPr>
              <a:t>の肥大化を防ぐ仕組み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B2CF606-CFDB-6F8E-E2E4-917C259C034A}"/>
              </a:ext>
            </a:extLst>
          </p:cNvPr>
          <p:cNvSpPr/>
          <p:nvPr/>
        </p:nvSpPr>
        <p:spPr>
          <a:xfrm>
            <a:off x="6355555" y="1609726"/>
            <a:ext cx="5107782" cy="15988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solidFill>
                  <a:schemeClr val="tx1"/>
                </a:solidFill>
              </a:rPr>
              <a:t>■ </a:t>
            </a:r>
            <a:r>
              <a:rPr lang="ja-JP" altLang="en-US" sz="2000" b="1" dirty="0">
                <a:solidFill>
                  <a:schemeClr val="tx1"/>
                </a:solidFill>
              </a:rPr>
              <a:t>エディター操作性の改善</a:t>
            </a:r>
            <a:endParaRPr lang="ja-JP" altLang="en-US" sz="2000" dirty="0">
              <a:solidFill>
                <a:schemeClr val="tx1"/>
              </a:solidFill>
            </a:endParaRPr>
          </a:p>
          <a:p>
            <a:r>
              <a:rPr lang="en-US" altLang="ja-JP" sz="2000" dirty="0">
                <a:solidFill>
                  <a:schemeClr val="tx1"/>
                </a:solidFill>
              </a:rPr>
              <a:t>Undo / Redo </a:t>
            </a:r>
            <a:r>
              <a:rPr lang="ja-JP" altLang="en-US" sz="2000" dirty="0">
                <a:solidFill>
                  <a:schemeClr val="tx1"/>
                </a:solidFill>
              </a:rPr>
              <a:t>強化</a:t>
            </a:r>
          </a:p>
          <a:p>
            <a:r>
              <a:rPr lang="ja-JP" altLang="en-US" sz="2000" dirty="0">
                <a:solidFill>
                  <a:schemeClr val="tx1"/>
                </a:solidFill>
              </a:rPr>
              <a:t>モバイル操作最適化</a:t>
            </a:r>
          </a:p>
          <a:p>
            <a:r>
              <a:rPr lang="en-US" altLang="ja-JP" sz="2000" dirty="0">
                <a:solidFill>
                  <a:schemeClr val="tx1"/>
                </a:solidFill>
              </a:rPr>
              <a:t>UI </a:t>
            </a:r>
            <a:r>
              <a:rPr lang="ja-JP" altLang="en-US" sz="2000" dirty="0">
                <a:solidFill>
                  <a:schemeClr val="tx1"/>
                </a:solidFill>
              </a:rPr>
              <a:t>操作の改善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44CC341-4D3B-25E3-D4E5-4F0193868F79}"/>
              </a:ext>
            </a:extLst>
          </p:cNvPr>
          <p:cNvSpPr/>
          <p:nvPr/>
        </p:nvSpPr>
        <p:spPr>
          <a:xfrm>
            <a:off x="6355556" y="3682784"/>
            <a:ext cx="5107781" cy="170360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solidFill>
                  <a:schemeClr val="tx1"/>
                </a:solidFill>
              </a:rPr>
              <a:t>■ </a:t>
            </a:r>
            <a:r>
              <a:rPr lang="ja-JP" altLang="en-US" sz="2000" b="1" dirty="0">
                <a:solidFill>
                  <a:schemeClr val="tx1"/>
                </a:solidFill>
              </a:rPr>
              <a:t>画像操作機能の拡張</a:t>
            </a:r>
            <a:endParaRPr lang="ja-JP" altLang="en-US" sz="2000" dirty="0">
              <a:solidFill>
                <a:schemeClr val="tx1"/>
              </a:solidFill>
            </a:endParaRPr>
          </a:p>
          <a:p>
            <a:r>
              <a:rPr lang="ja-JP" altLang="en-US" sz="2000" dirty="0">
                <a:solidFill>
                  <a:schemeClr val="tx1"/>
                </a:solidFill>
              </a:rPr>
              <a:t>画像サイズ変更</a:t>
            </a:r>
          </a:p>
          <a:p>
            <a:r>
              <a:rPr lang="ja-JP" altLang="en-US" sz="2000" dirty="0">
                <a:solidFill>
                  <a:schemeClr val="tx1"/>
                </a:solidFill>
              </a:rPr>
              <a:t>レイヤー管理</a:t>
            </a:r>
          </a:p>
          <a:p>
            <a:r>
              <a:rPr lang="ja-JP" altLang="en-US" sz="2000" dirty="0">
                <a:solidFill>
                  <a:schemeClr val="tx1"/>
                </a:solidFill>
              </a:rPr>
              <a:t>画像配置の調整機能</a:t>
            </a:r>
          </a:p>
        </p:txBody>
      </p:sp>
    </p:spTree>
    <p:extLst>
      <p:ext uri="{BB962C8B-B14F-4D97-AF65-F5344CB8AC3E}">
        <p14:creationId xmlns:p14="http://schemas.microsoft.com/office/powerpoint/2010/main" val="4070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4CA9D6-2DD1-CCCC-5D2F-EB4EBC1E1FC8}"/>
              </a:ext>
            </a:extLst>
          </p:cNvPr>
          <p:cNvSpPr txBox="1"/>
          <p:nvPr/>
        </p:nvSpPr>
        <p:spPr>
          <a:xfrm>
            <a:off x="485775" y="1091774"/>
            <a:ext cx="6838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エディターは扱う状態と機能が多いため、</a:t>
            </a:r>
            <a:br>
              <a:rPr lang="ja-JP" altLang="en-US" sz="2000" b="1" dirty="0"/>
            </a:br>
            <a:r>
              <a:rPr lang="ja-JP" altLang="en-US" sz="2000" b="1" dirty="0"/>
              <a:t>型・</a:t>
            </a:r>
            <a:r>
              <a:rPr lang="en-US" altLang="ja-JP" sz="2000" b="1" dirty="0"/>
              <a:t>UI</a:t>
            </a:r>
            <a:r>
              <a:rPr lang="ja-JP" altLang="en-US" sz="2000" b="1" dirty="0"/>
              <a:t>・処理を分離しないと管理が破綻しやすい。</a:t>
            </a:r>
            <a:endParaRPr kumimoji="1" lang="ja-JP" altLang="en-US" sz="20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04989C-3392-5B7E-19A6-4FB96FDEFEB5}"/>
              </a:ext>
            </a:extLst>
          </p:cNvPr>
          <p:cNvSpPr txBox="1"/>
          <p:nvPr/>
        </p:nvSpPr>
        <p:spPr>
          <a:xfrm>
            <a:off x="485775" y="495300"/>
            <a:ext cx="477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エディターの責務分離と型管理</a:t>
            </a:r>
            <a:endParaRPr kumimoji="1" lang="ja-JP" altLang="en-US" sz="24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B52547-249A-FBBB-6BEA-5C55CC28A4C4}"/>
              </a:ext>
            </a:extLst>
          </p:cNvPr>
          <p:cNvSpPr txBox="1"/>
          <p:nvPr/>
        </p:nvSpPr>
        <p:spPr>
          <a:xfrm>
            <a:off x="485775" y="1934469"/>
            <a:ext cx="42100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エディターで管理している主な責務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画面レイアウト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テキスト編集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画像管理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ドラッグ処理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スナップ処理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履歴管理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書き出し処理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モバイル</a:t>
            </a:r>
            <a:r>
              <a:rPr lang="en-US" altLang="ja-JP" b="1" dirty="0"/>
              <a:t>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API / Storage</a:t>
            </a:r>
            <a:r>
              <a:rPr lang="ja-JP" altLang="en-US" b="1" dirty="0"/>
              <a:t>連携</a:t>
            </a:r>
          </a:p>
          <a:p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19AC7D-CE8D-0B0E-EFFE-C2B5AD1C1CA7}"/>
              </a:ext>
            </a:extLst>
          </p:cNvPr>
          <p:cNvSpPr txBox="1"/>
          <p:nvPr/>
        </p:nvSpPr>
        <p:spPr>
          <a:xfrm>
            <a:off x="5019674" y="2038350"/>
            <a:ext cx="61817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そのための構造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components </a:t>
            </a:r>
            <a:r>
              <a:rPr lang="ja-JP" altLang="en-US" b="1" dirty="0"/>
              <a:t>で</a:t>
            </a:r>
            <a:r>
              <a:rPr lang="en-US" altLang="ja-JP" b="1" dirty="0"/>
              <a:t>UI</a:t>
            </a:r>
            <a:r>
              <a:rPr lang="ja-JP" altLang="en-US" b="1" dirty="0"/>
              <a:t>を分離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hooks </a:t>
            </a:r>
            <a:r>
              <a:rPr lang="ja-JP" altLang="en-US" b="1" dirty="0"/>
              <a:t>で状態管理と操作ロジックを分離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types </a:t>
            </a:r>
            <a:r>
              <a:rPr lang="ja-JP" altLang="en-US" b="1" dirty="0"/>
              <a:t>で</a:t>
            </a:r>
            <a:r>
              <a:rPr lang="en-US" altLang="ja-JP" b="1" dirty="0"/>
              <a:t>Props / State / Action </a:t>
            </a:r>
            <a:r>
              <a:rPr lang="ja-JP" altLang="en-US" b="1" dirty="0"/>
              <a:t>を明示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 err="1"/>
              <a:t>api</a:t>
            </a:r>
            <a:r>
              <a:rPr lang="en-US" altLang="ja-JP" b="1" dirty="0"/>
              <a:t>/uploads/images </a:t>
            </a:r>
            <a:r>
              <a:rPr lang="ja-JP" altLang="en-US" b="1" dirty="0"/>
              <a:t>でアップロード処理を分離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shared/lib/storage / </a:t>
            </a:r>
            <a:r>
              <a:rPr lang="en-US" altLang="ja-JP" b="1" dirty="0" err="1"/>
              <a:t>supabase</a:t>
            </a:r>
            <a:r>
              <a:rPr lang="en-US" altLang="ja-JP" b="1" dirty="0"/>
              <a:t> </a:t>
            </a:r>
            <a:r>
              <a:rPr lang="ja-JP" altLang="en-US" b="1" dirty="0"/>
              <a:t>で保存処理を分離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7179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25692E6-60B6-54E6-2B63-D4D7A549F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5" y="119062"/>
            <a:ext cx="2601193" cy="661987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A3801A4-6921-925E-3EDD-5D0B4AD46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229" y="119062"/>
            <a:ext cx="2892495" cy="661987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5D3A711-FF73-ABDD-F0AD-71E4CD33A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095" y="119062"/>
            <a:ext cx="2753077" cy="661987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DECA6DA-E7F0-3E3C-6170-AC6A64A81E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373" y="119063"/>
            <a:ext cx="2991202" cy="6619874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9B442A7-A660-D826-4FDC-D39AF77D3B36}"/>
              </a:ext>
            </a:extLst>
          </p:cNvPr>
          <p:cNvSpPr/>
          <p:nvPr/>
        </p:nvSpPr>
        <p:spPr>
          <a:xfrm>
            <a:off x="389220" y="266700"/>
            <a:ext cx="4867276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エディターを構成しているファイル一覧</a:t>
            </a:r>
          </a:p>
        </p:txBody>
      </p:sp>
    </p:spTree>
    <p:extLst>
      <p:ext uri="{BB962C8B-B14F-4D97-AF65-F5344CB8AC3E}">
        <p14:creationId xmlns:p14="http://schemas.microsoft.com/office/powerpoint/2010/main" val="3635045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45F7534-59F2-85F1-F576-FD2CE4029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32" y="304800"/>
            <a:ext cx="5205782" cy="39243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39E858D-485D-3318-728F-54396A097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454" y="1543050"/>
            <a:ext cx="5205782" cy="399135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18C510-1ADD-4F18-F33F-510C4B47A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5" y="3124582"/>
            <a:ext cx="4846425" cy="3648075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96F81F7-7313-B3C7-66AA-BCCF5A7259D7}"/>
              </a:ext>
            </a:extLst>
          </p:cNvPr>
          <p:cNvSpPr/>
          <p:nvPr/>
        </p:nvSpPr>
        <p:spPr>
          <a:xfrm>
            <a:off x="6096000" y="409193"/>
            <a:ext cx="424815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err="1"/>
              <a:t>Desctop</a:t>
            </a:r>
            <a:r>
              <a:rPr lang="ja-JP" altLang="en-US" sz="2000" b="1" dirty="0"/>
              <a:t>だけで使われてる型定義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48144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63E8CF-57F7-FBCF-91A8-F823A26DEF7E}"/>
              </a:ext>
            </a:extLst>
          </p:cNvPr>
          <p:cNvSpPr txBox="1"/>
          <p:nvPr/>
        </p:nvSpPr>
        <p:spPr>
          <a:xfrm>
            <a:off x="533398" y="1294358"/>
            <a:ext cx="1040130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現在は、フォント追加などの拡張しやすい要素よりも、</a:t>
            </a:r>
            <a:br>
              <a:rPr lang="ja-JP" altLang="en-US" sz="2800" dirty="0"/>
            </a:br>
            <a:r>
              <a:rPr lang="ja-JP" altLang="en-US" sz="2800" b="1" dirty="0"/>
              <a:t>システムの安定性と基盤設計を優先して開発しています。</a:t>
            </a:r>
            <a:endParaRPr lang="ja-JP" altLang="en-US" sz="2800" dirty="0"/>
          </a:p>
          <a:p>
            <a:r>
              <a:rPr lang="ja-JP" altLang="en-US" sz="2800" dirty="0"/>
              <a:t>その理由として、エディターは</a:t>
            </a:r>
            <a:br>
              <a:rPr lang="ja-JP" altLang="en-US" sz="2800" dirty="0"/>
            </a:br>
            <a:r>
              <a:rPr lang="ja-JP" altLang="en-US" sz="2800" dirty="0"/>
              <a:t>画像管理・履歴管理・アップロード処理・状態復元など</a:t>
            </a:r>
            <a:br>
              <a:rPr lang="ja-JP" altLang="en-US" sz="2800" dirty="0"/>
            </a:br>
            <a:r>
              <a:rPr lang="ja-JP" altLang="en-US" sz="2800" dirty="0"/>
              <a:t>多くの処理が関係するためです。</a:t>
            </a:r>
          </a:p>
          <a:p>
            <a:r>
              <a:rPr lang="ja-JP" altLang="en-US" sz="2800" dirty="0"/>
              <a:t>そのため、サービス全体の可用性を維持できるよう</a:t>
            </a:r>
            <a:br>
              <a:rPr lang="ja-JP" altLang="en-US" sz="2800" dirty="0"/>
            </a:br>
            <a:r>
              <a:rPr lang="ja-JP" altLang="en-US" sz="2800" b="1" dirty="0"/>
              <a:t>基盤部分の設計を優先して進めています。</a:t>
            </a:r>
            <a:endParaRPr lang="ja-JP" altLang="en-US" sz="2800" dirty="0"/>
          </a:p>
          <a:p>
            <a:r>
              <a:rPr lang="ja-JP" altLang="en-US" sz="2800" dirty="0"/>
              <a:t>また、現在は他にも</a:t>
            </a:r>
            <a:br>
              <a:rPr lang="ja-JP" altLang="en-US" sz="2800" dirty="0"/>
            </a:br>
            <a:r>
              <a:rPr lang="en-US" altLang="ja-JP" sz="2800" dirty="0"/>
              <a:t>eBay</a:t>
            </a:r>
            <a:r>
              <a:rPr lang="ja-JP" altLang="en-US" sz="2800" dirty="0"/>
              <a:t>向けの計算ツールなどの開発も並行して対応しています。</a:t>
            </a:r>
          </a:p>
          <a:p>
            <a:r>
              <a:rPr lang="ja-JP" altLang="en-US" sz="2800" dirty="0"/>
              <a:t>デザインや機能の追加については、</a:t>
            </a:r>
            <a:br>
              <a:rPr lang="ja-JP" altLang="en-US" sz="2800" dirty="0"/>
            </a:br>
            <a:r>
              <a:rPr lang="ja-JP" altLang="en-US" sz="2800" dirty="0"/>
              <a:t>基盤が整い次第、順次対応していく予定です。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CB997F-6AE9-AE09-9A33-1AB5B2F1352B}"/>
              </a:ext>
            </a:extLst>
          </p:cNvPr>
          <p:cNvSpPr txBox="1"/>
          <p:nvPr/>
        </p:nvSpPr>
        <p:spPr>
          <a:xfrm>
            <a:off x="533398" y="527090"/>
            <a:ext cx="4410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最後に</a:t>
            </a:r>
          </a:p>
        </p:txBody>
      </p:sp>
    </p:spTree>
    <p:extLst>
      <p:ext uri="{BB962C8B-B14F-4D97-AF65-F5344CB8AC3E}">
        <p14:creationId xmlns:p14="http://schemas.microsoft.com/office/powerpoint/2010/main" val="361725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1247</Words>
  <Application>Microsoft Office PowerPoint</Application>
  <PresentationFormat>ワイド画面</PresentationFormat>
  <Paragraphs>208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5" baseType="lpstr">
      <vt:lpstr>HGP創英角ﾎﾟｯﾌﾟ体</vt:lpstr>
      <vt:lpstr>HG創英角ﾎﾟｯﾌﾟ体</vt:lpstr>
      <vt:lpstr>游ゴシック</vt:lpstr>
      <vt:lpstr>游ゴシック Light</vt:lpstr>
      <vt:lpstr>Arial</vt:lpstr>
      <vt:lpstr>Office テーマ</vt:lpstr>
      <vt:lpstr>CardCraft 名刺デザインエディタ  React / Next.js 製・WordPress埋め込み対応</vt:lpstr>
      <vt:lpstr>SECTION 1  エディター仕様</vt:lpstr>
      <vt:lpstr>PowerPoint プレゼンテーション</vt:lpstr>
      <vt:lpstr>PowerPoint プレゼンテーション</vt:lpstr>
      <vt:lpstr>SECTION 2  実装の難しさ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SECTION 3 今後取り掛かる事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 今</dc:creator>
  <cp:lastModifiedBy>一 今</cp:lastModifiedBy>
  <cp:revision>7</cp:revision>
  <dcterms:created xsi:type="dcterms:W3CDTF">2026-03-13T01:25:59Z</dcterms:created>
  <dcterms:modified xsi:type="dcterms:W3CDTF">2026-03-25T11:20:17Z</dcterms:modified>
</cp:coreProperties>
</file>