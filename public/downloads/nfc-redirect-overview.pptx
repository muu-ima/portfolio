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4" r:id="rId5"/>
    <p:sldId id="277" r:id="rId6"/>
    <p:sldId id="275" r:id="rId7"/>
    <p:sldId id="276" r:id="rId8"/>
    <p:sldId id="270" r:id="rId9"/>
    <p:sldId id="274" r:id="rId10"/>
    <p:sldId id="265" r:id="rId11"/>
    <p:sldId id="273" r:id="rId12"/>
    <p:sldId id="262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3C1D6-5CB3-52E6-5A66-362A93F93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D7630F6-0EF9-3DB3-DBFC-85042C13B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423D5B-32D0-549D-C0EC-32F9423A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725958-18FE-856F-BB7B-47AF51AB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ADF81A-54EC-5B67-4A83-5DA5AAAB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2458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CC1ED-A6AC-E1F2-AECE-1C3B27D3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C10438-F5CA-7F36-F1F9-D71050097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3DC2E6-3FA1-837B-3BA2-6F7F7A08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51BBDC-41D3-6CC0-9E46-3A530E0A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880F2A-6A25-4182-7B34-E1DDDA67A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36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E156E-F811-C566-C80E-F377C204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8DEE1C-ABA0-23A0-642D-A7344C385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4D5363-F87D-8E66-02E7-99932B62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23518F-0452-79E4-3985-ECE67B460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A93DC2-4229-CE71-A78B-1AF1A530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74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F25EB7-C806-F4AF-D766-57A7FA25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E9E5B8-810B-3F89-0A9E-34EFB16E2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2AD89D-F3B7-E753-80BB-A555AAC69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95E66A-77C1-856A-11D3-AEA39593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D9100-B52B-46B8-A753-16F68D6E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FFD836-80EF-D591-6784-82C88A7C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05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A704D7-B7CA-5AA9-7347-8A9E7871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B952D7-F64E-4006-D952-A34D8BB96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B690D1-5FCF-2E88-FE8A-A3FC4F031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20EE40-BC2E-694B-DBAF-6430D019E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ED6543-8573-54E8-AB41-4596970CB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EDBEA8-B47B-57CF-7F56-6845628D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76CDA2-06F4-0B4A-BB9D-84D77CEE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4EC3D2-BB27-1886-EE16-A9C87428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777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5C591-44DB-C354-A86A-246D4689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A718575-28BD-49C5-32E8-E2084950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7D3EE4-4F4F-A42B-3B67-2E7DA4D1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2A0E6B1-F401-54A8-B8A3-53876474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91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0A416E-86EE-AB8E-566B-832E8788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FBE3F3-06E4-E1AF-3550-A889B7A2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F351F5-E006-2D89-1CD1-F59C8840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997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5C65A-76B7-AF79-1EDC-B5552337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994A89-717D-0316-218C-A95417327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3105C6-C923-C087-B142-8A16A4C9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71EF84-C21F-CE7B-F480-94BADEB38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F231DA-761A-426E-98C4-33C15446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1CC966-B050-DA7F-C95A-260C76AE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83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B9641A-8174-E50A-4CF2-4C2115C6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060EE81-097E-43E6-D35B-E4C3BD9DB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DAD62E-4D3C-F9F8-5994-656C4861C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4E0AA9-18CD-9330-A300-063CA2DE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E481BB-877D-6DD1-A00F-074CFDF6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E77906-4B14-3C2E-2431-381C9459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18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B61D8B-D98C-33A3-242B-774EB8CF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7FBAAF-30FB-1AE8-D740-99C085B4B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9FEAF6-A468-CBFB-AE9F-B2610528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F349D2-24E3-FFDC-6A88-1A9096E8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962448-7964-19B8-4925-4AAFD183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42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EA2D89-BC9A-E190-EA07-D9B22FC2F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489E70-E12D-9D53-BF8E-619B89988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E8CEA8-AAD8-2F98-6EC6-09142B75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C3D6D0-20DB-9C02-9C23-5EA1F325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AA87ED-C714-171D-8479-042FC308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13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A40461-AB73-DBDE-0710-87FA606E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8B8980-50DF-E75C-05AE-4154F26C1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5FA728-0119-676C-3776-33DD2071A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02B10-CDDC-4AC2-8BDF-4E89B398B1DB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55D782-3129-B690-2FE0-5BD29BD95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D7A667-5839-64C9-2330-03AA11AFB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D326C-7224-473F-BE75-E37C0A4B3F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63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7C4C7A-839D-4CB8-0807-42EF427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299" y="1714499"/>
            <a:ext cx="11163301" cy="1208087"/>
          </a:xfrm>
        </p:spPr>
        <p:txBody>
          <a:bodyPr>
            <a:normAutofit/>
          </a:bodyPr>
          <a:lstStyle/>
          <a:p>
            <a:r>
              <a:rPr lang="ja-JP" altLang="en-US" sz="8000" b="1" dirty="0">
                <a:latin typeface="+mn-ea"/>
                <a:ea typeface="+mn-ea"/>
              </a:rPr>
              <a:t>パステルリンク</a:t>
            </a:r>
            <a:endParaRPr kumimoji="1" lang="ja-JP" altLang="en-US" sz="8000" b="1" dirty="0">
              <a:latin typeface="+mn-ea"/>
              <a:ea typeface="+mn-ea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3D3181-B310-5D65-08F0-A57D0D26F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1139"/>
            <a:ext cx="9144000" cy="1008062"/>
          </a:xfrm>
        </p:spPr>
        <p:txBody>
          <a:bodyPr>
            <a:normAutofit/>
          </a:bodyPr>
          <a:lstStyle/>
          <a:p>
            <a:pPr algn="r"/>
            <a:r>
              <a:rPr lang="en-US" altLang="ja-JP" b="1" dirty="0"/>
              <a:t>NFC</a:t>
            </a:r>
            <a:r>
              <a:rPr lang="ja-JP" altLang="en-US" b="1" dirty="0"/>
              <a:t>プロフィール基盤（改訂版）</a:t>
            </a:r>
            <a:endParaRPr lang="en-US" altLang="ja-JP" b="1" dirty="0"/>
          </a:p>
          <a:p>
            <a:pPr algn="r"/>
            <a:r>
              <a:rPr lang="ja-JP" altLang="en-US" b="1" dirty="0"/>
              <a:t>開発状況まとめ｜</a:t>
            </a:r>
            <a:r>
              <a:rPr lang="en-US" altLang="ja-JP" sz="1600" b="1" dirty="0">
                <a:solidFill>
                  <a:schemeClr val="bg1">
                    <a:lumMod val="75000"/>
                  </a:schemeClr>
                </a:solidFill>
              </a:rPr>
              <a:t>2026.01.27</a:t>
            </a:r>
            <a:endParaRPr kumimoji="1" lang="ja-JP" altLang="en-US" sz="16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51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1B924B-DBE9-63B3-9BBB-A7267FD121A4}"/>
              </a:ext>
            </a:extLst>
          </p:cNvPr>
          <p:cNvSpPr txBox="1"/>
          <p:nvPr/>
        </p:nvSpPr>
        <p:spPr>
          <a:xfrm>
            <a:off x="854867" y="516552"/>
            <a:ext cx="852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/>
              <a:t>1. </a:t>
            </a:r>
            <a:r>
              <a:rPr lang="ja-JP" altLang="en-US" sz="3600" b="1" dirty="0"/>
              <a:t>ゴール（この仕組みで何ができる？）</a:t>
            </a:r>
            <a:endParaRPr kumimoji="1" lang="ja-JP" altLang="en-US" sz="36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C9277C-66A4-69BD-8E07-EE8C6767FEB2}"/>
              </a:ext>
            </a:extLst>
          </p:cNvPr>
          <p:cNvSpPr txBox="1"/>
          <p:nvPr/>
        </p:nvSpPr>
        <p:spPr>
          <a:xfrm>
            <a:off x="854867" y="1552575"/>
            <a:ext cx="874871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/>
              <a:t>🎯 目的</a:t>
            </a:r>
          </a:p>
          <a:p>
            <a:r>
              <a:rPr lang="en-US" altLang="ja-JP" sz="2800" dirty="0"/>
              <a:t>WordPress</a:t>
            </a:r>
            <a:r>
              <a:rPr lang="ja-JP" altLang="en-US" sz="2800" dirty="0"/>
              <a:t>管理画面から</a:t>
            </a:r>
            <a:br>
              <a:rPr lang="ja-JP" altLang="en-US" sz="2800" dirty="0"/>
            </a:br>
            <a:r>
              <a:rPr lang="en-US" altLang="ja-JP" sz="2800" dirty="0"/>
              <a:t>NFC</a:t>
            </a:r>
            <a:r>
              <a:rPr lang="ja-JP" altLang="en-US" sz="2800" dirty="0"/>
              <a:t>カード用プロフィールページを</a:t>
            </a:r>
            <a:br>
              <a:rPr lang="ja-JP" altLang="en-US" sz="2800" dirty="0"/>
            </a:br>
            <a:r>
              <a:rPr lang="ja-JP" altLang="en-US" sz="3200" b="1" dirty="0">
                <a:solidFill>
                  <a:srgbClr val="FF0000"/>
                </a:solidFill>
              </a:rPr>
              <a:t>安全に発行・編集できる基盤を構築します</a:t>
            </a:r>
            <a:endParaRPr lang="ja-JP" altLang="en-US" sz="3200" dirty="0">
              <a:solidFill>
                <a:srgbClr val="FF0000"/>
              </a:solidFill>
            </a:endParaRPr>
          </a:p>
          <a:p>
            <a:r>
              <a:rPr lang="ja-JP" altLang="en-US" sz="3200" b="1" dirty="0"/>
              <a:t>🧩 運用イメージ</a:t>
            </a:r>
          </a:p>
          <a:p>
            <a:r>
              <a:rPr lang="en-US" altLang="ja-JP" sz="2800" dirty="0"/>
              <a:t>WP</a:t>
            </a:r>
            <a:r>
              <a:rPr lang="ja-JP" altLang="en-US" sz="2800" dirty="0"/>
              <a:t>で発行</a:t>
            </a:r>
            <a:br>
              <a:rPr lang="ja-JP" altLang="en-US" sz="2800" dirty="0"/>
            </a:br>
            <a:r>
              <a:rPr lang="ja-JP" altLang="en-US" sz="2800" dirty="0"/>
              <a:t>→ </a:t>
            </a:r>
            <a:r>
              <a:rPr lang="en-US" altLang="ja-JP" sz="2800" dirty="0"/>
              <a:t>URL</a:t>
            </a:r>
            <a:r>
              <a:rPr lang="ja-JP" altLang="en-US" sz="2800" dirty="0"/>
              <a:t>を渡す</a:t>
            </a:r>
            <a:br>
              <a:rPr lang="ja-JP" altLang="en-US" sz="2800" dirty="0"/>
            </a:br>
            <a:r>
              <a:rPr lang="ja-JP" altLang="en-US" sz="2800" dirty="0"/>
              <a:t>→ 本人が編集</a:t>
            </a:r>
            <a:br>
              <a:rPr lang="ja-JP" altLang="en-US" sz="2800" dirty="0"/>
            </a:br>
            <a:r>
              <a:rPr lang="ja-JP" altLang="en-US" sz="2800" dirty="0"/>
              <a:t>→ 公開ページ完成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140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850E04-2734-6A11-A6CC-24C9C342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4600"/>
          </a:xfrm>
        </p:spPr>
        <p:txBody>
          <a:bodyPr>
            <a:normAutofit/>
          </a:bodyPr>
          <a:lstStyle/>
          <a:p>
            <a:r>
              <a:rPr lang="en-US" altLang="ja-JP" sz="4000" b="1" dirty="0">
                <a:latin typeface="+mn-ea"/>
                <a:ea typeface="+mn-ea"/>
              </a:rPr>
              <a:t>2. </a:t>
            </a:r>
            <a:r>
              <a:rPr lang="ja-JP" altLang="en-US" sz="4000" b="1" dirty="0">
                <a:latin typeface="+mn-ea"/>
                <a:ea typeface="+mn-ea"/>
              </a:rPr>
              <a:t>全体アーキテクチャ（現行構成） 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AA6FAC-B76A-36B4-91F7-74E7FA478F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1" dirty="0"/>
              <a:t>WordPress</a:t>
            </a:r>
          </a:p>
          <a:p>
            <a:pPr marL="0" indent="0">
              <a:buNone/>
            </a:pPr>
            <a:r>
              <a:rPr lang="ja-JP" altLang="en-US" b="1" dirty="0"/>
              <a:t>（管理・発行トリガー）</a:t>
            </a:r>
          </a:p>
          <a:p>
            <a:pPr marL="0" indent="0">
              <a:buNone/>
            </a:pPr>
            <a:r>
              <a:rPr lang="ja-JP" altLang="en-US" b="1" dirty="0"/>
              <a:t>        ↓ </a:t>
            </a:r>
            <a:r>
              <a:rPr lang="en-US" altLang="ja-JP" b="1" dirty="0"/>
              <a:t>create/sync API</a:t>
            </a:r>
          </a:p>
          <a:p>
            <a:pPr marL="0" indent="0">
              <a:buNone/>
            </a:pPr>
            <a:r>
              <a:rPr lang="en-US" altLang="ja-JP" b="1" dirty="0"/>
              <a:t>Next.js</a:t>
            </a:r>
            <a:r>
              <a:rPr lang="ja-JP" altLang="en-US" b="1" dirty="0"/>
              <a:t>（</a:t>
            </a:r>
            <a:r>
              <a:rPr lang="en-US" altLang="ja-JP" b="1" dirty="0" err="1"/>
              <a:t>Vercel</a:t>
            </a:r>
            <a:r>
              <a:rPr lang="ja-JP" altLang="en-US" b="1" dirty="0"/>
              <a:t>）</a:t>
            </a:r>
          </a:p>
          <a:p>
            <a:pPr marL="0" indent="0">
              <a:buNone/>
            </a:pPr>
            <a:r>
              <a:rPr lang="ja-JP" altLang="en-US" b="1" dirty="0"/>
              <a:t>（</a:t>
            </a:r>
            <a:r>
              <a:rPr lang="en-US" altLang="ja-JP" b="1" dirty="0"/>
              <a:t>API / </a:t>
            </a:r>
            <a:r>
              <a:rPr lang="ja-JP" altLang="en-US" b="1" dirty="0"/>
              <a:t>編集</a:t>
            </a:r>
            <a:r>
              <a:rPr lang="en-US" altLang="ja-JP" b="1" dirty="0"/>
              <a:t>UI / </a:t>
            </a:r>
            <a:r>
              <a:rPr lang="ja-JP" altLang="en-US" b="1" dirty="0"/>
              <a:t>公開</a:t>
            </a:r>
            <a:r>
              <a:rPr lang="en-US" altLang="ja-JP" b="1" dirty="0"/>
              <a:t>UI</a:t>
            </a:r>
            <a:r>
              <a:rPr lang="ja-JP" altLang="en-US" b="1" dirty="0"/>
              <a:t>）</a:t>
            </a:r>
          </a:p>
          <a:p>
            <a:pPr marL="0" indent="0">
              <a:buNone/>
            </a:pPr>
            <a:r>
              <a:rPr lang="ja-JP" altLang="en-US" b="1" dirty="0"/>
              <a:t>        ↓</a:t>
            </a:r>
          </a:p>
          <a:p>
            <a:pPr marL="0" indent="0">
              <a:buNone/>
            </a:pPr>
            <a:r>
              <a:rPr lang="en-US" altLang="ja-JP" b="1" dirty="0" err="1"/>
              <a:t>Supabase</a:t>
            </a:r>
            <a:endParaRPr lang="en-US" altLang="ja-JP" b="1" dirty="0"/>
          </a:p>
          <a:p>
            <a:pPr marL="0" indent="0">
              <a:buNone/>
            </a:pPr>
            <a:r>
              <a:rPr lang="ja-JP" altLang="en-US" b="1" dirty="0"/>
              <a:t>（</a:t>
            </a:r>
            <a:r>
              <a:rPr lang="en-US" altLang="ja-JP" b="1" dirty="0"/>
              <a:t>profiles DB</a:t>
            </a:r>
            <a:r>
              <a:rPr lang="ja-JP" altLang="en-US" b="1" dirty="0"/>
              <a:t>）</a:t>
            </a:r>
          </a:p>
          <a:p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0E6867-C208-075E-45CF-B0BDE64AB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25625"/>
            <a:ext cx="590550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3200" b="1" dirty="0"/>
              <a:t>役割分担</a:t>
            </a:r>
          </a:p>
          <a:p>
            <a:pPr marL="0" indent="0">
              <a:buNone/>
            </a:pPr>
            <a:r>
              <a:rPr lang="en-US" altLang="ja-JP" sz="2400" dirty="0"/>
              <a:t>WP</a:t>
            </a:r>
            <a:r>
              <a:rPr lang="ja-JP" altLang="en-US" sz="2400" dirty="0"/>
              <a:t>：管理</a:t>
            </a:r>
            <a:r>
              <a:rPr lang="en-US" altLang="ja-JP" sz="2400" dirty="0"/>
              <a:t>UI</a:t>
            </a:r>
            <a:r>
              <a:rPr lang="ja-JP" altLang="en-US" sz="2400" dirty="0"/>
              <a:t>（発行・操作）</a:t>
            </a:r>
          </a:p>
          <a:p>
            <a:pPr marL="0" indent="0">
              <a:buNone/>
            </a:pPr>
            <a:r>
              <a:rPr lang="en-US" altLang="ja-JP" sz="2400" dirty="0"/>
              <a:t>Next</a:t>
            </a:r>
            <a:r>
              <a:rPr lang="ja-JP" altLang="en-US" sz="2400" dirty="0"/>
              <a:t>：</a:t>
            </a:r>
            <a:r>
              <a:rPr lang="en-US" altLang="ja-JP" sz="2400" dirty="0"/>
              <a:t>API + </a:t>
            </a:r>
            <a:r>
              <a:rPr lang="ja-JP" altLang="en-US" sz="2400" dirty="0"/>
              <a:t>編集画面 </a:t>
            </a:r>
            <a:r>
              <a:rPr lang="en-US" altLang="ja-JP" sz="2400" dirty="0"/>
              <a:t>+ </a:t>
            </a:r>
            <a:r>
              <a:rPr lang="ja-JP" altLang="en-US" sz="2400" dirty="0"/>
              <a:t>公開ページ</a:t>
            </a:r>
          </a:p>
          <a:p>
            <a:pPr marL="0" indent="0">
              <a:buNone/>
            </a:pPr>
            <a:r>
              <a:rPr lang="en-US" altLang="ja-JP" sz="2400" dirty="0" err="1"/>
              <a:t>Supabase</a:t>
            </a:r>
            <a:r>
              <a:rPr lang="ja-JP" altLang="en-US" sz="2400" dirty="0"/>
              <a:t>：データ保存（唯一の真実）</a:t>
            </a:r>
          </a:p>
          <a:p>
            <a:endParaRPr lang="ja-JP" altLang="en-US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2739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FBD7F-8414-12B0-4923-6CD445BAD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4D1D2D-2DAA-4183-17F5-B9C6E7731A8D}"/>
              </a:ext>
            </a:extLst>
          </p:cNvPr>
          <p:cNvSpPr txBox="1"/>
          <p:nvPr/>
        </p:nvSpPr>
        <p:spPr>
          <a:xfrm>
            <a:off x="854867" y="611832"/>
            <a:ext cx="852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/>
              <a:t>3. </a:t>
            </a:r>
            <a:r>
              <a:rPr lang="ja-JP" altLang="en-US" sz="3600" b="1" dirty="0"/>
              <a:t>実装済み一覧（現在ここまで完成）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D0B437-F4A8-28ED-229A-A2C2082076C4}"/>
              </a:ext>
            </a:extLst>
          </p:cNvPr>
          <p:cNvSpPr txBox="1"/>
          <p:nvPr/>
        </p:nvSpPr>
        <p:spPr>
          <a:xfrm>
            <a:off x="854867" y="1552575"/>
            <a:ext cx="874871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✅ 実装済み機能</a:t>
            </a:r>
          </a:p>
          <a:p>
            <a:r>
              <a:rPr lang="en-US" altLang="ja-JP" sz="3200" b="1" dirty="0"/>
              <a:t>create / sync API</a:t>
            </a:r>
          </a:p>
          <a:p>
            <a:r>
              <a:rPr lang="ja-JP" altLang="en-US" sz="3200" b="1" dirty="0"/>
              <a:t>公開ページ </a:t>
            </a:r>
            <a:r>
              <a:rPr lang="en-US" altLang="ja-JP" sz="3200" b="1" dirty="0"/>
              <a:t>/p/[code]</a:t>
            </a:r>
          </a:p>
          <a:p>
            <a:r>
              <a:rPr lang="ja-JP" altLang="en-US" sz="3200" b="1" dirty="0"/>
              <a:t>エイリアス </a:t>
            </a:r>
            <a:r>
              <a:rPr lang="en-US" altLang="ja-JP" sz="3200" b="1" dirty="0"/>
              <a:t>/u/[slug]</a:t>
            </a:r>
          </a:p>
          <a:p>
            <a:r>
              <a:rPr lang="ja-JP" altLang="en-US" sz="3200" b="1" dirty="0"/>
              <a:t>編集ページ </a:t>
            </a:r>
            <a:r>
              <a:rPr lang="en-US" altLang="ja-JP" sz="3200" b="1" dirty="0"/>
              <a:t>/edit/[code]</a:t>
            </a:r>
          </a:p>
          <a:p>
            <a:r>
              <a:rPr lang="en-US" altLang="ja-JP" sz="3200" b="1" dirty="0"/>
              <a:t>WP → API </a:t>
            </a:r>
            <a:r>
              <a:rPr lang="ja-JP" altLang="en-US" sz="3200" b="1" dirty="0"/>
              <a:t>自動連携</a:t>
            </a:r>
          </a:p>
          <a:p>
            <a:r>
              <a:rPr lang="ja-JP" altLang="en-US" sz="3200" b="1" dirty="0"/>
              <a:t>トークン認証付き編集</a:t>
            </a:r>
          </a:p>
          <a:p>
            <a:r>
              <a:rPr lang="ja-JP" altLang="en-US" sz="3200" b="1" dirty="0"/>
              <a:t>ローカル </a:t>
            </a:r>
            <a:r>
              <a:rPr lang="en-US" altLang="ja-JP" sz="3200" b="1" dirty="0"/>
              <a:t>/ </a:t>
            </a:r>
            <a:r>
              <a:rPr lang="ja-JP" altLang="en-US" sz="3200" b="1" dirty="0"/>
              <a:t>本番 動作確認済み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6918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871830-D9FC-4FAA-C708-108CD79BFDDC}"/>
              </a:ext>
            </a:extLst>
          </p:cNvPr>
          <p:cNvSpPr txBox="1"/>
          <p:nvPr/>
        </p:nvSpPr>
        <p:spPr>
          <a:xfrm>
            <a:off x="552450" y="285750"/>
            <a:ext cx="5391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/>
              <a:t>API</a:t>
            </a:r>
            <a:r>
              <a:rPr lang="ja-JP" altLang="en-US" sz="2800" b="1" dirty="0"/>
              <a:t>（エーピーアイ）について</a:t>
            </a:r>
            <a:endParaRPr kumimoji="1" lang="ja-JP" altLang="en-US" sz="28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2EF419-18D2-64CE-224F-693CE8B0000E}"/>
              </a:ext>
            </a:extLst>
          </p:cNvPr>
          <p:cNvSpPr txBox="1"/>
          <p:nvPr/>
        </p:nvSpPr>
        <p:spPr>
          <a:xfrm>
            <a:off x="442912" y="904875"/>
            <a:ext cx="1130617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システム同士をつなぐ「連絡係」や「受付窓口」</a:t>
            </a:r>
            <a:endParaRPr lang="ja-JP" altLang="en-US" sz="2400" dirty="0"/>
          </a:p>
          <a:p>
            <a:r>
              <a:rPr lang="en-US" altLang="ja-JP" sz="2400" dirty="0"/>
              <a:t>WordPress </a:t>
            </a:r>
            <a:r>
              <a:rPr lang="ja-JP" altLang="en-US" sz="2400" dirty="0"/>
              <a:t>と </a:t>
            </a:r>
            <a:r>
              <a:rPr lang="en-US" altLang="ja-JP" sz="2400" dirty="0"/>
              <a:t>Next.js </a:t>
            </a:r>
            <a:r>
              <a:rPr lang="ja-JP" altLang="en-US" sz="2400" dirty="0"/>
              <a:t>が</a:t>
            </a:r>
            <a:br>
              <a:rPr lang="ja-JP" altLang="en-US" sz="2400" dirty="0"/>
            </a:br>
            <a:r>
              <a:rPr lang="ja-JP" altLang="en-US" sz="2400" dirty="0"/>
              <a:t>直接データをやり取りせず、</a:t>
            </a:r>
          </a:p>
          <a:p>
            <a:r>
              <a:rPr lang="ja-JP" altLang="en-US" sz="2400" dirty="0"/>
              <a:t>👉 </a:t>
            </a:r>
            <a:r>
              <a:rPr lang="en-US" altLang="ja-JP" sz="2400" b="1" dirty="0"/>
              <a:t>API </a:t>
            </a:r>
            <a:r>
              <a:rPr lang="ja-JP" altLang="en-US" sz="2400" b="1" dirty="0"/>
              <a:t>を通して</a:t>
            </a:r>
            <a:r>
              <a:rPr lang="ja-JP" altLang="en-US" sz="2800" b="1" dirty="0">
                <a:solidFill>
                  <a:srgbClr val="C00000"/>
                </a:solidFill>
              </a:rPr>
              <a:t>「作成」「更新」「取得」</a:t>
            </a:r>
            <a:r>
              <a:rPr lang="ja-JP" altLang="en-US" sz="2400" dirty="0"/>
              <a:t>などの命令を受け渡しする役割。</a:t>
            </a:r>
            <a:r>
              <a:rPr lang="ja-JP" altLang="en-US" sz="2400" b="1" dirty="0"/>
              <a:t>例）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「プロフィール作って」→ </a:t>
            </a:r>
            <a:r>
              <a:rPr lang="en-US" altLang="ja-JP" sz="2400" dirty="0"/>
              <a:t>create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「更新して」→ </a:t>
            </a:r>
            <a:r>
              <a:rPr lang="en-US" altLang="ja-JP" sz="2400" dirty="0"/>
              <a:t>update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「情報ちょうだい」→ </a:t>
            </a:r>
            <a:r>
              <a:rPr lang="en-US" altLang="ja-JP" sz="2400" dirty="0"/>
              <a:t>get API</a:t>
            </a:r>
          </a:p>
          <a:p>
            <a:r>
              <a:rPr lang="ja-JP" altLang="en-US" sz="2400" b="1" dirty="0"/>
              <a:t>イメージ</a:t>
            </a:r>
          </a:p>
          <a:p>
            <a:r>
              <a:rPr lang="ja-JP" altLang="en-US" sz="2800" b="1" dirty="0"/>
              <a:t>管理画面 →（</a:t>
            </a:r>
            <a:r>
              <a:rPr lang="en-US" altLang="ja-JP" sz="2800" b="1" dirty="0"/>
              <a:t>API</a:t>
            </a:r>
            <a:r>
              <a:rPr lang="ja-JP" altLang="en-US" sz="2800" b="1" dirty="0"/>
              <a:t>）→ </a:t>
            </a:r>
            <a:r>
              <a:rPr lang="en-US" altLang="ja-JP" sz="2800" b="1" dirty="0"/>
              <a:t>Next →</a:t>
            </a:r>
            <a:r>
              <a:rPr lang="ja-JP" altLang="en-US" sz="2800" b="1" dirty="0"/>
              <a:t>（</a:t>
            </a:r>
            <a:r>
              <a:rPr lang="en-US" altLang="ja-JP" sz="2800" b="1" dirty="0"/>
              <a:t>DB</a:t>
            </a:r>
            <a:r>
              <a:rPr lang="ja-JP" altLang="en-US" sz="2800" b="1" dirty="0"/>
              <a:t>）</a:t>
            </a:r>
            <a:endParaRPr lang="en-US" altLang="ja-JP" sz="2800" b="1" dirty="0"/>
          </a:p>
          <a:p>
            <a:r>
              <a:rPr lang="ja-JP" altLang="en-US" sz="2800" dirty="0"/>
              <a:t>人でいうと</a:t>
            </a:r>
            <a:br>
              <a:rPr lang="ja-JP" altLang="en-US" sz="2800" dirty="0"/>
            </a:br>
            <a:r>
              <a:rPr lang="ja-JP" altLang="en-US" sz="2800" dirty="0"/>
              <a:t>📞 </a:t>
            </a:r>
            <a:r>
              <a:rPr lang="ja-JP" altLang="en-US" sz="2800" b="1" dirty="0"/>
              <a:t>電話 </a:t>
            </a:r>
            <a:r>
              <a:rPr lang="en-US" altLang="ja-JP" sz="2800" b="1" dirty="0"/>
              <a:t>/ </a:t>
            </a:r>
            <a:r>
              <a:rPr lang="ja-JP" altLang="en-US" sz="2800" b="1" dirty="0"/>
              <a:t>窓口 </a:t>
            </a:r>
            <a:r>
              <a:rPr lang="en-US" altLang="ja-JP" sz="2800" b="1" dirty="0"/>
              <a:t>/ </a:t>
            </a:r>
            <a:r>
              <a:rPr lang="ja-JP" altLang="en-US" sz="2800" b="1" dirty="0"/>
              <a:t>受付</a:t>
            </a:r>
            <a:r>
              <a:rPr lang="ja-JP" altLang="en-US" dirty="0"/>
              <a:t>みたいな存在です</a:t>
            </a:r>
          </a:p>
        </p:txBody>
      </p:sp>
    </p:spTree>
    <p:extLst>
      <p:ext uri="{BB962C8B-B14F-4D97-AF65-F5344CB8AC3E}">
        <p14:creationId xmlns:p14="http://schemas.microsoft.com/office/powerpoint/2010/main" val="273729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56F60A-B4B2-ACCD-3401-16789274E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" y="0"/>
            <a:ext cx="3743325" cy="514352"/>
          </a:xfrm>
        </p:spPr>
        <p:txBody>
          <a:bodyPr>
            <a:normAutofit/>
          </a:bodyPr>
          <a:lstStyle/>
          <a:p>
            <a:r>
              <a:rPr lang="ja-JP" altLang="en-US" sz="2400" b="1" dirty="0">
                <a:latin typeface="+mn-ea"/>
                <a:ea typeface="+mn-ea"/>
              </a:rPr>
              <a:t>用語集（</a:t>
            </a:r>
            <a:r>
              <a:rPr lang="en-US" altLang="ja-JP" sz="2400" b="1" dirty="0">
                <a:latin typeface="+mn-ea"/>
                <a:ea typeface="+mn-ea"/>
              </a:rPr>
              <a:t>Glossary</a:t>
            </a:r>
            <a:r>
              <a:rPr lang="ja-JP" altLang="en-US" sz="2400" b="1" dirty="0">
                <a:latin typeface="+mn-ea"/>
                <a:ea typeface="+mn-ea"/>
              </a:rPr>
              <a:t>）</a:t>
            </a:r>
            <a:endParaRPr kumimoji="1" lang="ja-JP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6EAC3FC-8DB1-79B5-24C1-96A03897F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386059"/>
              </p:ext>
            </p:extLst>
          </p:nvPr>
        </p:nvGraphicFramePr>
        <p:xfrm>
          <a:off x="485775" y="514352"/>
          <a:ext cx="10750550" cy="621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1900">
                  <a:extLst>
                    <a:ext uri="{9D8B030D-6E8A-4147-A177-3AD203B41FA5}">
                      <a16:colId xmlns:a16="http://schemas.microsoft.com/office/drawing/2014/main" val="376387610"/>
                    </a:ext>
                  </a:extLst>
                </a:gridCol>
                <a:gridCol w="8248650">
                  <a:extLst>
                    <a:ext uri="{9D8B030D-6E8A-4147-A177-3AD203B41FA5}">
                      <a16:colId xmlns:a16="http://schemas.microsoft.com/office/drawing/2014/main" val="3230896055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/>
                        <a:t>code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NFC</a:t>
                      </a:r>
                      <a:r>
                        <a:rPr lang="ja-JP" altLang="en-US" dirty="0"/>
                        <a:t>カード</a:t>
                      </a:r>
                      <a:r>
                        <a:rPr lang="en-US" altLang="ja-JP" dirty="0"/>
                        <a:t>1</a:t>
                      </a:r>
                      <a:r>
                        <a:rPr lang="ja-JP" altLang="en-US" dirty="0"/>
                        <a:t>枚ごとに割り当てられる「番号」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この番号をもとにプロフィールを表示します　</a:t>
                      </a:r>
                      <a:endParaRPr lang="en-US" altLang="ja-JP" dirty="0"/>
                    </a:p>
                    <a:p>
                      <a:r>
                        <a:rPr lang="ja-JP" altLang="en-US" dirty="0"/>
                        <a:t>👉 マイナンバー／会員番号みたいなもの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1348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 err="1"/>
                        <a:t>edit_url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プロフィールを「編集するための専用ページ」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この</a:t>
                      </a:r>
                      <a:r>
                        <a:rPr lang="en-US" altLang="ja-JP" dirty="0"/>
                        <a:t>URL</a:t>
                      </a:r>
                      <a:r>
                        <a:rPr lang="ja-JP" altLang="en-US" dirty="0"/>
                        <a:t>を知っている人だけが内容を変更できます　</a:t>
                      </a:r>
                      <a:endParaRPr lang="en-US" altLang="ja-JP" dirty="0"/>
                    </a:p>
                    <a:p>
                      <a:r>
                        <a:rPr lang="ja-JP" altLang="en-US" dirty="0"/>
                        <a:t>👉 合鍵つきの管理画面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689416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 err="1"/>
                        <a:t>public_url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一般公開されるプロフィールページ</a:t>
                      </a:r>
                      <a:br>
                        <a:rPr lang="ja-JP" altLang="en-US" dirty="0"/>
                      </a:br>
                      <a:r>
                        <a:rPr lang="en-US" altLang="ja-JP" dirty="0"/>
                        <a:t>NFC</a:t>
                      </a:r>
                      <a:r>
                        <a:rPr lang="ja-JP" altLang="en-US" dirty="0"/>
                        <a:t>をタッチした人が実際に見るページです</a:t>
                      </a:r>
                      <a:endParaRPr lang="en-US" altLang="ja-JP" dirty="0"/>
                    </a:p>
                    <a:p>
                      <a:r>
                        <a:rPr lang="ja-JP" altLang="en-US" dirty="0"/>
                        <a:t>👉「名刺ページ」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354150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/>
                        <a:t>token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編集できる人かどうかを確認する「合言葉」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編集</a:t>
                      </a:r>
                      <a:r>
                        <a:rPr lang="en-US" altLang="ja-JP" dirty="0"/>
                        <a:t>URL</a:t>
                      </a:r>
                      <a:r>
                        <a:rPr lang="ja-JP" altLang="en-US" dirty="0"/>
                        <a:t>に自動で付与されます</a:t>
                      </a:r>
                      <a:endParaRPr lang="en-US" altLang="ja-JP" dirty="0"/>
                    </a:p>
                    <a:p>
                      <a:r>
                        <a:rPr lang="ja-JP" altLang="en-US" dirty="0"/>
                        <a:t>👉 パスワードの代わり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205919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/>
                        <a:t>hash</a:t>
                      </a:r>
                      <a:r>
                        <a:rPr lang="ja-JP" altLang="en-US" sz="2000" b="1" dirty="0"/>
                        <a:t>（ハッシュ）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トークンを「元に戻せない形」に変換した安全なデータ</a:t>
                      </a:r>
                      <a:br>
                        <a:rPr lang="ja-JP" altLang="en-US" dirty="0"/>
                      </a:br>
                      <a:r>
                        <a:rPr lang="en-US" altLang="ja-JP" dirty="0"/>
                        <a:t>DB</a:t>
                      </a:r>
                      <a:r>
                        <a:rPr lang="ja-JP" altLang="en-US" dirty="0"/>
                        <a:t>にはこの変換後の値だけ保存します</a:t>
                      </a:r>
                    </a:p>
                    <a:p>
                      <a:r>
                        <a:rPr lang="ja-JP" altLang="en-US" dirty="0"/>
                        <a:t>👉 もし</a:t>
                      </a:r>
                      <a:r>
                        <a:rPr lang="en-US" altLang="ja-JP" dirty="0"/>
                        <a:t>DB</a:t>
                      </a:r>
                      <a:r>
                        <a:rPr lang="ja-JP" altLang="en-US" dirty="0"/>
                        <a:t>を見られても、編集</a:t>
                      </a:r>
                      <a:r>
                        <a:rPr lang="en-US" altLang="ja-JP" dirty="0"/>
                        <a:t>URL</a:t>
                      </a:r>
                      <a:r>
                        <a:rPr lang="ja-JP" altLang="en-US" dirty="0"/>
                        <a:t>は作れません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👉 パスワードを暗号化して保存するのと同じ仕組み</a:t>
                      </a:r>
                    </a:p>
                    <a:p>
                      <a:r>
                        <a:rPr lang="ja-JP" altLang="en-US" dirty="0"/>
                        <a:t>安全性：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・組み合わせは 約</a:t>
                      </a:r>
                      <a:r>
                        <a:rPr lang="en-US" altLang="ja-JP" dirty="0"/>
                        <a:t>10^77</a:t>
                      </a:r>
                      <a:r>
                        <a:rPr lang="ja-JP" altLang="en-US" dirty="0"/>
                        <a:t>通り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・偶然一致する確率は </a:t>
                      </a:r>
                      <a:r>
                        <a:rPr lang="en-US" altLang="ja-JP" dirty="0"/>
                        <a:t>1 / 10^77</a:t>
                      </a:r>
                      <a:r>
                        <a:rPr lang="ja-JP" altLang="en-US" dirty="0"/>
                        <a:t>（ほぼ不可能）</a:t>
                      </a:r>
                    </a:p>
                    <a:p>
                      <a:r>
                        <a:rPr lang="ja-JP" altLang="en-US" dirty="0"/>
                        <a:t>例えると：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「地球上の砂粒から</a:t>
                      </a:r>
                      <a:r>
                        <a:rPr lang="en-US" altLang="ja-JP" dirty="0"/>
                        <a:t>1</a:t>
                      </a:r>
                      <a:r>
                        <a:rPr lang="ja-JP" altLang="en-US" dirty="0"/>
                        <a:t>粒を当てるより、さらに何兆倍も難しい」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71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912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6A604-394C-314B-BA82-76ED73EC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246956-4272-4115-98F9-94C49592A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075" y="190501"/>
            <a:ext cx="3743325" cy="590550"/>
          </a:xfrm>
        </p:spPr>
        <p:txBody>
          <a:bodyPr>
            <a:normAutofit/>
          </a:bodyPr>
          <a:lstStyle/>
          <a:p>
            <a:r>
              <a:rPr lang="ja-JP" altLang="en-US" sz="2400" b="1" dirty="0">
                <a:latin typeface="+mn-ea"/>
                <a:ea typeface="+mn-ea"/>
              </a:rPr>
              <a:t>用語集（</a:t>
            </a:r>
            <a:r>
              <a:rPr lang="en-US" altLang="ja-JP" sz="2400" b="1" dirty="0">
                <a:latin typeface="+mn-ea"/>
                <a:ea typeface="+mn-ea"/>
              </a:rPr>
              <a:t>Glossary</a:t>
            </a:r>
            <a:r>
              <a:rPr lang="ja-JP" altLang="en-US" sz="2400" b="1" dirty="0">
                <a:latin typeface="+mn-ea"/>
                <a:ea typeface="+mn-ea"/>
              </a:rPr>
              <a:t>）</a:t>
            </a:r>
            <a:endParaRPr kumimoji="1" lang="ja-JP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B4CCAEC-3796-5DF1-0F7B-8514B26D8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817503"/>
              </p:ext>
            </p:extLst>
          </p:nvPr>
        </p:nvGraphicFramePr>
        <p:xfrm>
          <a:off x="600075" y="981076"/>
          <a:ext cx="1075055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1900">
                  <a:extLst>
                    <a:ext uri="{9D8B030D-6E8A-4147-A177-3AD203B41FA5}">
                      <a16:colId xmlns:a16="http://schemas.microsoft.com/office/drawing/2014/main" val="376387610"/>
                    </a:ext>
                  </a:extLst>
                </a:gridCol>
                <a:gridCol w="8248650">
                  <a:extLst>
                    <a:ext uri="{9D8B030D-6E8A-4147-A177-3AD203B41FA5}">
                      <a16:colId xmlns:a16="http://schemas.microsoft.com/office/drawing/2014/main" val="3230896055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 err="1"/>
                        <a:t>Supabase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プロフィール情報を保存している「保管庫（データ倉庫）」</a:t>
                      </a:r>
                      <a:endParaRPr lang="en-US" altLang="ja-JP" dirty="0"/>
                    </a:p>
                    <a:p>
                      <a:r>
                        <a:rPr lang="ja-JP" altLang="en-US" dirty="0"/>
                        <a:t>👉 データの金庫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1348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/>
                        <a:t>Next.js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プロフィールの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・編集画面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・公開ページ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・裏側の</a:t>
                      </a:r>
                      <a:r>
                        <a:rPr lang="en-US" altLang="ja-JP" dirty="0"/>
                        <a:t>API</a:t>
                      </a:r>
                      <a:r>
                        <a:rPr lang="ja-JP" altLang="en-US" dirty="0"/>
                        <a:t>処理</a:t>
                      </a:r>
                    </a:p>
                    <a:p>
                      <a:r>
                        <a:rPr lang="ja-JP" altLang="en-US" dirty="0"/>
                        <a:t>をまとめて動かしている「アプリ本体」</a:t>
                      </a:r>
                    </a:p>
                    <a:p>
                      <a:r>
                        <a:rPr lang="ja-JP" altLang="en-US" dirty="0"/>
                        <a:t>👉 サービスのエンジン部分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689416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r>
                        <a:rPr lang="en-US" altLang="ja-JP" sz="2000" b="1" dirty="0"/>
                        <a:t>WordPress</a:t>
                      </a:r>
                      <a:endParaRPr kumimoji="1" lang="ja-JP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管理者が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</a:t>
                      </a:r>
                      <a:r>
                        <a:rPr lang="en-US" altLang="ja-JP" dirty="0"/>
                        <a:t>NFC</a:t>
                      </a:r>
                      <a:r>
                        <a:rPr lang="ja-JP" altLang="en-US" dirty="0"/>
                        <a:t>コード発行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</a:t>
                      </a:r>
                      <a:r>
                        <a:rPr lang="en-US" altLang="ja-JP" dirty="0"/>
                        <a:t>URL</a:t>
                      </a:r>
                      <a:r>
                        <a:rPr lang="ja-JP" altLang="en-US" dirty="0"/>
                        <a:t>確認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・運用管理</a:t>
                      </a:r>
                    </a:p>
                    <a:p>
                      <a:r>
                        <a:rPr lang="ja-JP" altLang="en-US" dirty="0"/>
                        <a:t>をするための「管理ダッシュボード」</a:t>
                      </a:r>
                    </a:p>
                    <a:p>
                      <a:r>
                        <a:rPr lang="ja-JP" altLang="en-US" dirty="0"/>
                        <a:t>👉 コントロールパネル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35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709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932296-59FF-2463-2216-8F5B68FA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975" y="752475"/>
            <a:ext cx="12245975" cy="3200400"/>
          </a:xfrm>
        </p:spPr>
        <p:txBody>
          <a:bodyPr>
            <a:normAutofit/>
          </a:bodyPr>
          <a:lstStyle/>
          <a:p>
            <a:pPr algn="ctr"/>
            <a:r>
              <a:rPr lang="en-US" altLang="ja-JP" sz="5300" b="1" dirty="0">
                <a:latin typeface="+mn-ea"/>
                <a:ea typeface="+mn-ea"/>
              </a:rPr>
              <a:t>NFC Redirect </a:t>
            </a:r>
            <a:r>
              <a:rPr lang="ja-JP" altLang="en-US" sz="5300" b="1" dirty="0">
                <a:latin typeface="+mn-ea"/>
                <a:ea typeface="+mn-ea"/>
              </a:rPr>
              <a:t>運用フロー</a:t>
            </a:r>
            <a:br>
              <a:rPr lang="ja-JP" altLang="en-US" sz="5300" b="1" dirty="0">
                <a:latin typeface="+mn-ea"/>
                <a:ea typeface="+mn-ea"/>
              </a:rPr>
            </a:br>
            <a:r>
              <a:rPr lang="en-US" altLang="ja-JP" sz="5300" b="1" dirty="0">
                <a:latin typeface="+mn-ea"/>
                <a:ea typeface="+mn-ea"/>
              </a:rPr>
              <a:t>〜 </a:t>
            </a:r>
            <a:r>
              <a:rPr lang="ja-JP" altLang="en-US" sz="5300" b="1" dirty="0">
                <a:latin typeface="+mn-ea"/>
                <a:ea typeface="+mn-ea"/>
              </a:rPr>
              <a:t>発行から公開までの仕組み </a:t>
            </a:r>
            <a:r>
              <a:rPr lang="en-US" altLang="ja-JP" sz="5300" b="1" dirty="0">
                <a:latin typeface="+mn-ea"/>
                <a:ea typeface="+mn-ea"/>
              </a:rPr>
              <a:t>〜</a:t>
            </a:r>
            <a:br>
              <a:rPr lang="en-US" altLang="ja-JP" b="1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930521-6A74-730A-7323-3AD8200E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3952875"/>
            <a:ext cx="10515600" cy="1500187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PART 1</a:t>
            </a:r>
          </a:p>
          <a:p>
            <a:r>
              <a:rPr lang="ja-JP" altLang="en-US" sz="2800" b="1" dirty="0"/>
              <a:t>システムの仕組み</a:t>
            </a:r>
          </a:p>
        </p:txBody>
      </p:sp>
    </p:spTree>
    <p:extLst>
      <p:ext uri="{BB962C8B-B14F-4D97-AF65-F5344CB8AC3E}">
        <p14:creationId xmlns:p14="http://schemas.microsoft.com/office/powerpoint/2010/main" val="308407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FBB4-D2D9-39D5-3D39-EE50FF876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48735A-62D5-AE7C-7909-3C92CCE3D8E7}"/>
              </a:ext>
            </a:extLst>
          </p:cNvPr>
          <p:cNvSpPr txBox="1"/>
          <p:nvPr/>
        </p:nvSpPr>
        <p:spPr>
          <a:xfrm>
            <a:off x="208779" y="342529"/>
            <a:ext cx="790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1.</a:t>
            </a:r>
            <a:r>
              <a:rPr lang="ja-JP" altLang="en-US" sz="2400" b="1" dirty="0"/>
              <a:t>発行フロー（</a:t>
            </a:r>
            <a:r>
              <a:rPr lang="en-US" altLang="ja-JP" sz="2400" b="1" dirty="0"/>
              <a:t> URL</a:t>
            </a:r>
            <a:r>
              <a:rPr lang="ja-JP" altLang="en-US" sz="2400" b="1" dirty="0"/>
              <a:t>生成）</a:t>
            </a:r>
            <a:endParaRPr kumimoji="1" lang="ja-JP" altLang="en-US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B7E2AF-958E-0815-C707-51C8370F5AF6}"/>
              </a:ext>
            </a:extLst>
          </p:cNvPr>
          <p:cNvSpPr txBox="1"/>
          <p:nvPr/>
        </p:nvSpPr>
        <p:spPr>
          <a:xfrm>
            <a:off x="208779" y="1039690"/>
            <a:ext cx="4752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登場人物</a:t>
            </a:r>
          </a:p>
          <a:p>
            <a:r>
              <a:rPr lang="ja-JP" altLang="en-US" dirty="0"/>
              <a:t>👤管理者（</a:t>
            </a:r>
            <a:r>
              <a:rPr lang="en-US" altLang="ja-JP" dirty="0"/>
              <a:t>WordPress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🏢</a:t>
            </a:r>
            <a:r>
              <a:rPr lang="en-US" altLang="ja-JP" dirty="0"/>
              <a:t>WordPress</a:t>
            </a:r>
            <a:r>
              <a:rPr lang="ja-JP" altLang="en-US" dirty="0"/>
              <a:t>（</a:t>
            </a:r>
            <a:r>
              <a:rPr lang="en-US" altLang="ja-JP" dirty="0" err="1"/>
              <a:t>nfc_redirect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🧠 </a:t>
            </a:r>
            <a:r>
              <a:rPr lang="en-US" altLang="ja-JP" dirty="0"/>
              <a:t>Next.js(API)</a:t>
            </a:r>
          </a:p>
          <a:p>
            <a:r>
              <a:rPr lang="ja-JP" altLang="en-US" dirty="0"/>
              <a:t>🗄 </a:t>
            </a:r>
            <a:r>
              <a:rPr lang="en-US" altLang="ja-JP" dirty="0" err="1"/>
              <a:t>Supabase</a:t>
            </a:r>
            <a:r>
              <a:rPr lang="ja-JP" altLang="en-US" dirty="0"/>
              <a:t>（</a:t>
            </a:r>
            <a:r>
              <a:rPr lang="en-US" altLang="ja-JP" dirty="0"/>
              <a:t>DB</a:t>
            </a:r>
            <a:r>
              <a:rPr lang="ja-JP" altLang="en-US" dirty="0"/>
              <a:t>）</a:t>
            </a:r>
          </a:p>
          <a:p>
            <a:endParaRPr kumimoji="1" lang="ja-JP" altLang="en-US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570543C7-2C84-9C12-7A6A-152E25E6B715}"/>
              </a:ext>
            </a:extLst>
          </p:cNvPr>
          <p:cNvSpPr/>
          <p:nvPr/>
        </p:nvSpPr>
        <p:spPr>
          <a:xfrm>
            <a:off x="2718794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8FF46045-F584-9D4F-B943-9D196E2EF5A0}"/>
              </a:ext>
            </a:extLst>
          </p:cNvPr>
          <p:cNvSpPr/>
          <p:nvPr/>
        </p:nvSpPr>
        <p:spPr>
          <a:xfrm>
            <a:off x="6584889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E0C9F4-D5FC-3E19-8553-E0D6710B6C7E}"/>
              </a:ext>
            </a:extLst>
          </p:cNvPr>
          <p:cNvSpPr txBox="1"/>
          <p:nvPr/>
        </p:nvSpPr>
        <p:spPr>
          <a:xfrm>
            <a:off x="199588" y="2872478"/>
            <a:ext cx="2385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①👤</a:t>
            </a:r>
            <a:r>
              <a:rPr lang="ja-JP" altLang="en-US" b="1" dirty="0"/>
              <a:t> 管理者</a:t>
            </a:r>
            <a:endParaRPr lang="en-US" altLang="ja-JP" b="1" dirty="0"/>
          </a:p>
          <a:p>
            <a:r>
              <a:rPr kumimoji="1" lang="en-US" altLang="ja-JP" dirty="0"/>
              <a:t>  </a:t>
            </a:r>
            <a:r>
              <a:rPr lang="en-US" altLang="ja-JP" dirty="0"/>
              <a:t>WordPress</a:t>
            </a:r>
            <a:r>
              <a:rPr lang="ja-JP" altLang="en-US" dirty="0"/>
              <a:t>で</a:t>
            </a:r>
            <a:endParaRPr lang="en-US" altLang="ja-JP" dirty="0"/>
          </a:p>
          <a:p>
            <a:r>
              <a:rPr lang="ja-JP" altLang="en-US" dirty="0"/>
              <a:t>  自動生成・保存</a:t>
            </a:r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34843727-54C8-BAA1-E537-552E6EA84FB0}"/>
              </a:ext>
            </a:extLst>
          </p:cNvPr>
          <p:cNvSpPr/>
          <p:nvPr/>
        </p:nvSpPr>
        <p:spPr>
          <a:xfrm>
            <a:off x="10977206" y="3123089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1EBD5B3-3648-250A-1F14-7589C74C9B97}"/>
              </a:ext>
            </a:extLst>
          </p:cNvPr>
          <p:cNvSpPr txBox="1"/>
          <p:nvPr/>
        </p:nvSpPr>
        <p:spPr>
          <a:xfrm>
            <a:off x="11045611" y="2719276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174849F0-93DD-596B-76AA-73F3D2415E58}"/>
              </a:ext>
            </a:extLst>
          </p:cNvPr>
          <p:cNvSpPr/>
          <p:nvPr/>
        </p:nvSpPr>
        <p:spPr>
          <a:xfrm>
            <a:off x="3083748" y="4768009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0C8E333-2EE4-29CD-F209-D03E145C4C82}"/>
              </a:ext>
            </a:extLst>
          </p:cNvPr>
          <p:cNvSpPr txBox="1"/>
          <p:nvPr/>
        </p:nvSpPr>
        <p:spPr>
          <a:xfrm>
            <a:off x="3969573" y="4283195"/>
            <a:ext cx="2428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⑤🧠 </a:t>
            </a:r>
            <a:r>
              <a:rPr kumimoji="1" lang="en-US" altLang="ja-JP" b="1" dirty="0"/>
              <a:t>Next.js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editurl</a:t>
            </a:r>
            <a:r>
              <a:rPr lang="ja-JP" altLang="en-US" dirty="0"/>
              <a:t>生成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p</a:t>
            </a:r>
            <a:r>
              <a:rPr kumimoji="1" lang="en-US" altLang="ja-JP" dirty="0" err="1"/>
              <a:t>ublic_url</a:t>
            </a:r>
            <a:r>
              <a:rPr kumimoji="1" lang="ja-JP" altLang="en-US" dirty="0"/>
              <a:t>生成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JSON</a:t>
            </a:r>
            <a:r>
              <a:rPr lang="ja-JP" altLang="en-US" dirty="0"/>
              <a:t>返却</a:t>
            </a:r>
            <a:endParaRPr kumimoji="1" lang="en-US" altLang="ja-JP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A78B6111-130F-1EDC-CFEF-77EB8DF500CF}"/>
              </a:ext>
            </a:extLst>
          </p:cNvPr>
          <p:cNvSpPr/>
          <p:nvPr/>
        </p:nvSpPr>
        <p:spPr>
          <a:xfrm>
            <a:off x="6949651" y="4745954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C336401-01C6-38F9-5E02-CB261CEB1963}"/>
              </a:ext>
            </a:extLst>
          </p:cNvPr>
          <p:cNvSpPr txBox="1"/>
          <p:nvPr/>
        </p:nvSpPr>
        <p:spPr>
          <a:xfrm>
            <a:off x="7895936" y="4421694"/>
            <a:ext cx="2686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</a:t>
            </a:r>
            <a:r>
              <a:rPr lang="ja-JP" altLang="en-US" dirty="0"/>
              <a:t>🏢</a:t>
            </a:r>
            <a:r>
              <a:rPr kumimoji="1" lang="ja-JP" altLang="en-US" b="1" dirty="0"/>
              <a:t>保存</a:t>
            </a:r>
            <a:r>
              <a:rPr kumimoji="1" lang="en-US" altLang="ja-JP" b="1" dirty="0"/>
              <a:t>API</a:t>
            </a:r>
          </a:p>
          <a:p>
            <a:r>
              <a:rPr lang="ja-JP" altLang="en-US" dirty="0"/>
              <a:t>　管理画面に</a:t>
            </a:r>
            <a:r>
              <a:rPr lang="en-US" altLang="ja-JP" dirty="0"/>
              <a:t>URL</a:t>
            </a:r>
            <a:r>
              <a:rPr lang="ja-JP" altLang="en-US" dirty="0"/>
              <a:t>表示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A3524E-F8A4-BA5B-D266-98CCD3C59935}"/>
              </a:ext>
            </a:extLst>
          </p:cNvPr>
          <p:cNvSpPr txBox="1"/>
          <p:nvPr/>
        </p:nvSpPr>
        <p:spPr>
          <a:xfrm>
            <a:off x="326259" y="4283195"/>
            <a:ext cx="331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④🗄 </a:t>
            </a:r>
            <a:r>
              <a:rPr lang="en-US" altLang="ja-JP" b="1" dirty="0" err="1"/>
              <a:t>Supabase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code</a:t>
            </a:r>
            <a:r>
              <a:rPr lang="ja-JP" altLang="en-US" dirty="0"/>
              <a:t>保存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edit_token_hash</a:t>
            </a:r>
            <a:r>
              <a:rPr lang="ja-JP" altLang="en-US" dirty="0"/>
              <a:t>保存</a:t>
            </a: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F20D64E-A146-7DDF-26D7-B4EFB08F4A5F}"/>
              </a:ext>
            </a:extLst>
          </p:cNvPr>
          <p:cNvSpPr txBox="1"/>
          <p:nvPr/>
        </p:nvSpPr>
        <p:spPr>
          <a:xfrm>
            <a:off x="3412927" y="2803344"/>
            <a:ext cx="3106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②</a:t>
            </a:r>
            <a:r>
              <a:rPr lang="ja-JP" altLang="en-US" dirty="0"/>
              <a:t>🏢</a:t>
            </a:r>
            <a:r>
              <a:rPr lang="en-US" altLang="ja-JP" dirty="0"/>
              <a:t>WordPress </a:t>
            </a:r>
          </a:p>
          <a:p>
            <a:r>
              <a:rPr lang="en-US" altLang="ja-JP" dirty="0"/>
              <a:t>POST /</a:t>
            </a:r>
            <a:r>
              <a:rPr lang="en-US" altLang="ja-JP" dirty="0" err="1"/>
              <a:t>api</a:t>
            </a:r>
            <a:r>
              <a:rPr lang="en-US" altLang="ja-JP" dirty="0"/>
              <a:t>/profile/create 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D269ACB-16FC-3C37-F3B6-90C2FD4DC010}"/>
              </a:ext>
            </a:extLst>
          </p:cNvPr>
          <p:cNvSpPr txBox="1"/>
          <p:nvPr/>
        </p:nvSpPr>
        <p:spPr>
          <a:xfrm>
            <a:off x="7142100" y="2777791"/>
            <a:ext cx="3990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③</a:t>
            </a:r>
            <a:r>
              <a:rPr lang="ja-JP" altLang="en-US" b="1" dirty="0"/>
              <a:t>🧠 </a:t>
            </a:r>
            <a:r>
              <a:rPr kumimoji="1" lang="en-US" altLang="ja-JP" b="1" dirty="0"/>
              <a:t>Next.js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dirty="0"/>
              <a:t>code受信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dirty="0"/>
              <a:t>edit_token生成（ランダム）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dirty="0"/>
              <a:t>sha256(token) 生成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9608B63-DAEF-4B27-2FD6-999E8FDAE736}"/>
              </a:ext>
            </a:extLst>
          </p:cNvPr>
          <p:cNvSpPr/>
          <p:nvPr/>
        </p:nvSpPr>
        <p:spPr>
          <a:xfrm>
            <a:off x="5537882" y="916553"/>
            <a:ext cx="6133851" cy="11619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・編集</a:t>
            </a:r>
            <a:r>
              <a:rPr lang="en-US" altLang="ja-JP" b="1" dirty="0"/>
              <a:t>URL</a:t>
            </a:r>
            <a:r>
              <a:rPr lang="ja-JP" altLang="en-US" b="1" dirty="0"/>
              <a:t>はこの時点で生成されます</a:t>
            </a:r>
          </a:p>
          <a:p>
            <a:r>
              <a:rPr lang="ja-JP" altLang="en-US" b="1" dirty="0"/>
              <a:t>・</a:t>
            </a:r>
            <a:r>
              <a:rPr lang="en-US" altLang="ja-JP" b="1" dirty="0"/>
              <a:t>token</a:t>
            </a:r>
            <a:r>
              <a:rPr lang="ja-JP" altLang="en-US" b="1" dirty="0"/>
              <a:t>は</a:t>
            </a:r>
            <a:r>
              <a:rPr lang="en-US" altLang="ja-JP" b="1" dirty="0"/>
              <a:t>Next</a:t>
            </a:r>
            <a:r>
              <a:rPr lang="ja-JP" altLang="en-US" b="1" dirty="0"/>
              <a:t>側のみ生成できます</a:t>
            </a:r>
          </a:p>
          <a:p>
            <a:r>
              <a:rPr lang="ja-JP" altLang="en-US" b="1" dirty="0"/>
              <a:t>・</a:t>
            </a:r>
            <a:r>
              <a:rPr lang="en-US" altLang="ja-JP" b="1" dirty="0"/>
              <a:t>DB</a:t>
            </a:r>
            <a:r>
              <a:rPr lang="ja-JP" altLang="en-US" b="1" dirty="0"/>
              <a:t>には</a:t>
            </a:r>
            <a:r>
              <a:rPr lang="en-US" altLang="ja-JP" b="1" dirty="0"/>
              <a:t>hash</a:t>
            </a:r>
            <a:r>
              <a:rPr lang="ja-JP" altLang="en-US" b="1" dirty="0"/>
              <a:t>のみ保存します（安全設計）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57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F0AA-5C09-D0D5-D994-F2E13E5B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C5ECCE-6A55-BBBA-9DFA-1227EF0D4FEB}"/>
              </a:ext>
            </a:extLst>
          </p:cNvPr>
          <p:cNvSpPr txBox="1"/>
          <p:nvPr/>
        </p:nvSpPr>
        <p:spPr>
          <a:xfrm>
            <a:off x="208779" y="342529"/>
            <a:ext cx="790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2.</a:t>
            </a:r>
            <a:r>
              <a:rPr lang="ja-JP" altLang="en-US" sz="2400" b="1" dirty="0"/>
              <a:t>編集フロー（トークン認証）</a:t>
            </a:r>
            <a:endParaRPr kumimoji="1" lang="ja-JP" altLang="en-US" sz="24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44F550-AB39-5732-CD62-8DD4DDD227D1}"/>
              </a:ext>
            </a:extLst>
          </p:cNvPr>
          <p:cNvSpPr txBox="1"/>
          <p:nvPr/>
        </p:nvSpPr>
        <p:spPr>
          <a:xfrm>
            <a:off x="208779" y="1039690"/>
            <a:ext cx="4752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登場人物</a:t>
            </a:r>
          </a:p>
          <a:p>
            <a:r>
              <a:rPr lang="ja-JP" altLang="en-US" dirty="0"/>
              <a:t>👤</a:t>
            </a:r>
            <a:r>
              <a:rPr lang="zh-TW" altLang="en-US" dirty="0"/>
              <a:t>利用者（編集者）</a:t>
            </a:r>
            <a:endParaRPr lang="en-US" altLang="zh-TW" dirty="0"/>
          </a:p>
          <a:p>
            <a:r>
              <a:rPr lang="ja-JP" altLang="en-US" dirty="0"/>
              <a:t>🌐 ブラウザ</a:t>
            </a:r>
          </a:p>
          <a:p>
            <a:r>
              <a:rPr lang="ja-JP" altLang="en-US" dirty="0"/>
              <a:t>🧠 </a:t>
            </a:r>
            <a:r>
              <a:rPr lang="en-US" altLang="ja-JP" dirty="0"/>
              <a:t>Next.js</a:t>
            </a:r>
          </a:p>
          <a:p>
            <a:r>
              <a:rPr lang="ja-JP" altLang="en-US" dirty="0"/>
              <a:t>🗄 </a:t>
            </a:r>
            <a:r>
              <a:rPr lang="en-US" altLang="ja-JP" dirty="0" err="1"/>
              <a:t>Supabase</a:t>
            </a:r>
            <a:r>
              <a:rPr lang="en-US" altLang="ja-JP" dirty="0"/>
              <a:t> (DB</a:t>
            </a:r>
            <a:r>
              <a:rPr lang="ja-JP" altLang="en-US" dirty="0"/>
              <a:t>）</a:t>
            </a:r>
          </a:p>
          <a:p>
            <a:endParaRPr kumimoji="1" lang="ja-JP" altLang="en-US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7A610C83-34D1-36EE-0B3D-31294A0EFC14}"/>
              </a:ext>
            </a:extLst>
          </p:cNvPr>
          <p:cNvSpPr/>
          <p:nvPr/>
        </p:nvSpPr>
        <p:spPr>
          <a:xfrm>
            <a:off x="2718794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F0DCCC98-DDE5-A185-30A9-9F36FC9D3CB3}"/>
              </a:ext>
            </a:extLst>
          </p:cNvPr>
          <p:cNvSpPr/>
          <p:nvPr/>
        </p:nvSpPr>
        <p:spPr>
          <a:xfrm>
            <a:off x="6584889" y="3088608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C74980-7EDA-E484-6E5B-377DC524577B}"/>
              </a:ext>
            </a:extLst>
          </p:cNvPr>
          <p:cNvSpPr txBox="1"/>
          <p:nvPr/>
        </p:nvSpPr>
        <p:spPr>
          <a:xfrm>
            <a:off x="199588" y="2872478"/>
            <a:ext cx="2385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①👤</a:t>
            </a:r>
            <a:r>
              <a:rPr lang="ja-JP" altLang="en-US" b="1" dirty="0"/>
              <a:t> 利用者　</a:t>
            </a:r>
            <a:endParaRPr lang="en-US" altLang="ja-JP" b="1" dirty="0"/>
          </a:p>
          <a:p>
            <a:r>
              <a:rPr kumimoji="1" lang="en-US" altLang="ja-JP" dirty="0"/>
              <a:t>  </a:t>
            </a:r>
            <a:r>
              <a:rPr kumimoji="1" lang="en-US" altLang="ja-JP" dirty="0" err="1"/>
              <a:t>edit_url</a:t>
            </a:r>
            <a:r>
              <a:rPr kumimoji="1" lang="ja-JP" altLang="en-US" dirty="0"/>
              <a:t>にアクセス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C572C2B4-DB5C-7A65-5557-53F451D61EB5}"/>
              </a:ext>
            </a:extLst>
          </p:cNvPr>
          <p:cNvSpPr/>
          <p:nvPr/>
        </p:nvSpPr>
        <p:spPr>
          <a:xfrm>
            <a:off x="11114522" y="3093310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C60AD3-7498-DBD6-1E62-1DFCBEC29840}"/>
              </a:ext>
            </a:extLst>
          </p:cNvPr>
          <p:cNvSpPr txBox="1"/>
          <p:nvPr/>
        </p:nvSpPr>
        <p:spPr>
          <a:xfrm>
            <a:off x="11045611" y="2719276"/>
            <a:ext cx="69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7195872B-28B6-7173-D3EA-2702A93BA615}"/>
              </a:ext>
            </a:extLst>
          </p:cNvPr>
          <p:cNvSpPr/>
          <p:nvPr/>
        </p:nvSpPr>
        <p:spPr>
          <a:xfrm>
            <a:off x="3083748" y="4768009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41211E0-1BB5-1737-EC97-6A51CB3A63B1}"/>
              </a:ext>
            </a:extLst>
          </p:cNvPr>
          <p:cNvSpPr txBox="1"/>
          <p:nvPr/>
        </p:nvSpPr>
        <p:spPr>
          <a:xfrm>
            <a:off x="3969573" y="4283195"/>
            <a:ext cx="2428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⑤🧠 </a:t>
            </a:r>
            <a:r>
              <a:rPr kumimoji="1" lang="en-US" altLang="ja-JP" b="1" dirty="0"/>
              <a:t>Next.js</a:t>
            </a:r>
          </a:p>
          <a:p>
            <a:r>
              <a:rPr lang="zh-TW" altLang="en-US" dirty="0"/>
              <a:t>一致 → 編集</a:t>
            </a:r>
            <a:r>
              <a:rPr lang="en-US" altLang="zh-TW" dirty="0"/>
              <a:t>OK</a:t>
            </a:r>
            <a:br>
              <a:rPr lang="en-US" altLang="zh-TW" dirty="0"/>
            </a:br>
            <a:r>
              <a:rPr lang="zh-TW" altLang="en-US" dirty="0"/>
              <a:t>不一致 → </a:t>
            </a:r>
            <a:r>
              <a:rPr lang="en-US" altLang="zh-TW" dirty="0"/>
              <a:t>403</a:t>
            </a:r>
            <a:endParaRPr kumimoji="1" lang="ja-JP" altLang="en-US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677EF321-0531-D19D-7BC7-58CB71899097}"/>
              </a:ext>
            </a:extLst>
          </p:cNvPr>
          <p:cNvSpPr/>
          <p:nvPr/>
        </p:nvSpPr>
        <p:spPr>
          <a:xfrm>
            <a:off x="7111576" y="4779542"/>
            <a:ext cx="557211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59216B7-3472-6357-A8D9-5A2D6710AA7E}"/>
              </a:ext>
            </a:extLst>
          </p:cNvPr>
          <p:cNvSpPr txBox="1"/>
          <p:nvPr/>
        </p:nvSpPr>
        <p:spPr>
          <a:xfrm>
            <a:off x="7895936" y="4421694"/>
            <a:ext cx="2686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⑥</a:t>
            </a:r>
            <a:r>
              <a:rPr lang="ja-JP" altLang="en-US" dirty="0"/>
              <a:t>🧠</a:t>
            </a:r>
            <a:r>
              <a:rPr kumimoji="1" lang="ja-JP" altLang="en-US" b="1" dirty="0"/>
              <a:t>保存</a:t>
            </a:r>
            <a:r>
              <a:rPr kumimoji="1" lang="en-US" altLang="ja-JP" b="1" dirty="0"/>
              <a:t>API</a:t>
            </a:r>
          </a:p>
          <a:p>
            <a:r>
              <a:rPr lang="ja-JP" altLang="en-US" dirty="0"/>
              <a:t>　プロフィール更新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B65EB7-9BCD-2DED-745C-6CAC657D0D26}"/>
              </a:ext>
            </a:extLst>
          </p:cNvPr>
          <p:cNvSpPr txBox="1"/>
          <p:nvPr/>
        </p:nvSpPr>
        <p:spPr>
          <a:xfrm>
            <a:off x="326259" y="4283195"/>
            <a:ext cx="331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④🗄 </a:t>
            </a:r>
            <a:r>
              <a:rPr lang="en-US" altLang="ja-JP" b="1" dirty="0" err="1"/>
              <a:t>Supabase</a:t>
            </a:r>
            <a:endParaRPr lang="en-US" altLang="ja-JP" dirty="0"/>
          </a:p>
          <a:p>
            <a:r>
              <a:rPr kumimoji="1" lang="ja-JP" altLang="en-US" dirty="0"/>
              <a:t>保存済み </a:t>
            </a:r>
            <a:r>
              <a:rPr kumimoji="1" lang="en-US" altLang="ja-JP" dirty="0"/>
              <a:t>hash </a:t>
            </a:r>
            <a:r>
              <a:rPr kumimoji="1" lang="ja-JP" altLang="en-US" dirty="0"/>
              <a:t>と比較</a:t>
            </a: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C7CD81-8BD8-49CD-ACC2-77E9E5E4CBB7}"/>
              </a:ext>
            </a:extLst>
          </p:cNvPr>
          <p:cNvSpPr txBox="1"/>
          <p:nvPr/>
        </p:nvSpPr>
        <p:spPr>
          <a:xfrm>
            <a:off x="3412927" y="2803344"/>
            <a:ext cx="3106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②</a:t>
            </a:r>
            <a:r>
              <a:rPr kumimoji="1" lang="ja-JP" altLang="en-US" b="1" dirty="0"/>
              <a:t>🌐ブラウザ</a:t>
            </a:r>
            <a:endParaRPr kumimoji="1" lang="en-US" altLang="ja-JP" b="1" dirty="0"/>
          </a:p>
          <a:p>
            <a:r>
              <a:rPr lang="en-US" altLang="ja-JP" dirty="0"/>
              <a:t>GET /edit/</a:t>
            </a:r>
            <a:r>
              <a:rPr lang="en-US" altLang="ja-JP" dirty="0" err="1"/>
              <a:t>TEST?t</a:t>
            </a:r>
            <a:r>
              <a:rPr lang="en-US" altLang="ja-JP" dirty="0"/>
              <a:t>=</a:t>
            </a:r>
            <a:r>
              <a:rPr lang="en-US" altLang="ja-JP" dirty="0" err="1"/>
              <a:t>xxxxx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4A769E-5466-21A1-C65E-09E1EC9D7047}"/>
              </a:ext>
            </a:extLst>
          </p:cNvPr>
          <p:cNvSpPr txBox="1"/>
          <p:nvPr/>
        </p:nvSpPr>
        <p:spPr>
          <a:xfrm>
            <a:off x="7217782" y="2794016"/>
            <a:ext cx="3990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③</a:t>
            </a:r>
            <a:r>
              <a:rPr lang="ja-JP" altLang="en-US" b="1" dirty="0"/>
              <a:t>🧠 </a:t>
            </a:r>
            <a:r>
              <a:rPr kumimoji="1" lang="en-US" altLang="ja-JP" b="1" dirty="0"/>
              <a:t>Next.js</a:t>
            </a:r>
          </a:p>
          <a:p>
            <a:r>
              <a:rPr lang="en-US" altLang="ja-JP" dirty="0"/>
              <a:t>token</a:t>
            </a:r>
            <a:r>
              <a:rPr lang="ja-JP" altLang="en-US" dirty="0"/>
              <a:t>取得</a:t>
            </a:r>
            <a:endParaRPr lang="en-US" altLang="ja-JP" dirty="0"/>
          </a:p>
          <a:p>
            <a:r>
              <a:rPr lang="en-US" altLang="ja-JP" dirty="0"/>
              <a:t>token</a:t>
            </a:r>
            <a:r>
              <a:rPr lang="ja-JP" altLang="en-US" dirty="0"/>
              <a:t>を暗号ハッシュ化（</a:t>
            </a:r>
            <a:r>
              <a:rPr lang="en-US" altLang="ja-JP" dirty="0"/>
              <a:t>sha256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→ </a:t>
            </a:r>
            <a:r>
              <a:rPr lang="en-US" altLang="ja-JP" dirty="0"/>
              <a:t>DB</a:t>
            </a:r>
            <a:r>
              <a:rPr lang="ja-JP" altLang="en-US" dirty="0"/>
              <a:t>の値と比較できる形に変換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1CE2F3D-A5CC-8154-3EE9-6A0257363D45}"/>
              </a:ext>
            </a:extLst>
          </p:cNvPr>
          <p:cNvSpPr/>
          <p:nvPr/>
        </p:nvSpPr>
        <p:spPr>
          <a:xfrm>
            <a:off x="5537882" y="916553"/>
            <a:ext cx="6133851" cy="16062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用語解説</a:t>
            </a:r>
            <a:endParaRPr lang="en-US" altLang="ja-JP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err="1"/>
              <a:t>edit_url</a:t>
            </a:r>
            <a:r>
              <a:rPr lang="en-US" altLang="ja-JP" sz="1600" dirty="0"/>
              <a:t> = </a:t>
            </a:r>
            <a:r>
              <a:rPr lang="ja-JP" altLang="en-US" sz="1600" dirty="0"/>
              <a:t>一度限りの編集キー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/>
              <a:t>DB</a:t>
            </a:r>
            <a:r>
              <a:rPr lang="ja-JP" altLang="en-US" sz="1600" dirty="0"/>
              <a:t>には</a:t>
            </a:r>
            <a:r>
              <a:rPr lang="en-US" altLang="ja-JP" sz="1600" dirty="0"/>
              <a:t>hash</a:t>
            </a:r>
            <a:r>
              <a:rPr lang="ja-JP" altLang="en-US" sz="1600" dirty="0"/>
              <a:t>のみ保存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/>
              <a:t>URL</a:t>
            </a:r>
            <a:r>
              <a:rPr lang="ja-JP" altLang="en-US" sz="1600" dirty="0"/>
              <a:t>を知っている人のみ編集可能</a:t>
            </a:r>
            <a:endParaRPr lang="en-US" altLang="ja-JP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/>
              <a:t>ハッシュ化とは元に戻せない「指紋」データに変換する処理</a:t>
            </a:r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5980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ECE30-E805-5F28-63B1-C68FAFF6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A1BA8-C244-586F-DF99-7D309620C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00138"/>
            <a:ext cx="10515600" cy="285273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b="1" dirty="0">
                <a:latin typeface="+mn-ea"/>
                <a:ea typeface="+mn-ea"/>
              </a:rPr>
              <a:t>NFC Redirect </a:t>
            </a:r>
            <a:r>
              <a:rPr lang="ja-JP" altLang="en-US" b="1" dirty="0">
                <a:latin typeface="+mn-ea"/>
                <a:ea typeface="+mn-ea"/>
              </a:rPr>
              <a:t>運用フロー</a:t>
            </a:r>
            <a:br>
              <a:rPr lang="ja-JP" altLang="en-US" b="1" dirty="0">
                <a:latin typeface="+mn-ea"/>
                <a:ea typeface="+mn-ea"/>
              </a:rPr>
            </a:br>
            <a:r>
              <a:rPr lang="en-US" altLang="ja-JP" b="1" dirty="0">
                <a:latin typeface="+mn-ea"/>
                <a:ea typeface="+mn-ea"/>
              </a:rPr>
              <a:t>〜 </a:t>
            </a:r>
            <a:r>
              <a:rPr lang="ja-JP" altLang="en-US" b="1" dirty="0">
                <a:latin typeface="+mn-ea"/>
                <a:ea typeface="+mn-ea"/>
              </a:rPr>
              <a:t>発行から公開までの仕組み </a:t>
            </a:r>
            <a:r>
              <a:rPr lang="en-US" altLang="ja-JP" b="1" dirty="0">
                <a:latin typeface="+mn-ea"/>
                <a:ea typeface="+mn-ea"/>
              </a:rPr>
              <a:t>〜</a:t>
            </a:r>
            <a:br>
              <a:rPr lang="en-US" altLang="ja-JP" b="1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195479-593D-98F5-7DBF-DE2AE9896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0" y="3952875"/>
            <a:ext cx="10515600" cy="1500187"/>
          </a:xfrm>
        </p:spPr>
        <p:txBody>
          <a:bodyPr>
            <a:normAutofit/>
          </a:bodyPr>
          <a:lstStyle/>
          <a:p>
            <a:r>
              <a:rPr lang="en-US" altLang="ja-JP" sz="2800" b="1" dirty="0"/>
              <a:t>PART 2</a:t>
            </a:r>
          </a:p>
          <a:p>
            <a:r>
              <a:rPr lang="ja-JP" altLang="en-US" sz="2800" b="1" dirty="0"/>
              <a:t>実際の操作画面</a:t>
            </a:r>
          </a:p>
        </p:txBody>
      </p:sp>
    </p:spTree>
    <p:extLst>
      <p:ext uri="{BB962C8B-B14F-4D97-AF65-F5344CB8AC3E}">
        <p14:creationId xmlns:p14="http://schemas.microsoft.com/office/powerpoint/2010/main" val="251048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C92ADCD-BB7E-7280-56C3-FFF8DA4C4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74" y="896907"/>
            <a:ext cx="10782401" cy="5525981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51EBBB86-97AF-6169-06C2-236D74D75D18}"/>
              </a:ext>
            </a:extLst>
          </p:cNvPr>
          <p:cNvSpPr/>
          <p:nvPr/>
        </p:nvSpPr>
        <p:spPr>
          <a:xfrm>
            <a:off x="2419298" y="4227870"/>
            <a:ext cx="5391201" cy="2325330"/>
          </a:xfrm>
          <a:prstGeom prst="wedgeRoundRectCallout">
            <a:avLst>
              <a:gd name="adj1" fmla="val -52518"/>
              <a:gd name="adj2" fmla="val -8588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① 管理者が </a:t>
            </a:r>
            <a:r>
              <a:rPr lang="en-US" altLang="ja-JP" b="1" dirty="0"/>
              <a:t>WordPress </a:t>
            </a:r>
            <a:r>
              <a:rPr lang="ja-JP" altLang="en-US" b="1" dirty="0"/>
              <a:t>で </a:t>
            </a:r>
            <a:r>
              <a:rPr lang="en-US" altLang="ja-JP" b="1" dirty="0"/>
              <a:t>NFC</a:t>
            </a:r>
            <a:r>
              <a:rPr lang="ja-JP" altLang="en-US" b="1" dirty="0"/>
              <a:t>コードを作成</a:t>
            </a:r>
          </a:p>
          <a:p>
            <a:r>
              <a:rPr lang="ja-JP" altLang="en-US" b="1" dirty="0"/>
              <a:t>・</a:t>
            </a:r>
            <a:r>
              <a:rPr lang="en-US" altLang="ja-JP" b="1" dirty="0"/>
              <a:t>code </a:t>
            </a:r>
            <a:r>
              <a:rPr lang="ja-JP" altLang="en-US" b="1" dirty="0"/>
              <a:t>発行</a:t>
            </a:r>
          </a:p>
          <a:p>
            <a:r>
              <a:rPr lang="ja-JP" altLang="en-US" b="1" dirty="0"/>
              <a:t>・</a:t>
            </a:r>
            <a:r>
              <a:rPr lang="en-US" altLang="ja-JP" b="1" dirty="0"/>
              <a:t>status = active</a:t>
            </a:r>
          </a:p>
          <a:p>
            <a:r>
              <a:rPr lang="ja-JP" altLang="en-US" b="1" dirty="0"/>
              <a:t>・保存</a:t>
            </a:r>
          </a:p>
          <a:p>
            <a:r>
              <a:rPr lang="ja-JP" altLang="en-US" sz="2000" b="1" dirty="0"/>
              <a:t>↓</a:t>
            </a:r>
          </a:p>
          <a:p>
            <a:r>
              <a:rPr lang="en-US" altLang="ja-JP" b="1" dirty="0"/>
              <a:t>Next API </a:t>
            </a:r>
            <a:r>
              <a:rPr lang="ja-JP" altLang="en-US" b="1" dirty="0"/>
              <a:t>が自動実行され</a:t>
            </a:r>
          </a:p>
          <a:p>
            <a:r>
              <a:rPr lang="en-US" altLang="ja-JP" b="1" dirty="0" err="1"/>
              <a:t>edit_url</a:t>
            </a:r>
            <a:r>
              <a:rPr lang="en-US" altLang="ja-JP" b="1" dirty="0"/>
              <a:t> / </a:t>
            </a:r>
            <a:r>
              <a:rPr lang="en-US" altLang="ja-JP" b="1" dirty="0" err="1"/>
              <a:t>public_url</a:t>
            </a:r>
            <a:r>
              <a:rPr lang="en-US" altLang="ja-JP" b="1" dirty="0"/>
              <a:t> </a:t>
            </a:r>
            <a:r>
              <a:rPr lang="ja-JP" altLang="en-US" b="1" dirty="0"/>
              <a:t>を生成</a:t>
            </a:r>
          </a:p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EED83CE-E867-1C04-50A6-01940F873EC8}"/>
              </a:ext>
            </a:extLst>
          </p:cNvPr>
          <p:cNvSpPr txBox="1"/>
          <p:nvPr/>
        </p:nvSpPr>
        <p:spPr>
          <a:xfrm>
            <a:off x="352425" y="238125"/>
            <a:ext cx="3975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①</a:t>
            </a:r>
            <a:r>
              <a:rPr lang="en-US" altLang="ja-JP" sz="2000" b="1" dirty="0"/>
              <a:t>NFC Redirect </a:t>
            </a:r>
            <a:r>
              <a:rPr lang="ja-JP" altLang="en-US" sz="2000" b="1" dirty="0"/>
              <a:t>作成（管理者）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0904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4F31-AB27-90A2-7695-AD593B05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1E665D1-F84B-D8C8-67C9-A0DFECFFA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" y="825901"/>
            <a:ext cx="10915649" cy="5639752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FA084CD8-0112-89D3-BEA0-EED165F423FB}"/>
              </a:ext>
            </a:extLst>
          </p:cNvPr>
          <p:cNvSpPr/>
          <p:nvPr/>
        </p:nvSpPr>
        <p:spPr>
          <a:xfrm>
            <a:off x="6691312" y="3230518"/>
            <a:ext cx="4076700" cy="1208131"/>
          </a:xfrm>
          <a:prstGeom prst="wedgeRoundRectCallout">
            <a:avLst>
              <a:gd name="adj1" fmla="val 56746"/>
              <a:gd name="adj2" fmla="val -4882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② 保存すると自動で</a:t>
            </a:r>
            <a:r>
              <a:rPr lang="en-US" altLang="ja-JP" b="1" dirty="0"/>
              <a:t>URL</a:t>
            </a:r>
            <a:r>
              <a:rPr lang="ja-JP" altLang="en-US" b="1" dirty="0"/>
              <a:t>発行</a:t>
            </a:r>
          </a:p>
          <a:p>
            <a:r>
              <a:rPr lang="ja-JP" altLang="en-US" b="1" dirty="0"/>
              <a:t>・編集</a:t>
            </a:r>
            <a:r>
              <a:rPr lang="en-US" altLang="ja-JP" b="1" dirty="0"/>
              <a:t>URL</a:t>
            </a:r>
            <a:r>
              <a:rPr lang="ja-JP" altLang="en-US" b="1" dirty="0"/>
              <a:t>（</a:t>
            </a:r>
            <a:r>
              <a:rPr lang="en-US" altLang="ja-JP" b="1" dirty="0" err="1"/>
              <a:t>edit_url</a:t>
            </a:r>
            <a:r>
              <a:rPr lang="ja-JP" altLang="en-US" b="1" dirty="0"/>
              <a:t>）</a:t>
            </a:r>
          </a:p>
          <a:p>
            <a:r>
              <a:rPr lang="ja-JP" altLang="en-US" b="1" dirty="0"/>
              <a:t>・公開</a:t>
            </a:r>
            <a:r>
              <a:rPr lang="en-US" altLang="ja-JP" b="1" dirty="0"/>
              <a:t>URL</a:t>
            </a:r>
            <a:r>
              <a:rPr lang="ja-JP" altLang="en-US" b="1" dirty="0"/>
              <a:t>（</a:t>
            </a:r>
            <a:r>
              <a:rPr lang="en-US" altLang="ja-JP" b="1" dirty="0" err="1"/>
              <a:t>public_url</a:t>
            </a:r>
            <a:r>
              <a:rPr lang="ja-JP" altLang="en-US" b="1" dirty="0"/>
              <a:t>）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C27F44-93D6-B79B-6E0D-94BD681AF145}"/>
              </a:ext>
            </a:extLst>
          </p:cNvPr>
          <p:cNvSpPr/>
          <p:nvPr/>
        </p:nvSpPr>
        <p:spPr>
          <a:xfrm>
            <a:off x="1423988" y="3834584"/>
            <a:ext cx="4343400" cy="10096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50197F-4EA2-A4C2-E84D-CF525B9798B2}"/>
              </a:ext>
            </a:extLst>
          </p:cNvPr>
          <p:cNvSpPr txBox="1"/>
          <p:nvPr/>
        </p:nvSpPr>
        <p:spPr>
          <a:xfrm>
            <a:off x="466725" y="228189"/>
            <a:ext cx="4962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②編集</a:t>
            </a:r>
            <a:r>
              <a:rPr lang="en-US" altLang="ja-JP" sz="2400" b="1" dirty="0"/>
              <a:t>URL</a:t>
            </a:r>
            <a:r>
              <a:rPr lang="ja-JP" altLang="en-US" sz="2400" b="1" dirty="0"/>
              <a:t>の発行（自動生成）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23412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347B-0159-6007-7368-962BA14F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D19C8E-2498-5C3B-E024-9B7EF916741E}"/>
              </a:ext>
            </a:extLst>
          </p:cNvPr>
          <p:cNvSpPr txBox="1"/>
          <p:nvPr/>
        </p:nvSpPr>
        <p:spPr>
          <a:xfrm>
            <a:off x="466725" y="228189"/>
            <a:ext cx="4962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③ユーザー編集（</a:t>
            </a:r>
            <a:r>
              <a:rPr lang="en-US" altLang="ja-JP" sz="2400" b="1" dirty="0"/>
              <a:t>edit</a:t>
            </a:r>
            <a:r>
              <a:rPr lang="ja-JP" altLang="en-US" sz="2400" b="1" dirty="0"/>
              <a:t>）</a:t>
            </a:r>
            <a:endParaRPr kumimoji="1" lang="ja-JP" altLang="en-US" sz="2400" b="1" dirty="0"/>
          </a:p>
        </p:txBody>
      </p:sp>
      <p:pic>
        <p:nvPicPr>
          <p:cNvPr id="8" name="図 7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C42FA52C-42A5-918F-F664-BBB05D8C8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" y="756529"/>
            <a:ext cx="10915650" cy="5639753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6FF4E997-B4EF-5E80-FFC9-642B1A8D9641}"/>
              </a:ext>
            </a:extLst>
          </p:cNvPr>
          <p:cNvSpPr/>
          <p:nvPr/>
        </p:nvSpPr>
        <p:spPr>
          <a:xfrm>
            <a:off x="7543801" y="3884406"/>
            <a:ext cx="4265628" cy="2338630"/>
          </a:xfrm>
          <a:prstGeom prst="wedgeRoundRectCallout">
            <a:avLst>
              <a:gd name="adj1" fmla="val 48335"/>
              <a:gd name="adj2" fmla="val -2438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b="1" dirty="0"/>
              <a:t>ユーザーの編集画面です。</a:t>
            </a:r>
            <a:endParaRPr kumimoji="1" lang="en-US" altLang="ja-JP" b="1" dirty="0"/>
          </a:p>
          <a:p>
            <a:r>
              <a:rPr lang="ja-JP" altLang="en-US" b="1" dirty="0"/>
              <a:t>先ほど、発行された</a:t>
            </a:r>
            <a:r>
              <a:rPr lang="en-US" altLang="ja-JP" b="1" dirty="0"/>
              <a:t>edit-</a:t>
            </a:r>
            <a:r>
              <a:rPr lang="en-US" altLang="ja-JP" b="1" dirty="0" err="1"/>
              <a:t>url</a:t>
            </a:r>
            <a:r>
              <a:rPr lang="ja-JP" altLang="en-US" b="1" dirty="0"/>
              <a:t>を使って編集ができます。</a:t>
            </a:r>
            <a:br>
              <a:rPr lang="en-US" altLang="ja-JP" b="1" dirty="0"/>
            </a:br>
            <a:br>
              <a:rPr lang="en-US" altLang="ja-JP" b="1" dirty="0"/>
            </a:br>
            <a:r>
              <a:rPr lang="ja-JP" altLang="en-US" b="1" dirty="0"/>
              <a:t>今はまだ、編集項目と</a:t>
            </a:r>
            <a:r>
              <a:rPr lang="en-US" altLang="ja-JP" b="1" dirty="0"/>
              <a:t>UI</a:t>
            </a:r>
            <a:r>
              <a:rPr lang="ja-JP" altLang="en-US" b="1" dirty="0"/>
              <a:t>が弱いですが、これから増やして綺麗にしていこうと思います。</a:t>
            </a:r>
            <a:r>
              <a:rPr kumimoji="1" lang="ja-JP" altLang="en-US" b="1" dirty="0"/>
              <a:t>　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3E8293F-3BAF-3FC2-88D3-3DFC94CD6060}"/>
              </a:ext>
            </a:extLst>
          </p:cNvPr>
          <p:cNvSpPr/>
          <p:nvPr/>
        </p:nvSpPr>
        <p:spPr>
          <a:xfrm>
            <a:off x="382571" y="1501613"/>
            <a:ext cx="2208229" cy="3552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7FE761F-BFCB-10C0-066E-CB862BEAB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64" y="1721289"/>
            <a:ext cx="1641442" cy="3112756"/>
          </a:xfrm>
          <a:prstGeom prst="rect">
            <a:avLst/>
          </a:prstGeom>
        </p:spPr>
      </p:pic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EBDB9C72-CE11-0F54-C727-66D0030382D4}"/>
              </a:ext>
            </a:extLst>
          </p:cNvPr>
          <p:cNvSpPr/>
          <p:nvPr/>
        </p:nvSpPr>
        <p:spPr>
          <a:xfrm>
            <a:off x="339709" y="5494310"/>
            <a:ext cx="3665554" cy="608990"/>
          </a:xfrm>
          <a:prstGeom prst="wedgeRoundRectCallout">
            <a:avLst>
              <a:gd name="adj1" fmla="val -34482"/>
              <a:gd name="adj2" fmla="val -12564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/>
              <a:t>現在データベースで管理されている項目です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699E00B-FEEC-AD62-FB01-24048ED79A87}"/>
              </a:ext>
            </a:extLst>
          </p:cNvPr>
          <p:cNvSpPr/>
          <p:nvPr/>
        </p:nvSpPr>
        <p:spPr>
          <a:xfrm>
            <a:off x="1280159" y="743037"/>
            <a:ext cx="3665554" cy="31798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82D7502F-F4EE-31CD-18EC-B03B1A5634AE}"/>
              </a:ext>
            </a:extLst>
          </p:cNvPr>
          <p:cNvSpPr/>
          <p:nvPr/>
        </p:nvSpPr>
        <p:spPr>
          <a:xfrm>
            <a:off x="5315394" y="459021"/>
            <a:ext cx="2894715" cy="612648"/>
          </a:xfrm>
          <a:prstGeom prst="wedgeRoundRectCallout">
            <a:avLst>
              <a:gd name="adj1" fmla="val -61963"/>
              <a:gd name="adj2" fmla="val 295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/>
              <a:t>発行した編集用</a:t>
            </a:r>
            <a:r>
              <a:rPr kumimoji="1" lang="en-US" altLang="ja-JP" b="1" dirty="0"/>
              <a:t>URL</a:t>
            </a:r>
            <a:r>
              <a:rPr kumimoji="1" lang="ja-JP" altLang="en-US" b="1" dirty="0"/>
              <a:t>です</a:t>
            </a:r>
          </a:p>
        </p:txBody>
      </p:sp>
    </p:spTree>
    <p:extLst>
      <p:ext uri="{BB962C8B-B14F-4D97-AF65-F5344CB8AC3E}">
        <p14:creationId xmlns:p14="http://schemas.microsoft.com/office/powerpoint/2010/main" val="141493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D94A-0926-03E3-690E-D3E059E2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9684D7-CA35-9BF5-D0EF-E52F59CD65C6}"/>
              </a:ext>
            </a:extLst>
          </p:cNvPr>
          <p:cNvSpPr txBox="1"/>
          <p:nvPr/>
        </p:nvSpPr>
        <p:spPr>
          <a:xfrm>
            <a:off x="505527" y="200652"/>
            <a:ext cx="871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④公開プロフィール（タッチ後の表示）</a:t>
            </a:r>
            <a:endParaRPr kumimoji="1" lang="ja-JP" altLang="en-US" sz="2400" b="1" dirty="0"/>
          </a:p>
        </p:txBody>
      </p:sp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80B92D2-BA8F-FBFE-E04F-9F593E714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22" y="771579"/>
            <a:ext cx="11315700" cy="5858232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8A3779D6-22A4-4132-55E5-F0E54E2F1F59}"/>
              </a:ext>
            </a:extLst>
          </p:cNvPr>
          <p:cNvSpPr/>
          <p:nvPr/>
        </p:nvSpPr>
        <p:spPr>
          <a:xfrm>
            <a:off x="5781675" y="3401463"/>
            <a:ext cx="5705475" cy="3228348"/>
          </a:xfrm>
          <a:prstGeom prst="wedgeRoundRectCallout">
            <a:avLst>
              <a:gd name="adj1" fmla="val 49837"/>
              <a:gd name="adj2" fmla="val -226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b="1" dirty="0"/>
              <a:t> </a:t>
            </a:r>
            <a:r>
              <a:rPr lang="en-US" altLang="ja-JP" b="1" dirty="0"/>
              <a:t>NFC</a:t>
            </a:r>
            <a:r>
              <a:rPr lang="ja-JP" altLang="en-US" b="1" dirty="0"/>
              <a:t>タッチ → </a:t>
            </a:r>
            <a:r>
              <a:rPr lang="en-US" altLang="ja-JP" b="1" dirty="0"/>
              <a:t>/n/{code}</a:t>
            </a:r>
          </a:p>
          <a:p>
            <a:r>
              <a:rPr lang="en-US" altLang="ja-JP" b="1" dirty="0"/>
              <a:t>→ </a:t>
            </a:r>
            <a:r>
              <a:rPr lang="ja-JP" altLang="en-US" b="1" dirty="0"/>
              <a:t>リダイレクト</a:t>
            </a:r>
          </a:p>
          <a:p>
            <a:r>
              <a:rPr lang="ja-JP" altLang="en-US" b="1" dirty="0"/>
              <a:t>→ 公開プロフィール表示</a:t>
            </a:r>
          </a:p>
          <a:p>
            <a:endParaRPr lang="ja-JP" altLang="en-US" b="1" dirty="0"/>
          </a:p>
          <a:p>
            <a:r>
              <a:rPr lang="ja-JP" altLang="en-US" b="1" dirty="0"/>
              <a:t>ユーザーが実際に見る最終画面です。</a:t>
            </a:r>
            <a:endParaRPr lang="en-US" altLang="ja-JP" b="1" dirty="0"/>
          </a:p>
          <a:p>
            <a:endParaRPr kumimoji="1" lang="en-US" altLang="ja-JP" b="1" dirty="0"/>
          </a:p>
          <a:p>
            <a:r>
              <a:rPr lang="ja-JP" altLang="en-US" b="1" dirty="0"/>
              <a:t>👉 「体験ゴール」</a:t>
            </a:r>
            <a:endParaRPr lang="en-US" altLang="ja-JP" b="1" dirty="0"/>
          </a:p>
          <a:p>
            <a:endParaRPr kumimoji="1" lang="en-US" altLang="ja-JP" b="1" dirty="0"/>
          </a:p>
          <a:p>
            <a:r>
              <a:rPr kumimoji="1" lang="ja-JP" altLang="en-US" b="1" dirty="0"/>
              <a:t>これから編集項目を増やして、公開プロフィールも豪華にしていこうと思います。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4DF8416-F4F8-12BA-5984-C126BA259D45}"/>
              </a:ext>
            </a:extLst>
          </p:cNvPr>
          <p:cNvSpPr/>
          <p:nvPr/>
        </p:nvSpPr>
        <p:spPr>
          <a:xfrm>
            <a:off x="981778" y="771579"/>
            <a:ext cx="1857676" cy="31607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35D7DE63-C080-9EE3-89B7-B745696B67EE}"/>
              </a:ext>
            </a:extLst>
          </p:cNvPr>
          <p:cNvSpPr/>
          <p:nvPr/>
        </p:nvSpPr>
        <p:spPr>
          <a:xfrm>
            <a:off x="394636" y="1368345"/>
            <a:ext cx="2618071" cy="770022"/>
          </a:xfrm>
          <a:prstGeom prst="wedgeRoundRectCallout">
            <a:avLst>
              <a:gd name="adj1" fmla="val -9588"/>
              <a:gd name="adj2" fmla="val -8389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/>
              <a:t>発行した公開</a:t>
            </a:r>
            <a:r>
              <a:rPr kumimoji="1" lang="en-US" altLang="ja-JP" b="1" dirty="0"/>
              <a:t>URL</a:t>
            </a:r>
            <a:r>
              <a:rPr kumimoji="1" lang="ja-JP" altLang="en-US" b="1" dirty="0"/>
              <a:t>です</a:t>
            </a:r>
          </a:p>
        </p:txBody>
      </p:sp>
    </p:spTree>
    <p:extLst>
      <p:ext uri="{BB962C8B-B14F-4D97-AF65-F5344CB8AC3E}">
        <p14:creationId xmlns:p14="http://schemas.microsoft.com/office/powerpoint/2010/main" val="113266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1086</Words>
  <Application>Microsoft Office PowerPoint</Application>
  <PresentationFormat>ワイド画面</PresentationFormat>
  <Paragraphs>158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パステルリンク</vt:lpstr>
      <vt:lpstr>PowerPoint プレゼンテーション</vt:lpstr>
      <vt:lpstr>2. 全体アーキテクチャ（現行構成） </vt:lpstr>
      <vt:lpstr>PowerPoint プレゼンテーション</vt:lpstr>
      <vt:lpstr>PowerPoint プレゼンテーション</vt:lpstr>
      <vt:lpstr>用語集（Glossary）</vt:lpstr>
      <vt:lpstr>用語集（Glossary）</vt:lpstr>
      <vt:lpstr>NFC Redirect 運用フロー 〜 発行から公開までの仕組み 〜 </vt:lpstr>
      <vt:lpstr>PowerPoint プレゼンテーション</vt:lpstr>
      <vt:lpstr>PowerPoint プレゼンテーション</vt:lpstr>
      <vt:lpstr>NFC Redirect 運用フロー 〜 発行から公開までの仕組み 〜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Owner</cp:lastModifiedBy>
  <cp:revision>14</cp:revision>
  <dcterms:created xsi:type="dcterms:W3CDTF">2026-01-27T01:29:00Z</dcterms:created>
  <dcterms:modified xsi:type="dcterms:W3CDTF">2026-01-27T05:50:34Z</dcterms:modified>
</cp:coreProperties>
</file>