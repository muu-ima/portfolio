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62" r:id="rId7"/>
    <p:sldId id="264" r:id="rId8"/>
    <p:sldId id="259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kumimoji="1"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kumimoji="1"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kumimoji="1"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kumimoji="1"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kumimoji="1"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kumimoji="1"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kumimoji="1"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kumimoji="1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kumimoji="1"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kumimoji="1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FEF503-D275-5F17-0A9B-63D3FAA48B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b="1" dirty="0"/>
              <a:t>パステルリンク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6B20AE2-4E38-47E2-EE32-249A1B512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2805" y="4013429"/>
            <a:ext cx="5543552" cy="558571"/>
          </a:xfrm>
        </p:spPr>
        <p:txBody>
          <a:bodyPr>
            <a:normAutofit/>
          </a:bodyPr>
          <a:lstStyle/>
          <a:p>
            <a:pPr algn="l"/>
            <a:r>
              <a:rPr lang="en-US" altLang="ja-JP" sz="2000" dirty="0"/>
              <a:t>NFC</a:t>
            </a:r>
            <a:r>
              <a:rPr lang="ja-JP" altLang="en-US" sz="2000" dirty="0"/>
              <a:t>名刺向け リダイレクト＆プロフィール基盤</a:t>
            </a:r>
            <a:endParaRPr lang="en-US" altLang="ja-JP" sz="2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743C011-EA72-7DE9-AF34-107C37F6D880}"/>
              </a:ext>
            </a:extLst>
          </p:cNvPr>
          <p:cNvSpPr txBox="1"/>
          <p:nvPr/>
        </p:nvSpPr>
        <p:spPr>
          <a:xfrm>
            <a:off x="8504707" y="4698749"/>
            <a:ext cx="1467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2026.01.22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6905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351A686-F1CC-722D-C20A-7E3488997B29}"/>
              </a:ext>
            </a:extLst>
          </p:cNvPr>
          <p:cNvSpPr txBox="1"/>
          <p:nvPr/>
        </p:nvSpPr>
        <p:spPr>
          <a:xfrm>
            <a:off x="914398" y="283433"/>
            <a:ext cx="6981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① いまの構成（</a:t>
            </a:r>
            <a:r>
              <a:rPr lang="en-US" altLang="ja-JP" sz="2400" b="1" dirty="0"/>
              <a:t>WordPress</a:t>
            </a:r>
            <a:r>
              <a:rPr lang="ja-JP" altLang="en-US" sz="2400" b="1" dirty="0"/>
              <a:t>で完結している状態）</a:t>
            </a:r>
            <a:endParaRPr kumimoji="1" lang="ja-JP" altLang="en-US" sz="2400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3EBD752-5BFC-8FA2-36F6-352523B39B9B}"/>
              </a:ext>
            </a:extLst>
          </p:cNvPr>
          <p:cNvSpPr txBox="1"/>
          <p:nvPr/>
        </p:nvSpPr>
        <p:spPr>
          <a:xfrm>
            <a:off x="981366" y="851902"/>
            <a:ext cx="47529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登場人物</a:t>
            </a:r>
          </a:p>
          <a:p>
            <a:r>
              <a:rPr lang="ja-JP" altLang="en-US" dirty="0"/>
              <a:t>👤 利用者（スマホ・</a:t>
            </a:r>
            <a:r>
              <a:rPr lang="en-US" altLang="ja-JP" dirty="0"/>
              <a:t>NFC</a:t>
            </a:r>
            <a:r>
              <a:rPr lang="ja-JP" altLang="en-US" dirty="0"/>
              <a:t>）</a:t>
            </a:r>
          </a:p>
          <a:p>
            <a:r>
              <a:rPr lang="ja-JP" altLang="en-US" dirty="0"/>
              <a:t>🌐 ブラウザ</a:t>
            </a:r>
          </a:p>
          <a:p>
            <a:r>
              <a:rPr lang="ja-JP" altLang="en-US" dirty="0"/>
              <a:t>🧠 </a:t>
            </a:r>
            <a:r>
              <a:rPr lang="en-US" altLang="ja-JP" dirty="0"/>
              <a:t>WordPress</a:t>
            </a:r>
            <a:r>
              <a:rPr lang="ja-JP" altLang="en-US" dirty="0"/>
              <a:t>（</a:t>
            </a:r>
            <a:r>
              <a:rPr lang="en-US" altLang="ja-JP" dirty="0" err="1"/>
              <a:t>nfc</a:t>
            </a:r>
            <a:r>
              <a:rPr lang="en-US" altLang="ja-JP" dirty="0"/>
              <a:t>-redirect </a:t>
            </a:r>
            <a:r>
              <a:rPr lang="ja-JP" altLang="en-US" dirty="0"/>
              <a:t>プラグイン）</a:t>
            </a:r>
          </a:p>
          <a:p>
            <a:r>
              <a:rPr lang="ja-JP" altLang="en-US" dirty="0"/>
              <a:t>🗄 </a:t>
            </a:r>
            <a:r>
              <a:rPr lang="en-US" altLang="ja-JP" dirty="0"/>
              <a:t>DB</a:t>
            </a:r>
            <a:r>
              <a:rPr lang="ja-JP" altLang="en-US" dirty="0"/>
              <a:t>（</a:t>
            </a:r>
            <a:r>
              <a:rPr lang="en-US" altLang="ja-JP" dirty="0"/>
              <a:t>CPT</a:t>
            </a:r>
            <a:r>
              <a:rPr lang="ja-JP" altLang="en-US" dirty="0"/>
              <a:t>：</a:t>
            </a:r>
            <a:r>
              <a:rPr lang="en-US" altLang="ja-JP" dirty="0" err="1"/>
              <a:t>nfc_redirect</a:t>
            </a:r>
            <a:r>
              <a:rPr lang="ja-JP" altLang="en-US" dirty="0"/>
              <a:t>）</a:t>
            </a:r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962B0A9-E6C1-45B8-7890-964EB54D1D9F}"/>
              </a:ext>
            </a:extLst>
          </p:cNvPr>
          <p:cNvSpPr txBox="1"/>
          <p:nvPr/>
        </p:nvSpPr>
        <p:spPr>
          <a:xfrm>
            <a:off x="981366" y="2453761"/>
            <a:ext cx="107918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通信の流れ（図解）</a:t>
            </a:r>
            <a:endParaRPr lang="en-US" altLang="ja-JP" dirty="0"/>
          </a:p>
          <a:p>
            <a:r>
              <a:rPr kumimoji="1" lang="ja-JP" altLang="en-US" dirty="0"/>
              <a:t>①👤</a:t>
            </a:r>
            <a:r>
              <a:rPr kumimoji="1" lang="ja-JP" altLang="en-US" b="1" dirty="0"/>
              <a:t> 利用者　　　　　　 </a:t>
            </a:r>
            <a:r>
              <a:rPr kumimoji="1" lang="ja-JP" altLang="en-US" dirty="0"/>
              <a:t>②🌐 </a:t>
            </a:r>
            <a:r>
              <a:rPr kumimoji="1" lang="ja-JP" altLang="en-US" b="1" dirty="0"/>
              <a:t>ブラウザ</a:t>
            </a:r>
            <a:r>
              <a:rPr kumimoji="1" lang="en-US" altLang="ja-JP" dirty="0"/>
              <a:t>					</a:t>
            </a:r>
            <a:r>
              <a:rPr kumimoji="1" lang="ja-JP" altLang="en-US" dirty="0"/>
              <a:t>③🧠 </a:t>
            </a:r>
            <a:r>
              <a:rPr kumimoji="1" lang="en-US" altLang="ja-JP" b="1" dirty="0"/>
              <a:t>WordPress</a:t>
            </a:r>
            <a:endParaRPr kumimoji="1" lang="ja-JP" altLang="en-US" b="1" dirty="0"/>
          </a:p>
          <a:p>
            <a:r>
              <a:rPr kumimoji="1" lang="ja-JP" altLang="en-US" dirty="0"/>
              <a:t>   </a:t>
            </a:r>
            <a:r>
              <a:rPr kumimoji="1" lang="en-US" altLang="ja-JP" dirty="0"/>
              <a:t>	NFC</a:t>
            </a:r>
            <a:r>
              <a:rPr kumimoji="1" lang="ja-JP" altLang="en-US" dirty="0"/>
              <a:t>タッチ　　　　　　</a:t>
            </a:r>
            <a:r>
              <a:rPr kumimoji="1" lang="en-US" altLang="ja-JP" dirty="0"/>
              <a:t>GET /pastel-link/n/TEST</a:t>
            </a:r>
            <a:r>
              <a:rPr kumimoji="1" lang="ja-JP" altLang="en-US" dirty="0"/>
              <a:t>　</a:t>
            </a:r>
            <a:r>
              <a:rPr kumimoji="1" lang="en-US" altLang="ja-JP" dirty="0"/>
              <a:t>				 </a:t>
            </a:r>
            <a:r>
              <a:rPr kumimoji="1" lang="en-US" altLang="ja-JP" dirty="0" err="1"/>
              <a:t>rewrite.php</a:t>
            </a:r>
            <a:r>
              <a:rPr kumimoji="1" lang="ja-JP" altLang="en-US" dirty="0"/>
              <a:t>　　</a:t>
            </a:r>
          </a:p>
          <a:p>
            <a:r>
              <a:rPr kumimoji="1" lang="en-US" altLang="ja-JP" dirty="0"/>
              <a:t>																└ </a:t>
            </a:r>
            <a:r>
              <a:rPr kumimoji="1" lang="en-US" altLang="ja-JP" dirty="0" err="1"/>
              <a:t>nfc_code</a:t>
            </a:r>
            <a:r>
              <a:rPr kumimoji="1" lang="en-US" altLang="ja-JP" dirty="0"/>
              <a:t> = "TEST“</a:t>
            </a:r>
          </a:p>
          <a:p>
            <a:r>
              <a:rPr kumimoji="1" lang="en-US" altLang="ja-JP" dirty="0"/>
              <a:t>															 </a:t>
            </a:r>
            <a:r>
              <a:rPr kumimoji="1" lang="en-US" altLang="ja-JP" dirty="0" err="1"/>
              <a:t>handler.php</a:t>
            </a:r>
            <a:endParaRPr kumimoji="1" lang="en-US" altLang="ja-JP" dirty="0"/>
          </a:p>
          <a:p>
            <a:r>
              <a:rPr kumimoji="1" lang="en-US" altLang="ja-JP" dirty="0"/>
              <a:t>																└ DB</a:t>
            </a:r>
            <a:r>
              <a:rPr kumimoji="1" lang="ja-JP" altLang="en-US" dirty="0"/>
              <a:t>検索（</a:t>
            </a:r>
            <a:r>
              <a:rPr kumimoji="1" lang="en-US" altLang="ja-JP" dirty="0" err="1"/>
              <a:t>CPTnfc_redirect</a:t>
            </a:r>
            <a:r>
              <a:rPr kumimoji="1" lang="ja-JP" altLang="en-US" dirty="0"/>
              <a:t>）</a:t>
            </a: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9CFAE8DA-9502-1CCD-E606-0D903B83992C}"/>
              </a:ext>
            </a:extLst>
          </p:cNvPr>
          <p:cNvSpPr/>
          <p:nvPr/>
        </p:nvSpPr>
        <p:spPr>
          <a:xfrm>
            <a:off x="2970161" y="3088608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1C83B865-F051-D5BA-8A2E-D63036E8DCF6}"/>
              </a:ext>
            </a:extLst>
          </p:cNvPr>
          <p:cNvSpPr/>
          <p:nvPr/>
        </p:nvSpPr>
        <p:spPr>
          <a:xfrm>
            <a:off x="6584889" y="3088608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1B3FA16-4824-8EE2-FCCA-6B9BBDFBD002}"/>
              </a:ext>
            </a:extLst>
          </p:cNvPr>
          <p:cNvSpPr txBox="1"/>
          <p:nvPr/>
        </p:nvSpPr>
        <p:spPr>
          <a:xfrm>
            <a:off x="981366" y="4421694"/>
            <a:ext cx="3314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④🗄 </a:t>
            </a:r>
            <a:r>
              <a:rPr kumimoji="1" lang="en-US" altLang="ja-JP" b="1" dirty="0"/>
              <a:t>DB</a:t>
            </a:r>
          </a:p>
          <a:p>
            <a:r>
              <a:rPr kumimoji="1" lang="en-US" altLang="ja-JP" dirty="0"/>
              <a:t>  code=TEST ?</a:t>
            </a:r>
          </a:p>
          <a:p>
            <a:r>
              <a:rPr kumimoji="1" lang="en-US" altLang="ja-JP" dirty="0"/>
              <a:t>    status=active ?</a:t>
            </a:r>
          </a:p>
          <a:p>
            <a:r>
              <a:rPr kumimoji="1" lang="en-US" altLang="ja-JP" dirty="0"/>
              <a:t>    target_url=example.com</a:t>
            </a:r>
            <a:endParaRPr kumimoji="1" lang="ja-JP" altLang="en-US" dirty="0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EF05B36C-4668-0941-4AD2-4E3D59C38211}"/>
              </a:ext>
            </a:extLst>
          </p:cNvPr>
          <p:cNvSpPr/>
          <p:nvPr/>
        </p:nvSpPr>
        <p:spPr>
          <a:xfrm>
            <a:off x="11210634" y="3088608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CEB4C4B-A150-D497-397E-A699E3B50750}"/>
              </a:ext>
            </a:extLst>
          </p:cNvPr>
          <p:cNvSpPr txBox="1"/>
          <p:nvPr/>
        </p:nvSpPr>
        <p:spPr>
          <a:xfrm>
            <a:off x="11141722" y="2725018"/>
            <a:ext cx="695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④へ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39A74E08-E787-258E-6CA9-E062B5A768EA}"/>
              </a:ext>
            </a:extLst>
          </p:cNvPr>
          <p:cNvSpPr/>
          <p:nvPr/>
        </p:nvSpPr>
        <p:spPr>
          <a:xfrm>
            <a:off x="3938582" y="4779542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0C49D12-07E3-E3F3-38D0-8B8E2FE98BDF}"/>
              </a:ext>
            </a:extLst>
          </p:cNvPr>
          <p:cNvSpPr txBox="1"/>
          <p:nvPr/>
        </p:nvSpPr>
        <p:spPr>
          <a:xfrm>
            <a:off x="4589247" y="4387011"/>
            <a:ext cx="24288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⑤🧠 </a:t>
            </a:r>
            <a:r>
              <a:rPr kumimoji="1" lang="en-US" altLang="ja-JP" b="1" dirty="0"/>
              <a:t>WordPress</a:t>
            </a:r>
          </a:p>
          <a:p>
            <a:r>
              <a:rPr kumimoji="1" lang="en-US" altLang="ja-JP" dirty="0"/>
              <a:t> active   → 302 Location: </a:t>
            </a:r>
            <a:r>
              <a:rPr kumimoji="1" lang="en-US" altLang="ja-JP" dirty="0" err="1"/>
              <a:t>target_url</a:t>
            </a:r>
            <a:endParaRPr kumimoji="1" lang="en-US" altLang="ja-JP" dirty="0"/>
          </a:p>
          <a:p>
            <a:r>
              <a:rPr kumimoji="1" lang="en-US" altLang="ja-JP" dirty="0"/>
              <a:t>   disabled → 410 </a:t>
            </a:r>
            <a:r>
              <a:rPr kumimoji="1" lang="ja-JP" altLang="en-US" dirty="0"/>
              <a:t>停止ページ</a:t>
            </a:r>
          </a:p>
          <a:p>
            <a:r>
              <a:rPr kumimoji="1" lang="ja-JP" altLang="en-US" dirty="0"/>
              <a:t>   </a:t>
            </a:r>
            <a:r>
              <a:rPr kumimoji="1" lang="en-US" altLang="ja-JP" dirty="0" err="1"/>
              <a:t>notfound</a:t>
            </a:r>
            <a:r>
              <a:rPr kumimoji="1" lang="en-US" altLang="ja-JP" dirty="0"/>
              <a:t> → 404</a:t>
            </a:r>
            <a:endParaRPr kumimoji="1" lang="ja-JP" altLang="en-US" dirty="0"/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867EDFAF-C97F-9613-C2CA-CD015FAB1AA1}"/>
              </a:ext>
            </a:extLst>
          </p:cNvPr>
          <p:cNvSpPr/>
          <p:nvPr/>
        </p:nvSpPr>
        <p:spPr>
          <a:xfrm>
            <a:off x="7111576" y="4779542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84C40F3-38D8-FB17-C72F-03502510300C}"/>
              </a:ext>
            </a:extLst>
          </p:cNvPr>
          <p:cNvSpPr txBox="1"/>
          <p:nvPr/>
        </p:nvSpPr>
        <p:spPr>
          <a:xfrm>
            <a:off x="7895936" y="4421694"/>
            <a:ext cx="42960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⑥🌐ブラウザ</a:t>
            </a:r>
            <a:endParaRPr kumimoji="1" lang="en-US" altLang="ja-JP" dirty="0"/>
          </a:p>
          <a:p>
            <a:r>
              <a:rPr lang="ja-JP" altLang="en-US" dirty="0"/>
              <a:t>　</a:t>
            </a:r>
            <a:r>
              <a:rPr lang="en-US" altLang="ja-JP" b="1" dirty="0" err="1"/>
              <a:t>target_url</a:t>
            </a:r>
            <a:endParaRPr lang="en-US" altLang="ja-JP" b="1" dirty="0"/>
          </a:p>
          <a:p>
            <a:r>
              <a:rPr lang="en-US" altLang="ja-JP" dirty="0" err="1"/>
              <a:t>target_url</a:t>
            </a:r>
            <a:r>
              <a:rPr lang="en-US" altLang="ja-JP" dirty="0"/>
              <a:t> = </a:t>
            </a:r>
            <a:r>
              <a:rPr lang="ja-JP" altLang="en-US" dirty="0"/>
              <a:t>お客さんが「</a:t>
            </a:r>
            <a:endParaRPr lang="en-US" altLang="ja-JP" dirty="0"/>
          </a:p>
          <a:p>
            <a:r>
              <a:rPr lang="ja-JP" altLang="en-US" dirty="0"/>
              <a:t>このカードをタッチしたら行ってほしい先」として指定した</a:t>
            </a:r>
            <a:r>
              <a:rPr lang="en-US" altLang="ja-JP" dirty="0"/>
              <a:t>URL </a:t>
            </a:r>
            <a:r>
              <a:rPr kumimoji="1" lang="en-US" altLang="ja-JP" dirty="0"/>
              <a:t>	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02278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E4EBB59-E8F4-50DF-E0C5-2FB3081511D5}"/>
              </a:ext>
            </a:extLst>
          </p:cNvPr>
          <p:cNvSpPr txBox="1"/>
          <p:nvPr/>
        </p:nvSpPr>
        <p:spPr>
          <a:xfrm>
            <a:off x="1423486" y="1653956"/>
            <a:ext cx="1058251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b="1" dirty="0"/>
              <a:t>NFC → WordPress → </a:t>
            </a:r>
            <a:r>
              <a:rPr lang="en-US" altLang="ja-JP" sz="4000" b="1" dirty="0">
                <a:solidFill>
                  <a:srgbClr val="FF0000"/>
                </a:solidFill>
              </a:rPr>
              <a:t>302 </a:t>
            </a:r>
            <a:r>
              <a:rPr lang="ja-JP" altLang="en-US" sz="4000" b="1" dirty="0"/>
              <a:t>は成功しているが、</a:t>
            </a:r>
            <a:br>
              <a:rPr lang="ja-JP" altLang="en-US" sz="4000" b="1" dirty="0"/>
            </a:br>
            <a:r>
              <a:rPr lang="ja-JP" altLang="en-US" sz="4000" b="1" dirty="0">
                <a:solidFill>
                  <a:srgbClr val="FF0000"/>
                </a:solidFill>
              </a:rPr>
              <a:t>表示先（プロフィール）</a:t>
            </a:r>
            <a:r>
              <a:rPr lang="ja-JP" altLang="en-US" sz="4000" b="1" dirty="0"/>
              <a:t>が未実装のため、</a:t>
            </a:r>
            <a:br>
              <a:rPr lang="ja-JP" altLang="en-US" sz="4000" b="1" dirty="0"/>
            </a:br>
            <a:r>
              <a:rPr lang="ja-JP" altLang="en-US" sz="4000" b="1" dirty="0"/>
              <a:t>体験として未完成</a:t>
            </a:r>
            <a:endParaRPr kumimoji="1" lang="ja-JP" altLang="en-US" sz="4000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9777C4F-E951-D807-FC22-017A43FACF61}"/>
              </a:ext>
            </a:extLst>
          </p:cNvPr>
          <p:cNvSpPr txBox="1"/>
          <p:nvPr/>
        </p:nvSpPr>
        <p:spPr>
          <a:xfrm>
            <a:off x="1671136" y="3911382"/>
            <a:ext cx="6787436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302 </a:t>
            </a:r>
            <a:r>
              <a:rPr lang="ja-JP" altLang="en-US" sz="2400" b="1" dirty="0"/>
              <a:t>とは何か</a:t>
            </a:r>
            <a:endParaRPr lang="en-US" altLang="ja-JP" sz="2400" b="1" dirty="0"/>
          </a:p>
          <a:p>
            <a:r>
              <a:rPr lang="en-US" altLang="ja-JP" b="1" dirty="0"/>
              <a:t>302 = HTTP</a:t>
            </a:r>
            <a:r>
              <a:rPr lang="ja-JP" altLang="en-US" b="1" dirty="0"/>
              <a:t>リダイレクト（</a:t>
            </a:r>
            <a:r>
              <a:rPr lang="en-US" altLang="ja-JP" b="1" dirty="0"/>
              <a:t>Location </a:t>
            </a:r>
            <a:r>
              <a:rPr lang="ja-JP" altLang="en-US" b="1" dirty="0"/>
              <a:t>に指定した</a:t>
            </a:r>
            <a:r>
              <a:rPr lang="en-US" altLang="ja-JP" b="1" dirty="0"/>
              <a:t>URL</a:t>
            </a:r>
            <a:r>
              <a:rPr lang="ja-JP" altLang="en-US" b="1" dirty="0"/>
              <a:t>へ移動せよ）</a:t>
            </a:r>
            <a:endParaRPr lang="ja-JP" altLang="en-US" dirty="0"/>
          </a:p>
          <a:p>
            <a:r>
              <a:rPr lang="ja-JP" altLang="en-US" dirty="0"/>
              <a:t>サーバーがブラウザに返すレスポンス</a:t>
            </a:r>
          </a:p>
          <a:p>
            <a:r>
              <a:rPr lang="en-US" altLang="ja-JP" dirty="0"/>
              <a:t>302 </a:t>
            </a:r>
            <a:r>
              <a:rPr lang="ja-JP" altLang="en-US" dirty="0"/>
              <a:t>は「この先に進んでください」という案内板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9787DB6-A945-DBEE-39D0-80FDB0018A4E}"/>
              </a:ext>
            </a:extLst>
          </p:cNvPr>
          <p:cNvSpPr txBox="1"/>
          <p:nvPr/>
        </p:nvSpPr>
        <p:spPr>
          <a:xfrm>
            <a:off x="1423486" y="1094629"/>
            <a:ext cx="2653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/>
              <a:t>2026</a:t>
            </a:r>
            <a:r>
              <a:rPr kumimoji="1" lang="ja-JP" altLang="en-US" sz="2000" b="1" dirty="0"/>
              <a:t>年</a:t>
            </a:r>
            <a:r>
              <a:rPr kumimoji="1" lang="en-US" altLang="ja-JP" sz="2000" b="1" dirty="0"/>
              <a:t>1</a:t>
            </a:r>
            <a:r>
              <a:rPr kumimoji="1" lang="ja-JP" altLang="en-US" sz="2000" b="1" dirty="0"/>
              <a:t>月</a:t>
            </a:r>
            <a:r>
              <a:rPr kumimoji="1" lang="en-US" altLang="ja-JP" sz="2000" b="1" dirty="0"/>
              <a:t>22</a:t>
            </a:r>
            <a:r>
              <a:rPr kumimoji="1" lang="ja-JP" altLang="en-US" sz="2000" b="1" dirty="0"/>
              <a:t>日現在</a:t>
            </a:r>
          </a:p>
        </p:txBody>
      </p:sp>
    </p:spTree>
    <p:extLst>
      <p:ext uri="{BB962C8B-B14F-4D97-AF65-F5344CB8AC3E}">
        <p14:creationId xmlns:p14="http://schemas.microsoft.com/office/powerpoint/2010/main" val="2689087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1DD1A-425A-59CD-D785-7809F0A15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C99A5A0-6090-8250-32E0-5827D7386858}"/>
              </a:ext>
            </a:extLst>
          </p:cNvPr>
          <p:cNvSpPr txBox="1"/>
          <p:nvPr/>
        </p:nvSpPr>
        <p:spPr>
          <a:xfrm>
            <a:off x="914398" y="283433"/>
            <a:ext cx="559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②次のステップ（検証フェーズ）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BCF50AA-07AA-A30B-8E7F-7B4B88ECD663}"/>
              </a:ext>
            </a:extLst>
          </p:cNvPr>
          <p:cNvSpPr txBox="1"/>
          <p:nvPr/>
        </p:nvSpPr>
        <p:spPr>
          <a:xfrm>
            <a:off x="914398" y="814005"/>
            <a:ext cx="9553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/>
              <a:t>まずは同じ </a:t>
            </a:r>
            <a:r>
              <a:rPr lang="en-US" altLang="ja-JP" sz="3600" b="1" dirty="0"/>
              <a:t>WordPress </a:t>
            </a:r>
            <a:r>
              <a:rPr lang="ja-JP" altLang="en-US" sz="3600" b="1" dirty="0"/>
              <a:t>内で</a:t>
            </a:r>
            <a:br>
              <a:rPr lang="ja-JP" altLang="en-US" sz="3600" b="1" dirty="0"/>
            </a:br>
            <a:r>
              <a:rPr lang="ja-JP" altLang="en-US" sz="3600" b="1" dirty="0"/>
              <a:t>テスト用のプロフィールページを作成する</a:t>
            </a:r>
            <a:endParaRPr kumimoji="1" lang="ja-JP" altLang="en-US" sz="3600" b="1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D4C94A0-5F0D-23E2-5421-6385D672CB64}"/>
              </a:ext>
            </a:extLst>
          </p:cNvPr>
          <p:cNvSpPr/>
          <p:nvPr/>
        </p:nvSpPr>
        <p:spPr>
          <a:xfrm>
            <a:off x="914398" y="2083242"/>
            <a:ext cx="10496552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200" dirty="0"/>
              <a:t> </a:t>
            </a:r>
            <a:r>
              <a:rPr kumimoji="1" lang="en-US" altLang="ja-JP" sz="2800" dirty="0"/>
              <a:t>NFC</a:t>
            </a:r>
            <a:r>
              <a:rPr kumimoji="1" lang="en-US" altLang="ja-JP" sz="3200" dirty="0"/>
              <a:t> </a:t>
            </a:r>
            <a:r>
              <a:rPr kumimoji="1" lang="ja-JP" altLang="en-US" sz="3200" dirty="0"/>
              <a:t>→ </a:t>
            </a:r>
            <a:r>
              <a:rPr kumimoji="1" lang="en-US" altLang="ja-JP" sz="2800" dirty="0"/>
              <a:t>WordPress </a:t>
            </a:r>
            <a:r>
              <a:rPr kumimoji="1" lang="ja-JP" altLang="en-US" sz="3200" dirty="0"/>
              <a:t>→ </a:t>
            </a:r>
            <a:r>
              <a:rPr kumimoji="1" lang="en-US" altLang="ja-JP" sz="2800" dirty="0"/>
              <a:t>302</a:t>
            </a:r>
            <a:r>
              <a:rPr kumimoji="1" lang="en-US" altLang="ja-JP" sz="3200" dirty="0"/>
              <a:t> </a:t>
            </a:r>
            <a:r>
              <a:rPr kumimoji="1" lang="ja-JP" altLang="en-US" sz="3200" dirty="0"/>
              <a:t>→ プロフィール</a:t>
            </a:r>
            <a:r>
              <a:rPr kumimoji="1" lang="en-US" altLang="ja-JP" sz="3200" dirty="0"/>
              <a:t>(</a:t>
            </a:r>
            <a:r>
              <a:rPr kumimoji="1" lang="ja-JP" altLang="en-US" sz="3200" dirty="0"/>
              <a:t>同一</a:t>
            </a:r>
            <a:r>
              <a:rPr kumimoji="1" lang="en-US" altLang="ja-JP" sz="3200" dirty="0"/>
              <a:t>WordPress)</a:t>
            </a:r>
            <a:endParaRPr kumimoji="1" lang="ja-JP" altLang="en-US" sz="3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7D7B0B0-4A75-F76B-3EF9-06B07F53BEE4}"/>
              </a:ext>
            </a:extLst>
          </p:cNvPr>
          <p:cNvSpPr txBox="1"/>
          <p:nvPr/>
        </p:nvSpPr>
        <p:spPr>
          <a:xfrm>
            <a:off x="1021552" y="3076575"/>
            <a:ext cx="53768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目的</a:t>
            </a:r>
            <a:r>
              <a:rPr kumimoji="1" lang="ja-JP" altLang="en-US" sz="2400" dirty="0"/>
              <a:t>：</a:t>
            </a:r>
            <a:endParaRPr kumimoji="1"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400" dirty="0"/>
              <a:t>リダイレクト</a:t>
            </a:r>
            <a:r>
              <a:rPr lang="en-US" altLang="ja-JP" sz="2400" dirty="0"/>
              <a:t>〜</a:t>
            </a:r>
            <a:r>
              <a:rPr lang="ja-JP" altLang="en-US" sz="2400" dirty="0"/>
              <a:t>表示までの</a:t>
            </a:r>
            <a:br>
              <a:rPr lang="ja-JP" altLang="en-US" sz="2400" dirty="0"/>
            </a:br>
            <a:r>
              <a:rPr lang="ja-JP" altLang="en-US" sz="2400" b="1" dirty="0"/>
              <a:t>ユーザー体験を最後まで確認</a:t>
            </a:r>
            <a:endParaRPr lang="en-US" altLang="ja-JP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ja-JP" alt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400" dirty="0"/>
              <a:t>NFC</a:t>
            </a:r>
            <a:r>
              <a:rPr lang="ja-JP" altLang="en-US" sz="2400" dirty="0"/>
              <a:t>カード利用時の</a:t>
            </a:r>
            <a:br>
              <a:rPr lang="ja-JP" altLang="en-US" sz="2400" dirty="0"/>
            </a:br>
            <a:r>
              <a:rPr lang="ja-JP" altLang="en-US" sz="2400" b="1" dirty="0"/>
              <a:t>実際の動作を検証</a:t>
            </a:r>
            <a:endParaRPr lang="en-US" altLang="ja-JP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ja-JP" alt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400" dirty="0"/>
              <a:t>管理画面での</a:t>
            </a:r>
            <a:br>
              <a:rPr lang="ja-JP" altLang="en-US" sz="2400" dirty="0"/>
            </a:br>
            <a:r>
              <a:rPr lang="ja-JP" altLang="en-US" sz="2400" b="1" dirty="0"/>
              <a:t>更新・停止フローを確立</a:t>
            </a:r>
            <a:endParaRPr lang="en-US" altLang="ja-JP" sz="2400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09EB488-0E18-5207-A3D5-EF2BE70670B4}"/>
              </a:ext>
            </a:extLst>
          </p:cNvPr>
          <p:cNvSpPr txBox="1"/>
          <p:nvPr/>
        </p:nvSpPr>
        <p:spPr>
          <a:xfrm>
            <a:off x="5586409" y="3228975"/>
            <a:ext cx="64246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⚠ 注意書き（重要）</a:t>
            </a:r>
          </a:p>
          <a:p>
            <a:r>
              <a:rPr lang="en-US" altLang="ja-JP" sz="2400" dirty="0"/>
              <a:t>※ </a:t>
            </a:r>
            <a:r>
              <a:rPr lang="ja-JP" altLang="en-US" sz="2400" dirty="0"/>
              <a:t>本構成はあくまで検証用</a:t>
            </a:r>
            <a:br>
              <a:rPr lang="ja-JP" altLang="en-US" sz="2400" dirty="0"/>
            </a:br>
            <a:r>
              <a:rPr lang="en-US" altLang="ja-JP" sz="2400" dirty="0"/>
              <a:t>※ </a:t>
            </a:r>
            <a:r>
              <a:rPr lang="ja-JP" altLang="en-US" sz="2400" dirty="0"/>
              <a:t>本番では表示部分を別サーバーへ分離予定</a:t>
            </a:r>
          </a:p>
        </p:txBody>
      </p:sp>
    </p:spTree>
    <p:extLst>
      <p:ext uri="{BB962C8B-B14F-4D97-AF65-F5344CB8AC3E}">
        <p14:creationId xmlns:p14="http://schemas.microsoft.com/office/powerpoint/2010/main" val="318436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E4FD6-9C8B-E4F3-FE4A-94D27A898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D01D7D9-8EB3-8AA0-B1DC-2E7AB3292E99}"/>
              </a:ext>
            </a:extLst>
          </p:cNvPr>
          <p:cNvSpPr txBox="1"/>
          <p:nvPr/>
        </p:nvSpPr>
        <p:spPr>
          <a:xfrm>
            <a:off x="914398" y="283433"/>
            <a:ext cx="10553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③ 将来：別サーバー構成になった場合（通信フロー）</a:t>
            </a:r>
            <a:endParaRPr kumimoji="1" lang="ja-JP" altLang="en-US" sz="24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9B3DF4-E164-255F-CC8A-2BF59F17E2E8}"/>
              </a:ext>
            </a:extLst>
          </p:cNvPr>
          <p:cNvSpPr txBox="1"/>
          <p:nvPr/>
        </p:nvSpPr>
        <p:spPr>
          <a:xfrm>
            <a:off x="914398" y="970692"/>
            <a:ext cx="1079182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/>
              <a:t>通信の流れ（図解）</a:t>
            </a:r>
            <a:endParaRPr lang="en-US" altLang="ja-JP" sz="2000" b="1" dirty="0"/>
          </a:p>
          <a:p>
            <a:r>
              <a:rPr kumimoji="1" lang="ja-JP" altLang="en-US" dirty="0"/>
              <a:t>①👤</a:t>
            </a:r>
            <a:r>
              <a:rPr kumimoji="1" lang="ja-JP" altLang="en-US" b="1" dirty="0"/>
              <a:t> 利用者　　　　　　 </a:t>
            </a:r>
            <a:r>
              <a:rPr kumimoji="1" lang="ja-JP" altLang="en-US" dirty="0"/>
              <a:t>②🌐 </a:t>
            </a:r>
            <a:r>
              <a:rPr kumimoji="1" lang="ja-JP" altLang="en-US" b="1" dirty="0"/>
              <a:t>ブラウザ</a:t>
            </a:r>
            <a:r>
              <a:rPr kumimoji="1" lang="en-US" altLang="ja-JP" dirty="0"/>
              <a:t>					</a:t>
            </a:r>
            <a:r>
              <a:rPr kumimoji="1" lang="ja-JP" altLang="en-US" dirty="0"/>
              <a:t>③</a:t>
            </a:r>
            <a:r>
              <a:rPr lang="ja-JP" altLang="en-US" dirty="0"/>
              <a:t>🚪 </a:t>
            </a:r>
            <a:r>
              <a:rPr lang="en-US" altLang="ja-JP" b="1" dirty="0"/>
              <a:t>NFC</a:t>
            </a:r>
            <a:r>
              <a:rPr lang="ja-JP" altLang="en-US" b="1" dirty="0"/>
              <a:t>ゲートウェイ（別サーバー）</a:t>
            </a:r>
            <a:r>
              <a:rPr kumimoji="1" lang="ja-JP" altLang="en-US" dirty="0"/>
              <a:t>   </a:t>
            </a:r>
            <a:r>
              <a:rPr kumimoji="1" lang="en-US" altLang="ja-JP" dirty="0"/>
              <a:t>	NFC</a:t>
            </a:r>
            <a:r>
              <a:rPr kumimoji="1" lang="ja-JP" altLang="en-US" dirty="0"/>
              <a:t>タッチ　　　　　　</a:t>
            </a:r>
            <a:r>
              <a:rPr lang="en-US" altLang="ja-JP" dirty="0"/>
              <a:t> GET https://nfc.xxx/n/{code}</a:t>
            </a:r>
            <a:r>
              <a:rPr kumimoji="1" lang="en-US" altLang="ja-JP" dirty="0"/>
              <a:t>				</a:t>
            </a:r>
            <a:r>
              <a:rPr kumimoji="1" lang="ja-JP" altLang="en-US" b="1" dirty="0"/>
              <a:t>  </a:t>
            </a:r>
            <a:r>
              <a:rPr kumimoji="1" lang="en-US" altLang="ja-JP" b="1" dirty="0"/>
              <a:t> </a:t>
            </a:r>
            <a:r>
              <a:rPr kumimoji="1" lang="ja-JP" altLang="en-US" b="1" dirty="0"/>
              <a:t>｜</a:t>
            </a:r>
            <a:r>
              <a:rPr lang="en-US" altLang="ja-JP" sz="2000" b="1" dirty="0"/>
              <a:t>code </a:t>
            </a:r>
            <a:r>
              <a:rPr lang="ja-JP" altLang="en-US" sz="2000" dirty="0"/>
              <a:t>を受け取る </a:t>
            </a:r>
            <a:endParaRPr lang="en-US" altLang="ja-JP" sz="2000" dirty="0"/>
          </a:p>
          <a:p>
            <a:r>
              <a:rPr lang="en-US" altLang="ja-JP" dirty="0"/>
              <a:t>																    </a:t>
            </a:r>
            <a:r>
              <a:rPr lang="ja-JP" altLang="en-US" dirty="0"/>
              <a:t>  （内部問い合わせ）</a:t>
            </a:r>
            <a:endParaRPr kumimoji="1" lang="ja-JP" altLang="en-US" dirty="0"/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E520D396-6785-DC92-A33B-0C08D3CFB92F}"/>
              </a:ext>
            </a:extLst>
          </p:cNvPr>
          <p:cNvSpPr/>
          <p:nvPr/>
        </p:nvSpPr>
        <p:spPr>
          <a:xfrm>
            <a:off x="3090352" y="1568085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71222713-E443-031E-D505-479092E469F5}"/>
              </a:ext>
            </a:extLst>
          </p:cNvPr>
          <p:cNvSpPr/>
          <p:nvPr/>
        </p:nvSpPr>
        <p:spPr>
          <a:xfrm>
            <a:off x="6937938" y="1568085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E1138E5-0C78-89C5-35A1-13557ED8F24B}"/>
              </a:ext>
            </a:extLst>
          </p:cNvPr>
          <p:cNvSpPr txBox="1"/>
          <p:nvPr/>
        </p:nvSpPr>
        <p:spPr>
          <a:xfrm>
            <a:off x="914398" y="2427392"/>
            <a:ext cx="3686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④</a:t>
            </a:r>
            <a:r>
              <a:rPr lang="ja-JP" altLang="en-US" dirty="0"/>
              <a:t>🧠 </a:t>
            </a:r>
            <a:r>
              <a:rPr lang="en-US" altLang="ja-JP" b="1" dirty="0"/>
              <a:t>WordPress</a:t>
            </a:r>
            <a:r>
              <a:rPr lang="ja-JP" altLang="en-US" b="1" dirty="0"/>
              <a:t>（管理台帳）</a:t>
            </a:r>
            <a:r>
              <a:rPr kumimoji="1" lang="en-US" altLang="ja-JP" b="1" dirty="0"/>
              <a:t>  </a:t>
            </a:r>
            <a:r>
              <a:rPr lang="en-US" altLang="ja-JP" dirty="0"/>
              <a:t>status / </a:t>
            </a:r>
            <a:r>
              <a:rPr lang="en-US" altLang="ja-JP" dirty="0" err="1"/>
              <a:t>target_url</a:t>
            </a:r>
            <a:r>
              <a:rPr lang="en-US" altLang="ja-JP" dirty="0"/>
              <a:t> </a:t>
            </a:r>
            <a:r>
              <a:rPr lang="ja-JP" altLang="en-US" dirty="0"/>
              <a:t>を返す（</a:t>
            </a:r>
            <a:r>
              <a:rPr lang="en-US" altLang="ja-JP" dirty="0"/>
              <a:t>JSON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FBDF0762-FEF9-126F-BAB2-B0899FCF73EA}"/>
              </a:ext>
            </a:extLst>
          </p:cNvPr>
          <p:cNvSpPr/>
          <p:nvPr/>
        </p:nvSpPr>
        <p:spPr>
          <a:xfrm>
            <a:off x="11358708" y="1568085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F25A508-23E0-F2FA-97B3-68C9DF92F465}"/>
              </a:ext>
            </a:extLst>
          </p:cNvPr>
          <p:cNvSpPr txBox="1"/>
          <p:nvPr/>
        </p:nvSpPr>
        <p:spPr>
          <a:xfrm>
            <a:off x="11358708" y="1289025"/>
            <a:ext cx="695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④へ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0E3349A7-A917-50D8-00C4-BDB6CCBACEF3}"/>
              </a:ext>
            </a:extLst>
          </p:cNvPr>
          <p:cNvSpPr/>
          <p:nvPr/>
        </p:nvSpPr>
        <p:spPr>
          <a:xfrm>
            <a:off x="4566641" y="2755891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35318D4-1C52-0394-0820-50A808489AF1}"/>
              </a:ext>
            </a:extLst>
          </p:cNvPr>
          <p:cNvSpPr txBox="1"/>
          <p:nvPr/>
        </p:nvSpPr>
        <p:spPr>
          <a:xfrm>
            <a:off x="5306619" y="2281315"/>
            <a:ext cx="46934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⑤</a:t>
            </a:r>
            <a:r>
              <a:rPr lang="ja-JP" altLang="en-US" dirty="0"/>
              <a:t>🚪 </a:t>
            </a:r>
            <a:r>
              <a:rPr lang="en-US" altLang="ja-JP" b="1" dirty="0"/>
              <a:t>NFC</a:t>
            </a:r>
            <a:r>
              <a:rPr lang="ja-JP" altLang="en-US" b="1" dirty="0"/>
              <a:t>ゲートウェイ（別サーバー）</a:t>
            </a:r>
            <a:r>
              <a:rPr kumimoji="1" lang="en-US" altLang="ja-JP" dirty="0"/>
              <a:t> </a:t>
            </a:r>
            <a:r>
              <a:rPr lang="en-US" altLang="ja-JP" dirty="0"/>
              <a:t>  status </a:t>
            </a:r>
            <a:r>
              <a:rPr lang="ja-JP" altLang="en-US" dirty="0"/>
              <a:t>を確認</a:t>
            </a:r>
          </a:p>
          <a:p>
            <a:r>
              <a:rPr lang="en-US" altLang="ja-JP" dirty="0"/>
              <a:t>  status = active</a:t>
            </a:r>
          </a:p>
          <a:p>
            <a:r>
              <a:rPr lang="en-US" altLang="ja-JP" dirty="0"/>
              <a:t>   → 302 Redirect</a:t>
            </a:r>
          </a:p>
          <a:p>
            <a:r>
              <a:rPr lang="en-US" altLang="ja-JP" dirty="0"/>
              <a:t>   → </a:t>
            </a:r>
            <a:r>
              <a:rPr lang="ja-JP" altLang="en-US" dirty="0"/>
              <a:t>プロフィールページを表示</a:t>
            </a:r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F7EEED27-74C7-4185-9D7D-8DA22CA297F6}"/>
              </a:ext>
            </a:extLst>
          </p:cNvPr>
          <p:cNvSpPr/>
          <p:nvPr/>
        </p:nvSpPr>
        <p:spPr>
          <a:xfrm>
            <a:off x="9721453" y="2726822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E3741B8-3360-07E1-06EC-EB11208EE5DB}"/>
              </a:ext>
            </a:extLst>
          </p:cNvPr>
          <p:cNvSpPr txBox="1"/>
          <p:nvPr/>
        </p:nvSpPr>
        <p:spPr>
          <a:xfrm>
            <a:off x="914398" y="4332508"/>
            <a:ext cx="214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⑥🌐</a:t>
            </a:r>
            <a:r>
              <a:rPr kumimoji="1" lang="ja-JP" altLang="en-US" sz="2000" b="1" dirty="0"/>
              <a:t>ブラウザ</a:t>
            </a:r>
            <a:endParaRPr kumimoji="1" lang="en-US" altLang="ja-JP" sz="2000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66154F7-12B7-C320-B7FE-6CB6E423E9AB}"/>
              </a:ext>
            </a:extLst>
          </p:cNvPr>
          <p:cNvSpPr txBox="1"/>
          <p:nvPr/>
        </p:nvSpPr>
        <p:spPr>
          <a:xfrm>
            <a:off x="9652542" y="2357490"/>
            <a:ext cx="695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⑥へ</a:t>
            </a: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FFF1BB25-A4FA-0261-F8DF-C498C8555E6B}"/>
              </a:ext>
            </a:extLst>
          </p:cNvPr>
          <p:cNvSpPr/>
          <p:nvPr/>
        </p:nvSpPr>
        <p:spPr>
          <a:xfrm>
            <a:off x="3074381" y="4361113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A12982B-92F3-D9D6-A50B-8BA5168B00BB}"/>
              </a:ext>
            </a:extLst>
          </p:cNvPr>
          <p:cNvSpPr txBox="1"/>
          <p:nvPr/>
        </p:nvSpPr>
        <p:spPr>
          <a:xfrm>
            <a:off x="3947967" y="4234097"/>
            <a:ext cx="38149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⑦👤</a:t>
            </a:r>
            <a:r>
              <a:rPr kumimoji="1" lang="ja-JP" altLang="en-US" b="1" dirty="0"/>
              <a:t> </a:t>
            </a:r>
            <a:r>
              <a:rPr kumimoji="1" lang="ja-JP" altLang="en-US" sz="2000" b="1" dirty="0"/>
              <a:t>利用者</a:t>
            </a:r>
            <a:endParaRPr kumimoji="1" lang="en-US" altLang="ja-JP" sz="2000" b="1" dirty="0"/>
          </a:p>
          <a:p>
            <a:r>
              <a:rPr kumimoji="1" lang="en-US" altLang="ja-JP" sz="2000" b="1" dirty="0"/>
              <a:t>    </a:t>
            </a:r>
            <a:r>
              <a:rPr kumimoji="1" lang="ja-JP" altLang="en-US" sz="2000" b="1" dirty="0"/>
              <a:t>プロフィールページ（公開）</a:t>
            </a:r>
            <a:r>
              <a:rPr kumimoji="1" lang="ja-JP" altLang="en-US" b="1" dirty="0"/>
              <a:t>　　　　　　 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87890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05A19-F3C7-640D-CD6F-31BA675BF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FEA25CC-8233-5CA7-9DA6-BFB41CF856A7}"/>
              </a:ext>
            </a:extLst>
          </p:cNvPr>
          <p:cNvSpPr txBox="1"/>
          <p:nvPr/>
        </p:nvSpPr>
        <p:spPr>
          <a:xfrm>
            <a:off x="914398" y="283433"/>
            <a:ext cx="10553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④紛失に気づいた瞬間：裏方がやること（運用フロー）</a:t>
            </a:r>
            <a:endParaRPr kumimoji="1" lang="ja-JP" altLang="en-US" sz="2400" b="1" dirty="0"/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1E70687D-DC1C-87B0-8559-4D118EF7DCF4}"/>
              </a:ext>
            </a:extLst>
          </p:cNvPr>
          <p:cNvSpPr/>
          <p:nvPr/>
        </p:nvSpPr>
        <p:spPr>
          <a:xfrm>
            <a:off x="3972767" y="1449162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301C2C23-457B-F35D-08E7-C0AA1EDE7A82}"/>
              </a:ext>
            </a:extLst>
          </p:cNvPr>
          <p:cNvSpPr/>
          <p:nvPr/>
        </p:nvSpPr>
        <p:spPr>
          <a:xfrm>
            <a:off x="9176872" y="1484133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45526E1-CF91-11EE-7958-06183683552F}"/>
              </a:ext>
            </a:extLst>
          </p:cNvPr>
          <p:cNvSpPr txBox="1"/>
          <p:nvPr/>
        </p:nvSpPr>
        <p:spPr>
          <a:xfrm>
            <a:off x="4736533" y="1324800"/>
            <a:ext cx="4233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②</a:t>
            </a:r>
            <a:r>
              <a:rPr lang="ja-JP" altLang="en-US" dirty="0"/>
              <a:t>🧠 </a:t>
            </a:r>
            <a:r>
              <a:rPr lang="en-US" altLang="ja-JP" b="1" dirty="0"/>
              <a:t>WordPress</a:t>
            </a:r>
            <a:r>
              <a:rPr lang="ja-JP" altLang="en-US" b="1" dirty="0"/>
              <a:t>（管理画面）</a:t>
            </a:r>
            <a:r>
              <a:rPr kumimoji="1" lang="en-US" altLang="ja-JP" b="1" dirty="0"/>
              <a:t>  </a:t>
            </a:r>
          </a:p>
          <a:p>
            <a:r>
              <a:rPr lang="en-US" altLang="ja-JP" dirty="0"/>
              <a:t> NFC Redirect </a:t>
            </a:r>
            <a:r>
              <a:rPr lang="ja-JP" altLang="en-US" dirty="0"/>
              <a:t>一覧で該当 </a:t>
            </a:r>
            <a:r>
              <a:rPr lang="en-US" altLang="ja-JP" dirty="0"/>
              <a:t>code </a:t>
            </a:r>
            <a:r>
              <a:rPr lang="ja-JP" altLang="en-US" dirty="0"/>
              <a:t>を検索）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D27026E-CFB2-E6C2-663A-71E910876478}"/>
              </a:ext>
            </a:extLst>
          </p:cNvPr>
          <p:cNvSpPr txBox="1"/>
          <p:nvPr/>
        </p:nvSpPr>
        <p:spPr>
          <a:xfrm>
            <a:off x="9176872" y="1136485"/>
            <a:ext cx="695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③へ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CFBC51BE-3E57-42D0-917A-4B0E33D46C5B}"/>
              </a:ext>
            </a:extLst>
          </p:cNvPr>
          <p:cNvSpPr/>
          <p:nvPr/>
        </p:nvSpPr>
        <p:spPr>
          <a:xfrm>
            <a:off x="5106647" y="2981665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1D0D8CE-F169-44CA-FDCA-E60CB59C3A75}"/>
              </a:ext>
            </a:extLst>
          </p:cNvPr>
          <p:cNvSpPr txBox="1"/>
          <p:nvPr/>
        </p:nvSpPr>
        <p:spPr>
          <a:xfrm>
            <a:off x="5768264" y="2755278"/>
            <a:ext cx="337898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④🧠 </a:t>
            </a:r>
            <a:r>
              <a:rPr kumimoji="1" lang="ja-JP" altLang="en-US" b="1" dirty="0"/>
              <a:t>保存（</a:t>
            </a:r>
            <a:r>
              <a:rPr kumimoji="1" lang="en-US" altLang="ja-JP" b="1" dirty="0"/>
              <a:t>DB</a:t>
            </a:r>
            <a:r>
              <a:rPr kumimoji="1" lang="ja-JP" altLang="en-US" b="1" dirty="0"/>
              <a:t>更新）</a:t>
            </a:r>
          </a:p>
          <a:p>
            <a:r>
              <a:rPr kumimoji="1" lang="ja-JP" altLang="en-US" sz="2000" dirty="0"/>
              <a:t>    </a:t>
            </a:r>
            <a:r>
              <a:rPr kumimoji="1" lang="en-US" altLang="ja-JP" sz="2000" dirty="0"/>
              <a:t>_</a:t>
            </a:r>
            <a:r>
              <a:rPr kumimoji="1" lang="en-US" altLang="ja-JP" sz="2000" dirty="0" err="1"/>
              <a:t>nfc_status</a:t>
            </a:r>
            <a:r>
              <a:rPr kumimoji="1" lang="en-US" altLang="ja-JP" sz="2000" dirty="0"/>
              <a:t> = "disabled"</a:t>
            </a:r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DAC36A98-FC3B-EB4D-CDAD-C6B6D50D8C42}"/>
              </a:ext>
            </a:extLst>
          </p:cNvPr>
          <p:cNvSpPr/>
          <p:nvPr/>
        </p:nvSpPr>
        <p:spPr>
          <a:xfrm>
            <a:off x="9147249" y="2981665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C2E4F90-C484-D76F-2DAA-1251CC407889}"/>
              </a:ext>
            </a:extLst>
          </p:cNvPr>
          <p:cNvSpPr txBox="1"/>
          <p:nvPr/>
        </p:nvSpPr>
        <p:spPr>
          <a:xfrm>
            <a:off x="9785054" y="2755278"/>
            <a:ext cx="198700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⑥</a:t>
            </a:r>
            <a:r>
              <a:rPr kumimoji="1" lang="zh-TW" altLang="en-US" dirty="0"/>
              <a:t>✅ </a:t>
            </a:r>
            <a:r>
              <a:rPr kumimoji="1" lang="zh-TW" altLang="en-US" sz="2000" b="1" dirty="0"/>
              <a:t>停止完了    </a:t>
            </a:r>
            <a:r>
              <a:rPr kumimoji="1" lang="zh-TW" altLang="en-US" dirty="0"/>
              <a:t>（即時反映）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032612F-974A-CFDC-9400-1442EF14CF24}"/>
              </a:ext>
            </a:extLst>
          </p:cNvPr>
          <p:cNvSpPr txBox="1"/>
          <p:nvPr/>
        </p:nvSpPr>
        <p:spPr>
          <a:xfrm>
            <a:off x="1288311" y="1345456"/>
            <a:ext cx="247790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①🧑‍💻</a:t>
            </a:r>
            <a:r>
              <a:rPr kumimoji="1" lang="ja-JP" altLang="en-US" b="1" dirty="0"/>
              <a:t> 裏方</a:t>
            </a:r>
            <a:endParaRPr kumimoji="1" lang="en-US" altLang="ja-JP" b="1" dirty="0"/>
          </a:p>
          <a:p>
            <a:r>
              <a:rPr kumimoji="1" lang="ja-JP" altLang="en-US" dirty="0"/>
              <a:t>   </a:t>
            </a:r>
            <a:r>
              <a:rPr kumimoji="1" lang="ja-JP" altLang="en-US" sz="2000" dirty="0"/>
              <a:t>連絡を受ける </a:t>
            </a:r>
            <a:endParaRPr kumimoji="1" lang="en-US" altLang="ja-JP" sz="2000" dirty="0"/>
          </a:p>
          <a:p>
            <a:r>
              <a:rPr kumimoji="1" lang="ja-JP" altLang="en-US" sz="2000" dirty="0"/>
              <a:t>（紛失・停止依頼）</a:t>
            </a:r>
            <a:endParaRPr kumimoji="1" lang="en-US" altLang="ja-JP" sz="2000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99858BD-CCF9-577D-C306-9EE7CB152D6D}"/>
              </a:ext>
            </a:extLst>
          </p:cNvPr>
          <p:cNvSpPr txBox="1"/>
          <p:nvPr/>
        </p:nvSpPr>
        <p:spPr>
          <a:xfrm>
            <a:off x="1017878" y="2833380"/>
            <a:ext cx="423378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③</a:t>
            </a:r>
            <a:r>
              <a:rPr lang="ja-JP" altLang="en-US" dirty="0"/>
              <a:t>🧠 </a:t>
            </a:r>
            <a:r>
              <a:rPr lang="en-US" altLang="ja-JP" b="1" dirty="0"/>
              <a:t>WordPress</a:t>
            </a:r>
            <a:r>
              <a:rPr lang="ja-JP" altLang="en-US" b="1" dirty="0"/>
              <a:t>（編集画面）</a:t>
            </a:r>
            <a:endParaRPr lang="en-US" altLang="ja-JP" b="1" dirty="0"/>
          </a:p>
          <a:p>
            <a:r>
              <a:rPr kumimoji="1" lang="en-US" altLang="ja-JP" b="1" dirty="0"/>
              <a:t>  </a:t>
            </a:r>
            <a:r>
              <a:rPr lang="en-US" altLang="ja-JP" dirty="0"/>
              <a:t> </a:t>
            </a:r>
            <a:r>
              <a:rPr lang="en-US" altLang="ja-JP" sz="2000" dirty="0"/>
              <a:t>status</a:t>
            </a:r>
            <a:r>
              <a:rPr lang="ja-JP" altLang="en-US" sz="2000" dirty="0"/>
              <a:t>を</a:t>
            </a:r>
            <a:r>
              <a:rPr lang="en-US" altLang="ja-JP" sz="2000" dirty="0"/>
              <a:t>active →</a:t>
            </a:r>
            <a:r>
              <a:rPr lang="ja-JP" altLang="en-US" sz="2000" dirty="0"/>
              <a:t> </a:t>
            </a:r>
            <a:r>
              <a:rPr lang="en-US" altLang="ja-JP" sz="2000" dirty="0"/>
              <a:t>disabled</a:t>
            </a:r>
            <a:r>
              <a:rPr lang="ja-JP" altLang="en-US" sz="2000" dirty="0"/>
              <a:t> に変更</a:t>
            </a:r>
            <a:endParaRPr kumimoji="1" lang="ja-JP" altLang="en-US" sz="20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8BEEE85-F84D-8B06-88CD-244DB974723C}"/>
              </a:ext>
            </a:extLst>
          </p:cNvPr>
          <p:cNvSpPr txBox="1"/>
          <p:nvPr/>
        </p:nvSpPr>
        <p:spPr>
          <a:xfrm>
            <a:off x="1303384" y="4013527"/>
            <a:ext cx="5895975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/>
              <a:t>ポイント：</a:t>
            </a:r>
          </a:p>
          <a:p>
            <a:r>
              <a:rPr lang="en-US" altLang="ja-JP" sz="3200" dirty="0"/>
              <a:t>NFC</a:t>
            </a:r>
            <a:r>
              <a:rPr lang="ja-JP" altLang="en-US" sz="3200" dirty="0"/>
              <a:t>カードを書き換えない</a:t>
            </a:r>
          </a:p>
          <a:p>
            <a:r>
              <a:rPr lang="en-US" altLang="ja-JP" sz="3200" dirty="0"/>
              <a:t>URL</a:t>
            </a:r>
            <a:r>
              <a:rPr lang="ja-JP" altLang="en-US" sz="3200" dirty="0"/>
              <a:t>も変えない</a:t>
            </a:r>
          </a:p>
          <a:p>
            <a:r>
              <a:rPr lang="en-US" altLang="ja-JP" sz="3200" b="1" dirty="0">
                <a:solidFill>
                  <a:srgbClr val="C00000"/>
                </a:solidFill>
              </a:rPr>
              <a:t>DB</a:t>
            </a:r>
            <a:r>
              <a:rPr lang="ja-JP" altLang="en-US" sz="2400" b="1" dirty="0">
                <a:solidFill>
                  <a:srgbClr val="C00000"/>
                </a:solidFill>
              </a:rPr>
              <a:t>の</a:t>
            </a:r>
            <a:r>
              <a:rPr lang="en-US" altLang="ja-JP" sz="3200" b="1" dirty="0">
                <a:solidFill>
                  <a:srgbClr val="C00000"/>
                </a:solidFill>
              </a:rPr>
              <a:t>status</a:t>
            </a:r>
            <a:r>
              <a:rPr lang="ja-JP" altLang="en-US" sz="2800" b="1" dirty="0">
                <a:solidFill>
                  <a:srgbClr val="C00000"/>
                </a:solidFill>
              </a:rPr>
              <a:t>だけで</a:t>
            </a:r>
            <a:r>
              <a:rPr lang="ja-JP" altLang="en-US" sz="3200" b="1" dirty="0">
                <a:solidFill>
                  <a:srgbClr val="C00000"/>
                </a:solidFill>
              </a:rPr>
              <a:t>即停止</a:t>
            </a:r>
            <a:endParaRPr lang="ja-JP" altLang="en-US" sz="3200" dirty="0">
              <a:solidFill>
                <a:srgbClr val="C00000"/>
              </a:solidFill>
            </a:endParaRP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60124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E27F5-E850-DD12-4661-E62077456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CCC8AC3-3F9C-8505-DED4-354365F17F85}"/>
              </a:ext>
            </a:extLst>
          </p:cNvPr>
          <p:cNvSpPr txBox="1"/>
          <p:nvPr/>
        </p:nvSpPr>
        <p:spPr>
          <a:xfrm>
            <a:off x="914398" y="283433"/>
            <a:ext cx="10553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⑤停止後にアクセスが来たとき：通信フロー（今：</a:t>
            </a:r>
            <a:r>
              <a:rPr lang="en-US" altLang="ja-JP" sz="2400" b="1" dirty="0"/>
              <a:t>WP</a:t>
            </a:r>
            <a:r>
              <a:rPr lang="ja-JP" altLang="en-US" sz="2400" b="1" dirty="0"/>
              <a:t>完結）</a:t>
            </a: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1C0C5D8F-535D-FFA5-8729-FCFFA502D54D}"/>
              </a:ext>
            </a:extLst>
          </p:cNvPr>
          <p:cNvSpPr/>
          <p:nvPr/>
        </p:nvSpPr>
        <p:spPr>
          <a:xfrm>
            <a:off x="4125154" y="1323087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D8FAA833-6621-5CB7-1F82-72F4870DD0A9}"/>
              </a:ext>
            </a:extLst>
          </p:cNvPr>
          <p:cNvSpPr/>
          <p:nvPr/>
        </p:nvSpPr>
        <p:spPr>
          <a:xfrm>
            <a:off x="7515566" y="1282247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1D5E15C-6061-19E9-85D8-6EF098410EE8}"/>
              </a:ext>
            </a:extLst>
          </p:cNvPr>
          <p:cNvSpPr txBox="1"/>
          <p:nvPr/>
        </p:nvSpPr>
        <p:spPr>
          <a:xfrm>
            <a:off x="4978602" y="2562781"/>
            <a:ext cx="64894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⑤🧠 </a:t>
            </a:r>
            <a:r>
              <a:rPr kumimoji="1" lang="en-US" altLang="ja-JP" dirty="0"/>
              <a:t>WordPress</a:t>
            </a:r>
            <a:r>
              <a:rPr kumimoji="1" lang="ja-JP" altLang="en-US" dirty="0"/>
              <a:t>（</a:t>
            </a:r>
            <a:r>
              <a:rPr kumimoji="1" lang="en-US" altLang="ja-JP" dirty="0"/>
              <a:t>handler</a:t>
            </a:r>
            <a:r>
              <a:rPr kumimoji="1" lang="ja-JP" altLang="en-US" dirty="0"/>
              <a:t>）</a:t>
            </a:r>
          </a:p>
          <a:p>
            <a:r>
              <a:rPr kumimoji="1" lang="ja-JP" altLang="en-US" dirty="0"/>
              <a:t>   │ </a:t>
            </a:r>
            <a:r>
              <a:rPr kumimoji="1" lang="en-US" altLang="ja-JP" dirty="0"/>
              <a:t>410 Gone</a:t>
            </a:r>
            <a:r>
              <a:rPr kumimoji="1" lang="ja-JP" altLang="en-US" dirty="0"/>
              <a:t>（推奨）</a:t>
            </a:r>
          </a:p>
          <a:p>
            <a:r>
              <a:rPr kumimoji="1" lang="ja-JP" altLang="en-US" dirty="0"/>
              <a:t>   │ 停止ページを表示</a:t>
            </a:r>
          </a:p>
          <a:p>
            <a:r>
              <a:rPr kumimoji="1" lang="ja-JP" altLang="en-US" dirty="0"/>
              <a:t>   └─（子テーマに </a:t>
            </a:r>
            <a:r>
              <a:rPr kumimoji="1" lang="en-US" altLang="ja-JP" dirty="0" err="1"/>
              <a:t>nfc-disabled.php</a:t>
            </a:r>
            <a:r>
              <a:rPr kumimoji="1" lang="en-US" altLang="ja-JP" dirty="0"/>
              <a:t> </a:t>
            </a:r>
            <a:r>
              <a:rPr kumimoji="1" lang="ja-JP" altLang="en-US" dirty="0"/>
              <a:t>があればそれを採用）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E8C1D0CD-A6A9-2FEF-64F4-A56EF67D3288}"/>
              </a:ext>
            </a:extLst>
          </p:cNvPr>
          <p:cNvSpPr/>
          <p:nvPr/>
        </p:nvSpPr>
        <p:spPr>
          <a:xfrm>
            <a:off x="11565877" y="1419534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78BE1F3-06AA-69A5-C767-2D4804D3DD70}"/>
              </a:ext>
            </a:extLst>
          </p:cNvPr>
          <p:cNvSpPr txBox="1"/>
          <p:nvPr/>
        </p:nvSpPr>
        <p:spPr>
          <a:xfrm>
            <a:off x="11496966" y="1062788"/>
            <a:ext cx="695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④へ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206132C6-0885-5908-2D01-FD0B8D36B353}"/>
              </a:ext>
            </a:extLst>
          </p:cNvPr>
          <p:cNvSpPr/>
          <p:nvPr/>
        </p:nvSpPr>
        <p:spPr>
          <a:xfrm>
            <a:off x="4190699" y="2809916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356B134B-7628-102B-E7D8-E1164C6298C4}"/>
              </a:ext>
            </a:extLst>
          </p:cNvPr>
          <p:cNvSpPr/>
          <p:nvPr/>
        </p:nvSpPr>
        <p:spPr>
          <a:xfrm>
            <a:off x="11189494" y="2809916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74F37E3-C066-5A4A-3866-BAD4190AA8CA}"/>
              </a:ext>
            </a:extLst>
          </p:cNvPr>
          <p:cNvSpPr txBox="1"/>
          <p:nvPr/>
        </p:nvSpPr>
        <p:spPr>
          <a:xfrm>
            <a:off x="996480" y="4406228"/>
            <a:ext cx="214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⑥🌐</a:t>
            </a:r>
            <a:r>
              <a:rPr kumimoji="1" lang="ja-JP" altLang="en-US" sz="2000" b="1" dirty="0"/>
              <a:t>ブラウザ</a:t>
            </a:r>
            <a:endParaRPr kumimoji="1" lang="en-US" altLang="ja-JP" sz="2000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0EE5FC8-9E12-9E6A-8BD4-E76173926DCD}"/>
              </a:ext>
            </a:extLst>
          </p:cNvPr>
          <p:cNvSpPr txBox="1"/>
          <p:nvPr/>
        </p:nvSpPr>
        <p:spPr>
          <a:xfrm>
            <a:off x="11092007" y="2440584"/>
            <a:ext cx="695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⑥へ</a:t>
            </a: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37E01010-1833-79B8-4341-BE4A2BDE507B}"/>
              </a:ext>
            </a:extLst>
          </p:cNvPr>
          <p:cNvSpPr/>
          <p:nvPr/>
        </p:nvSpPr>
        <p:spPr>
          <a:xfrm>
            <a:off x="3226593" y="4406228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1B3BDED-172C-7E04-3585-C20A1A0FF1CC}"/>
              </a:ext>
            </a:extLst>
          </p:cNvPr>
          <p:cNvSpPr txBox="1"/>
          <p:nvPr/>
        </p:nvSpPr>
        <p:spPr>
          <a:xfrm>
            <a:off x="3947967" y="4408371"/>
            <a:ext cx="5081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⑦🛑 </a:t>
            </a:r>
            <a:r>
              <a:rPr kumimoji="1" lang="ja-JP" altLang="en-US" sz="2000" b="1" dirty="0"/>
              <a:t>「このカードは停止中です」ページ</a:t>
            </a:r>
            <a:endParaRPr kumimoji="1" lang="en-US" altLang="ja-JP" sz="2000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AAE5D5D-CF66-6499-16FB-460D19F40AE8}"/>
              </a:ext>
            </a:extLst>
          </p:cNvPr>
          <p:cNvSpPr txBox="1"/>
          <p:nvPr/>
        </p:nvSpPr>
        <p:spPr>
          <a:xfrm>
            <a:off x="925493" y="2724471"/>
            <a:ext cx="3257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④🗄 </a:t>
            </a:r>
            <a:r>
              <a:rPr kumimoji="1" lang="en-US" altLang="ja-JP" sz="2000" b="1" dirty="0"/>
              <a:t>DB</a:t>
            </a:r>
            <a:r>
              <a:rPr kumimoji="1" lang="ja-JP" altLang="en-US" sz="2000" b="1" dirty="0"/>
              <a:t>（</a:t>
            </a:r>
            <a:r>
              <a:rPr kumimoji="1" lang="en-US" altLang="ja-JP" sz="2000" b="1" dirty="0"/>
              <a:t>CPT </a:t>
            </a:r>
            <a:r>
              <a:rPr kumimoji="1" lang="en-US" altLang="ja-JP" sz="2000" b="1" dirty="0" err="1"/>
              <a:t>nfc_redirect</a:t>
            </a:r>
            <a:r>
              <a:rPr kumimoji="1" lang="ja-JP" altLang="en-US" sz="2000" b="1" dirty="0"/>
              <a:t>）</a:t>
            </a:r>
            <a:endParaRPr kumimoji="1" lang="en-US" altLang="ja-JP" sz="2000" b="1" dirty="0"/>
          </a:p>
          <a:p>
            <a:r>
              <a:rPr kumimoji="1" lang="en-US" altLang="ja-JP" sz="2000" dirty="0"/>
              <a:t>status = disabled </a:t>
            </a:r>
            <a:r>
              <a:rPr kumimoji="1" lang="ja-JP" altLang="en-US" sz="2000" dirty="0"/>
              <a:t>を取得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FB97F20-ACB5-07C6-60AA-31C046FF5F98}"/>
              </a:ext>
            </a:extLst>
          </p:cNvPr>
          <p:cNvSpPr txBox="1"/>
          <p:nvPr/>
        </p:nvSpPr>
        <p:spPr>
          <a:xfrm>
            <a:off x="670967" y="1246989"/>
            <a:ext cx="3686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①👤</a:t>
            </a:r>
            <a:r>
              <a:rPr kumimoji="1" lang="ja-JP" altLang="en-US" b="1" dirty="0"/>
              <a:t> </a:t>
            </a:r>
            <a:r>
              <a:rPr kumimoji="1" lang="ja-JP" altLang="en-US" sz="2000" b="1" dirty="0"/>
              <a:t>利用者（拾った人など）</a:t>
            </a:r>
            <a:endParaRPr kumimoji="1" lang="en-US" altLang="ja-JP" sz="2000" b="1" dirty="0"/>
          </a:p>
          <a:p>
            <a:r>
              <a:rPr kumimoji="1" lang="en-US" altLang="ja-JP" sz="2000" b="1" dirty="0"/>
              <a:t>    </a:t>
            </a:r>
            <a:r>
              <a:rPr kumimoji="1" lang="en-US" altLang="ja-JP" sz="2000" dirty="0"/>
              <a:t>NFC</a:t>
            </a:r>
            <a:r>
              <a:rPr kumimoji="1" lang="ja-JP" altLang="en-US" sz="2000" dirty="0"/>
              <a:t>タッチ</a:t>
            </a:r>
            <a:endParaRPr kumimoji="1"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D085E2C-97E1-F282-F2F2-4F24961F4809}"/>
              </a:ext>
            </a:extLst>
          </p:cNvPr>
          <p:cNvSpPr txBox="1"/>
          <p:nvPr/>
        </p:nvSpPr>
        <p:spPr>
          <a:xfrm>
            <a:off x="4676435" y="1134671"/>
            <a:ext cx="2966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②🌐</a:t>
            </a:r>
            <a:r>
              <a:rPr kumimoji="1" lang="ja-JP" altLang="en-US" sz="2000" b="1" dirty="0"/>
              <a:t>ブラウザ</a:t>
            </a:r>
            <a:endParaRPr kumimoji="1" lang="en-US" altLang="ja-JP" sz="2000" b="1" dirty="0"/>
          </a:p>
          <a:p>
            <a:r>
              <a:rPr kumimoji="1" lang="en-US" altLang="ja-JP" sz="2000" dirty="0"/>
              <a:t>GET /pastel-link/n/{code}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E7F5B16-263A-590E-3431-51DCEB517F56}"/>
              </a:ext>
            </a:extLst>
          </p:cNvPr>
          <p:cNvSpPr txBox="1"/>
          <p:nvPr/>
        </p:nvSpPr>
        <p:spPr>
          <a:xfrm>
            <a:off x="8218205" y="1134671"/>
            <a:ext cx="33953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③</a:t>
            </a:r>
            <a:r>
              <a:rPr lang="ja-JP" altLang="en-US" dirty="0"/>
              <a:t>🧠 </a:t>
            </a:r>
            <a:r>
              <a:rPr lang="en-US" altLang="ja-JP" b="1" dirty="0"/>
              <a:t>WordPress</a:t>
            </a:r>
            <a:r>
              <a:rPr lang="ja-JP" altLang="en-US" b="1" dirty="0"/>
              <a:t>（</a:t>
            </a:r>
            <a:r>
              <a:rPr lang="en-US" altLang="ja-JP" b="1" dirty="0" err="1"/>
              <a:t>nfc</a:t>
            </a:r>
            <a:r>
              <a:rPr lang="en-US" altLang="ja-JP" b="1" dirty="0"/>
              <a:t>-redirect</a:t>
            </a:r>
            <a:r>
              <a:rPr lang="ja-JP" altLang="en-US" b="1" dirty="0"/>
              <a:t>）</a:t>
            </a:r>
            <a:r>
              <a:rPr kumimoji="1" lang="en-US" altLang="ja-JP" b="1" dirty="0"/>
              <a:t>  </a:t>
            </a:r>
          </a:p>
          <a:p>
            <a:r>
              <a:rPr kumimoji="1" lang="en-US" altLang="ja-JP" dirty="0"/>
              <a:t>rewrite: </a:t>
            </a:r>
            <a:r>
              <a:rPr kumimoji="1" lang="en-US" altLang="ja-JP" dirty="0" err="1"/>
              <a:t>nfc_code</a:t>
            </a:r>
            <a:r>
              <a:rPr kumimoji="1" lang="en-US" altLang="ja-JP" dirty="0"/>
              <a:t>={code}</a:t>
            </a:r>
          </a:p>
          <a:p>
            <a:r>
              <a:rPr kumimoji="1" lang="en-US" altLang="ja-JP" dirty="0"/>
              <a:t>handler: DB</a:t>
            </a:r>
            <a:r>
              <a:rPr kumimoji="1" lang="ja-JP" altLang="en-US" dirty="0"/>
              <a:t>検索</a:t>
            </a:r>
          </a:p>
        </p:txBody>
      </p:sp>
    </p:spTree>
    <p:extLst>
      <p:ext uri="{BB962C8B-B14F-4D97-AF65-F5344CB8AC3E}">
        <p14:creationId xmlns:p14="http://schemas.microsoft.com/office/powerpoint/2010/main" val="1472687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2FB6CFA-84BE-EE1C-A8ED-5BAD8FDFF07E}"/>
              </a:ext>
            </a:extLst>
          </p:cNvPr>
          <p:cNvSpPr txBox="1"/>
          <p:nvPr/>
        </p:nvSpPr>
        <p:spPr>
          <a:xfrm>
            <a:off x="1162050" y="447675"/>
            <a:ext cx="5057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/>
              <a:t>⑤停止後にアクセスが来たとき　補足情報</a:t>
            </a:r>
            <a:endParaRPr kumimoji="1" lang="ja-JP" altLang="en-US" sz="20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5B27905-4061-AE1D-4210-62AB4BE91859}"/>
              </a:ext>
            </a:extLst>
          </p:cNvPr>
          <p:cNvSpPr txBox="1"/>
          <p:nvPr/>
        </p:nvSpPr>
        <p:spPr>
          <a:xfrm>
            <a:off x="1247775" y="1005959"/>
            <a:ext cx="72961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 dirty="0"/>
              <a:t>補足情報① （技術的な意味） </a:t>
            </a:r>
            <a:endParaRPr lang="en-US" altLang="ja-JP" sz="2400" b="1" dirty="0"/>
          </a:p>
          <a:p>
            <a:r>
              <a:rPr lang="en-US" altLang="ja-JP" sz="2400" b="1" dirty="0"/>
              <a:t>410</a:t>
            </a:r>
            <a:r>
              <a:rPr lang="ja-JP" altLang="en-US" sz="2400" b="1" dirty="0"/>
              <a:t>（</a:t>
            </a:r>
            <a:r>
              <a:rPr lang="en-US" altLang="ja-JP" sz="2400" b="1" dirty="0"/>
              <a:t>Gone</a:t>
            </a:r>
            <a:r>
              <a:rPr lang="ja-JP" altLang="en-US" sz="2400" b="1" dirty="0"/>
              <a:t>）を返すことで</a:t>
            </a:r>
            <a:br>
              <a:rPr lang="ja-JP" altLang="en-US" sz="2400" b="1" dirty="0"/>
            </a:br>
            <a:r>
              <a:rPr lang="ja-JP" altLang="en-US" sz="2400" b="1" dirty="0"/>
              <a:t>「このカードは意図的に停止されています」</a:t>
            </a:r>
            <a:br>
              <a:rPr lang="ja-JP" altLang="en-US" sz="2400" b="1" dirty="0"/>
            </a:br>
            <a:r>
              <a:rPr lang="ja-JP" altLang="en-US" sz="2400" b="1" dirty="0"/>
              <a:t>という状態を明確に示す</a:t>
            </a:r>
            <a:endParaRPr lang="ja-JP" altLang="en-US" sz="2400" dirty="0"/>
          </a:p>
          <a:p>
            <a:r>
              <a:rPr lang="ja-JP" altLang="en-US" sz="2400" dirty="0"/>
              <a:t>👉 </a:t>
            </a:r>
            <a:r>
              <a:rPr lang="en-US" altLang="ja-JP" sz="2400" dirty="0"/>
              <a:t>404</a:t>
            </a:r>
            <a:r>
              <a:rPr lang="ja-JP" altLang="en-US" sz="2400" dirty="0"/>
              <a:t>（存在しない）との違いを説明できる</a:t>
            </a:r>
            <a:br>
              <a:rPr lang="ja-JP" altLang="en-US" sz="2400" dirty="0"/>
            </a:br>
            <a:r>
              <a:rPr lang="ja-JP" altLang="en-US" sz="2400" dirty="0"/>
              <a:t>👉 技術的に正しい判断をしている印象が出る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04B207E-20CA-1C0E-0EDC-4BB664AA9922}"/>
              </a:ext>
            </a:extLst>
          </p:cNvPr>
          <p:cNvSpPr txBox="1"/>
          <p:nvPr/>
        </p:nvSpPr>
        <p:spPr>
          <a:xfrm>
            <a:off x="1247775" y="354371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 dirty="0"/>
              <a:t>補足情報② （運用上の価値） </a:t>
            </a:r>
            <a:endParaRPr lang="en-US" altLang="ja-JP" sz="2400" b="1" dirty="0"/>
          </a:p>
          <a:p>
            <a:r>
              <a:rPr lang="en-US" altLang="ja-JP" sz="2400" b="1" dirty="0"/>
              <a:t>NFC</a:t>
            </a:r>
            <a:r>
              <a:rPr lang="ja-JP" altLang="en-US" sz="2400" b="1" dirty="0"/>
              <a:t>タグはそのまま。</a:t>
            </a:r>
            <a:br>
              <a:rPr lang="ja-JP" altLang="en-US" sz="2400" b="1" dirty="0"/>
            </a:br>
            <a:r>
              <a:rPr lang="ja-JP" altLang="en-US" sz="2400" b="1" dirty="0"/>
              <a:t>管理画面で </a:t>
            </a:r>
            <a:r>
              <a:rPr lang="en-US" altLang="ja-JP" sz="2400" b="1" dirty="0"/>
              <a:t>status </a:t>
            </a:r>
            <a:r>
              <a:rPr lang="ja-JP" altLang="en-US" sz="2400" b="1" dirty="0"/>
              <a:t>を切り替えるだけで即時停止可能</a:t>
            </a:r>
            <a:endParaRPr lang="ja-JP" altLang="en-US" sz="2400" dirty="0"/>
          </a:p>
          <a:p>
            <a:r>
              <a:rPr lang="ja-JP" altLang="en-US" sz="2400" dirty="0"/>
              <a:t>👉 現場・運用側に刺さる</a:t>
            </a:r>
            <a:br>
              <a:rPr lang="ja-JP" altLang="en-US" sz="2400" dirty="0"/>
            </a:br>
            <a:r>
              <a:rPr lang="ja-JP" altLang="en-US" sz="2400" dirty="0"/>
              <a:t>👉 「書き換え不要」という価値が明確</a:t>
            </a:r>
          </a:p>
        </p:txBody>
      </p:sp>
    </p:spTree>
    <p:extLst>
      <p:ext uri="{BB962C8B-B14F-4D97-AF65-F5344CB8AC3E}">
        <p14:creationId xmlns:p14="http://schemas.microsoft.com/office/powerpoint/2010/main" val="3145297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6D066-02D1-2691-8524-FDF885ED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39B69FB-6E2C-5AE9-41EC-D775A3CF46D4}"/>
              </a:ext>
            </a:extLst>
          </p:cNvPr>
          <p:cNvSpPr txBox="1"/>
          <p:nvPr/>
        </p:nvSpPr>
        <p:spPr>
          <a:xfrm>
            <a:off x="1143000" y="137517"/>
            <a:ext cx="6917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/>
              <a:t>⑥ なぜ将来は「別サーバー」に分けるのか（理由まとめ）</a:t>
            </a:r>
            <a:endParaRPr kumimoji="1" lang="ja-JP" altLang="en-US" sz="20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401B835-E25E-9EEE-7B6B-B77F8326F0A6}"/>
              </a:ext>
            </a:extLst>
          </p:cNvPr>
          <p:cNvSpPr txBox="1"/>
          <p:nvPr/>
        </p:nvSpPr>
        <p:spPr>
          <a:xfrm>
            <a:off x="1143000" y="537627"/>
            <a:ext cx="9248775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 dirty="0"/>
              <a:t>結論</a:t>
            </a:r>
            <a:endParaRPr lang="en-US" altLang="ja-JP" sz="2800" b="1" dirty="0"/>
          </a:p>
          <a:p>
            <a:r>
              <a:rPr lang="ja-JP" altLang="en-US" sz="2400" b="1" dirty="0"/>
              <a:t>管理は </a:t>
            </a:r>
            <a:r>
              <a:rPr lang="en-US" altLang="ja-JP" sz="2400" b="1" dirty="0"/>
              <a:t>WordPress</a:t>
            </a:r>
            <a:r>
              <a:rPr lang="ja-JP" altLang="en-US" sz="2400" b="1" dirty="0"/>
              <a:t>、</a:t>
            </a:r>
            <a:r>
              <a:rPr lang="ja-JP" altLang="en-US" sz="2400" b="1" dirty="0">
                <a:solidFill>
                  <a:srgbClr val="C00000"/>
                </a:solidFill>
              </a:rPr>
              <a:t>公開は軽量な別サーバー</a:t>
            </a:r>
            <a:br>
              <a:rPr lang="ja-JP" altLang="en-US" sz="2400" dirty="0"/>
            </a:br>
            <a:r>
              <a:rPr lang="ja-JP" altLang="en-US" sz="2400" dirty="0"/>
              <a:t>この分離によって「安全性・安定性・運用性」が一気に上がる。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E820E3E-522F-82A3-8143-88E4ECDA6AE4}"/>
              </a:ext>
            </a:extLst>
          </p:cNvPr>
          <p:cNvSpPr txBox="1"/>
          <p:nvPr/>
        </p:nvSpPr>
        <p:spPr>
          <a:xfrm>
            <a:off x="1247774" y="1799511"/>
            <a:ext cx="86010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 dirty="0"/>
              <a:t>理由①：</a:t>
            </a:r>
            <a:r>
              <a:rPr lang="en-US" altLang="ja-JP" sz="2000" b="1" dirty="0"/>
              <a:t>WordPress</a:t>
            </a:r>
            <a:r>
              <a:rPr lang="ja-JP" altLang="en-US" sz="2000" b="1" dirty="0"/>
              <a:t>は「公開サーバー」として脆い</a:t>
            </a:r>
          </a:p>
          <a:p>
            <a:r>
              <a:rPr lang="ja-JP" altLang="en-US" sz="2000" dirty="0"/>
              <a:t>プラグイン </a:t>
            </a:r>
            <a:r>
              <a:rPr lang="en-US" altLang="ja-JP" sz="2000" dirty="0"/>
              <a:t>/ </a:t>
            </a:r>
            <a:r>
              <a:rPr lang="ja-JP" altLang="en-US" sz="2000" dirty="0"/>
              <a:t>テーマ </a:t>
            </a:r>
            <a:r>
              <a:rPr lang="en-US" altLang="ja-JP" sz="2000" dirty="0"/>
              <a:t>/ </a:t>
            </a:r>
            <a:r>
              <a:rPr lang="ja-JP" altLang="en-US" sz="2000" dirty="0"/>
              <a:t>更新で挙動が変わる</a:t>
            </a:r>
          </a:p>
          <a:p>
            <a:r>
              <a:rPr lang="ja-JP" altLang="en-US" sz="2000" dirty="0"/>
              <a:t>管理画面障害・メンテナンス中でもアクセスが来る</a:t>
            </a:r>
          </a:p>
          <a:p>
            <a:r>
              <a:rPr lang="ja-JP" altLang="en-US" sz="2000" dirty="0"/>
              <a:t>最悪、管理側のミスが </a:t>
            </a:r>
            <a:r>
              <a:rPr lang="ja-JP" altLang="en-US" sz="2000" b="1" dirty="0"/>
              <a:t>公開</a:t>
            </a:r>
            <a:r>
              <a:rPr lang="en-US" altLang="ja-JP" sz="2000" b="1" dirty="0"/>
              <a:t>URL</a:t>
            </a:r>
            <a:r>
              <a:rPr lang="ja-JP" altLang="en-US" sz="2000" b="1" dirty="0"/>
              <a:t>停止につながる</a:t>
            </a:r>
            <a:endParaRPr lang="ja-JP" altLang="en-US" sz="2000" dirty="0"/>
          </a:p>
          <a:p>
            <a:r>
              <a:rPr lang="ja-JP" altLang="en-US" sz="2000" dirty="0"/>
              <a:t>👉 </a:t>
            </a:r>
            <a:r>
              <a:rPr lang="en-US" altLang="ja-JP" sz="2000" b="1" dirty="0"/>
              <a:t>NFC</a:t>
            </a:r>
            <a:r>
              <a:rPr lang="ja-JP" altLang="en-US" sz="2000" b="1" dirty="0"/>
              <a:t>アクセスは“止まってはいけない入口”</a:t>
            </a:r>
            <a:br>
              <a:rPr lang="ja-JP" altLang="en-US" sz="2000" dirty="0"/>
            </a:br>
            <a:r>
              <a:rPr lang="ja-JP" altLang="en-US" sz="2000" dirty="0"/>
              <a:t>👉 表に出す役割を</a:t>
            </a:r>
            <a:r>
              <a:rPr lang="en-US" altLang="ja-JP" sz="2000" dirty="0"/>
              <a:t>WordPress</a:t>
            </a:r>
            <a:r>
              <a:rPr lang="ja-JP" altLang="en-US" sz="2000" dirty="0"/>
              <a:t>に持たせない方が安全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1AEA59F-62B4-49F9-3007-A8C4A1FC06FD}"/>
              </a:ext>
            </a:extLst>
          </p:cNvPr>
          <p:cNvSpPr txBox="1"/>
          <p:nvPr/>
        </p:nvSpPr>
        <p:spPr>
          <a:xfrm>
            <a:off x="1247774" y="3738503"/>
            <a:ext cx="79724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/>
              <a:t>理由②：</a:t>
            </a:r>
            <a:r>
              <a:rPr lang="en-US" altLang="ja-JP" sz="2000" b="1" dirty="0"/>
              <a:t>NFC</a:t>
            </a:r>
            <a:r>
              <a:rPr lang="ja-JP" altLang="en-US" sz="2000" b="1" dirty="0"/>
              <a:t>はアクセス集中・誤アクセスが前提</a:t>
            </a:r>
          </a:p>
          <a:p>
            <a:r>
              <a:rPr lang="ja-JP" altLang="en-US" sz="2000" dirty="0"/>
              <a:t>拾われる</a:t>
            </a:r>
          </a:p>
          <a:p>
            <a:r>
              <a:rPr lang="ja-JP" altLang="en-US" sz="2000" dirty="0"/>
              <a:t>連打される</a:t>
            </a:r>
          </a:p>
          <a:p>
            <a:r>
              <a:rPr lang="en-US" altLang="ja-JP" sz="2000" dirty="0"/>
              <a:t>BOT / </a:t>
            </a:r>
            <a:r>
              <a:rPr lang="ja-JP" altLang="en-US" sz="2000" dirty="0"/>
              <a:t>クローラも来る</a:t>
            </a:r>
          </a:p>
          <a:p>
            <a:r>
              <a:rPr lang="ja-JP" altLang="en-US" sz="2000" dirty="0"/>
              <a:t>👉 </a:t>
            </a:r>
            <a:r>
              <a:rPr lang="en-US" altLang="ja-JP" sz="2000" dirty="0"/>
              <a:t>WordPress</a:t>
            </a:r>
            <a:r>
              <a:rPr lang="ja-JP" altLang="en-US" sz="2000" dirty="0"/>
              <a:t>直撃だと</a:t>
            </a:r>
          </a:p>
          <a:p>
            <a:r>
              <a:rPr lang="en-US" altLang="ja-JP" sz="2000" b="1" dirty="0"/>
              <a:t>DB</a:t>
            </a:r>
            <a:r>
              <a:rPr lang="ja-JP" altLang="en-US" sz="2000" b="1" dirty="0"/>
              <a:t>負荷</a:t>
            </a:r>
          </a:p>
          <a:p>
            <a:r>
              <a:rPr lang="ja-JP" altLang="en-US" sz="2000" dirty="0"/>
              <a:t>管理画面のレスポンス低下</a:t>
            </a:r>
          </a:p>
          <a:p>
            <a:r>
              <a:rPr lang="ja-JP" altLang="en-US" sz="2000" dirty="0"/>
              <a:t>セキュリティリスク増大</a:t>
            </a:r>
          </a:p>
          <a:p>
            <a:r>
              <a:rPr lang="ja-JP" altLang="en-US" sz="2000" dirty="0"/>
              <a:t>👉 </a:t>
            </a:r>
            <a:r>
              <a:rPr lang="ja-JP" altLang="en-US" sz="2000" b="1" dirty="0"/>
              <a:t>ゲートウェイで吸収・制御する方が合理的</a:t>
            </a: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75643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37ACCB9-F167-3807-44F5-567FE1D3CEDA}"/>
              </a:ext>
            </a:extLst>
          </p:cNvPr>
          <p:cNvSpPr txBox="1"/>
          <p:nvPr/>
        </p:nvSpPr>
        <p:spPr>
          <a:xfrm>
            <a:off x="1200150" y="219075"/>
            <a:ext cx="6359433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/>
              <a:t>理由③：止める・出す・切り替えるを“即時”にしたい</a:t>
            </a:r>
          </a:p>
          <a:p>
            <a:r>
              <a:rPr lang="ja-JP" altLang="en-US" sz="2000" dirty="0"/>
              <a:t>紛失 → 即 </a:t>
            </a:r>
            <a:r>
              <a:rPr lang="en-US" altLang="ja-JP" sz="2000" dirty="0"/>
              <a:t>status = disabled</a:t>
            </a:r>
          </a:p>
          <a:p>
            <a:r>
              <a:rPr lang="ja-JP" altLang="en-US" sz="2000" dirty="0"/>
              <a:t>復活 → </a:t>
            </a:r>
            <a:r>
              <a:rPr lang="en-US" altLang="ja-JP" sz="2000" dirty="0"/>
              <a:t>status = active</a:t>
            </a:r>
          </a:p>
          <a:p>
            <a:r>
              <a:rPr lang="ja-JP" altLang="en-US" sz="2000" dirty="0"/>
              <a:t>表示先変更 → </a:t>
            </a:r>
            <a:r>
              <a:rPr lang="en-US" altLang="ja-JP" sz="2000" dirty="0" err="1"/>
              <a:t>target_url</a:t>
            </a:r>
            <a:r>
              <a:rPr lang="en-US" altLang="ja-JP" sz="2000" dirty="0"/>
              <a:t> </a:t>
            </a:r>
            <a:r>
              <a:rPr lang="ja-JP" altLang="en-US" sz="2000" dirty="0"/>
              <a:t>差し替え</a:t>
            </a:r>
            <a:endParaRPr lang="en-US" altLang="ja-JP" sz="2000" dirty="0"/>
          </a:p>
          <a:p>
            <a:r>
              <a:rPr lang="ja-JP" altLang="en-US" sz="2000" dirty="0"/>
              <a:t>👉 別サーバーなら</a:t>
            </a:r>
          </a:p>
          <a:p>
            <a:r>
              <a:rPr lang="ja-JP" altLang="en-US" sz="2000" dirty="0"/>
              <a:t>キャッシュ戦略</a:t>
            </a:r>
          </a:p>
          <a:p>
            <a:r>
              <a:rPr lang="ja-JP" altLang="en-US" sz="2000" dirty="0"/>
              <a:t>固定</a:t>
            </a:r>
            <a:r>
              <a:rPr lang="en-US" altLang="ja-JP" sz="2000" dirty="0"/>
              <a:t>HTML</a:t>
            </a:r>
          </a:p>
          <a:p>
            <a:r>
              <a:rPr lang="ja-JP" altLang="en-US" sz="2000" dirty="0"/>
              <a:t>即時レスポンス</a:t>
            </a:r>
            <a:br>
              <a:rPr lang="ja-JP" altLang="en-US" sz="2000" dirty="0"/>
            </a:br>
            <a:r>
              <a:rPr lang="ja-JP" altLang="en-US" sz="2000" dirty="0"/>
              <a:t>が自由に設計できる</a:t>
            </a:r>
          </a:p>
          <a:p>
            <a:r>
              <a:rPr lang="ja-JP" altLang="en-US" sz="2000" dirty="0"/>
              <a:t>👉 </a:t>
            </a:r>
            <a:r>
              <a:rPr lang="ja-JP" altLang="en-US" sz="2000" b="1" dirty="0"/>
              <a:t>「運用の速さ」は分離しないと出ない</a:t>
            </a:r>
            <a:endParaRPr lang="ja-JP" altLang="en-US" sz="2000" dirty="0"/>
          </a:p>
          <a:p>
            <a:endParaRPr lang="ja-JP" altLang="en-US" sz="2000" dirty="0"/>
          </a:p>
          <a:p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F03729-6619-6F7C-B18B-ECF475352CDF}"/>
              </a:ext>
            </a:extLst>
          </p:cNvPr>
          <p:cNvSpPr txBox="1"/>
          <p:nvPr/>
        </p:nvSpPr>
        <p:spPr>
          <a:xfrm>
            <a:off x="1200150" y="3429000"/>
            <a:ext cx="4820550" cy="3447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/>
              <a:t>理由④：将来の拡張に耐えられる</a:t>
            </a:r>
          </a:p>
          <a:p>
            <a:r>
              <a:rPr lang="ja-JP" altLang="en-US" sz="2000" dirty="0"/>
              <a:t>別サーバーにしておくと：</a:t>
            </a:r>
          </a:p>
          <a:p>
            <a:r>
              <a:rPr lang="en-US" altLang="ja-JP" sz="2000" dirty="0"/>
              <a:t>WordPress</a:t>
            </a:r>
            <a:r>
              <a:rPr lang="ja-JP" altLang="en-US" sz="2000" dirty="0"/>
              <a:t>を </a:t>
            </a:r>
            <a:r>
              <a:rPr lang="ja-JP" altLang="en-US" sz="2000" b="1" dirty="0"/>
              <a:t>差し替え可能</a:t>
            </a:r>
            <a:endParaRPr lang="ja-JP" altLang="en-US" sz="2000" dirty="0"/>
          </a:p>
          <a:p>
            <a:r>
              <a:rPr lang="ja-JP" altLang="en-US" sz="2000" dirty="0"/>
              <a:t>管理台帳を </a:t>
            </a:r>
            <a:r>
              <a:rPr lang="en-US" altLang="ja-JP" sz="2000" b="1" dirty="0"/>
              <a:t>API</a:t>
            </a:r>
            <a:r>
              <a:rPr lang="ja-JP" altLang="en-US" sz="2000" b="1" dirty="0"/>
              <a:t>化</a:t>
            </a:r>
            <a:endParaRPr lang="ja-JP" altLang="en-US" sz="2000" dirty="0"/>
          </a:p>
          <a:p>
            <a:r>
              <a:rPr lang="ja-JP" altLang="en-US" sz="2000" dirty="0"/>
              <a:t>プロフィールを</a:t>
            </a:r>
          </a:p>
          <a:p>
            <a:pPr lvl="1"/>
            <a:r>
              <a:rPr lang="en-US" altLang="ja-JP" sz="2000" dirty="0"/>
              <a:t>WordPress</a:t>
            </a:r>
          </a:p>
          <a:p>
            <a:pPr lvl="1"/>
            <a:r>
              <a:rPr lang="en-US" altLang="ja-JP" sz="2000" dirty="0"/>
              <a:t>Next.js</a:t>
            </a:r>
          </a:p>
          <a:p>
            <a:pPr lvl="1"/>
            <a:r>
              <a:rPr lang="ja-JP" altLang="en-US" sz="2000" dirty="0"/>
              <a:t>静的</a:t>
            </a:r>
            <a:r>
              <a:rPr lang="en-US" altLang="ja-JP" sz="2000" dirty="0"/>
              <a:t>HTML</a:t>
            </a:r>
            <a:br>
              <a:rPr lang="en-US" altLang="ja-JP" sz="2000" dirty="0"/>
            </a:br>
            <a:r>
              <a:rPr lang="ja-JP" altLang="en-US" sz="2000" dirty="0"/>
              <a:t>に切り替え可能</a:t>
            </a:r>
          </a:p>
          <a:p>
            <a:r>
              <a:rPr lang="ja-JP" altLang="en-US" sz="2000" dirty="0"/>
              <a:t>👉 </a:t>
            </a:r>
            <a:r>
              <a:rPr lang="en-US" altLang="ja-JP" sz="2000" b="1" dirty="0"/>
              <a:t>NFC</a:t>
            </a:r>
            <a:r>
              <a:rPr lang="ja-JP" altLang="en-US" sz="2000" b="1" dirty="0"/>
              <a:t>の</a:t>
            </a:r>
            <a:r>
              <a:rPr lang="en-US" altLang="ja-JP" sz="2000" b="1" dirty="0"/>
              <a:t>URL</a:t>
            </a:r>
            <a:r>
              <a:rPr lang="ja-JP" altLang="en-US" sz="2000" b="1" dirty="0"/>
              <a:t>を一切変えずに進化できる</a:t>
            </a:r>
            <a:endParaRPr lang="ja-JP" altLang="en-US" sz="2000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63345196"/>
      </p:ext>
    </p:extLst>
  </p:cSld>
  <p:clrMapOvr>
    <a:masterClrMapping/>
  </p:clrMapOvr>
</p:sld>
</file>

<file path=ppt/theme/theme1.xml><?xml version="1.0" encoding="utf-8"?>
<a:theme xmlns:a="http://schemas.openxmlformats.org/drawingml/2006/main" name="トリミング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{58DD7094-ECE6-4626-8AAB-5C31363055A3}TFc3084226-2d0c-440f-9f46-6b48c7a7f6700918c44d-8b094f0b8899</Template>
  <TotalTime>398</TotalTime>
  <Words>1117</Words>
  <Application>Microsoft Office PowerPoint</Application>
  <PresentationFormat>ワイド画面</PresentationFormat>
  <Paragraphs>135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3" baseType="lpstr">
      <vt:lpstr>Arial</vt:lpstr>
      <vt:lpstr>Franklin Gothic Book</vt:lpstr>
      <vt:lpstr>トリミング</vt:lpstr>
      <vt:lpstr>パステルリンク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Owner</dc:creator>
  <cp:lastModifiedBy>Owner</cp:lastModifiedBy>
  <cp:revision>8</cp:revision>
  <dcterms:created xsi:type="dcterms:W3CDTF">2026-01-22T00:42:48Z</dcterms:created>
  <dcterms:modified xsi:type="dcterms:W3CDTF">2026-01-25T06:12:41Z</dcterms:modified>
</cp:coreProperties>
</file>